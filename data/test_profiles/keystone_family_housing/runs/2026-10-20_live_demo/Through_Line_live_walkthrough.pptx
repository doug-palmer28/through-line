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2B2B2B"/>
                </a:solidFill>
                <a:latin typeface="Century Gothic"/>
              </a:rPr>
              <a:t>Share of participants who improved</a:t>
            </a:r>
          </a:p>
        </c:rich>
      </c:tx>
      <c:layout/>
      <c:overlay val="0"/>
    </c:title>
    <c:autoTitleDeleted val="0"/>
    <c:plotArea>
      <c:barChart>
        <c:barDir val="bar"/>
        <c:grouping val="clustered"/>
        <c:ser>
          <c:idx val="0"/>
          <c:order val="0"/>
          <c:tx>
            <c:strRef>
              <c:f>Sheet1!$B$1</c:f>
              <c:strCache>
                <c:ptCount val="1"/>
                <c:pt idx="0">
                  <c:v>% improved</c:v>
                </c:pt>
              </c:strCache>
            </c:strRef>
          </c:tx>
          <c:spPr>
            <a:solidFill>
              <a:srgbClr val="3E63B0"/>
            </a:solidFill>
          </c:spPr>
          <c:cat>
            <c:strRef>
              <c:f>Sheet1!$A$2:$A$4</c:f>
              <c:strCache>
                <c:ptCount val="3"/>
                <c:pt idx="0">
                  <c:v>Confidence addressing a rent or landlord issue</c:v>
                </c:pt>
                <c:pt idx="1">
                  <c:v>Knowing where to seek help for a chosen need</c:v>
                </c:pt>
                <c:pt idx="2">
                  <c:v>Parent-reported stress</c:v>
                </c:pt>
              </c:strCache>
            </c:strRef>
          </c:cat>
          <c:val>
            <c:numRef>
              <c:f>Sheet1!$B$2:$B$4</c:f>
              <c:numCache>
                <c:formatCode>General</c:formatCode>
                <c:ptCount val="3"/>
                <c:pt idx="0">
                  <c:v>85</c:v>
                </c:pt>
                <c:pt idx="1">
                  <c:v>60</c:v>
                </c:pt>
                <c:pt idx="2">
                  <c:v>70</c:v>
                </c:pt>
              </c:numCache>
            </c:numRef>
          </c:val>
        </c:ser>
        <c:dLbls>
          <c:numFmt formatCode="0&quot;%&quot;"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crossAx val="-2113994440"/>
        <c:crosses val="autoZero"/>
        <c:auto val="1"/>
        <c:lblAlgn val="ctr"/>
        <c:lblOffset val="100"/>
        <c:noMultiLvlLbl val="0"/>
      </c:catAx>
      <c:valAx>
        <c:axId val="-2113994440"/>
        <c:scaling>
          <c:max val="100.0"/>
          <c:min val="0.0"/>
        </c:scaling>
        <c:delete val="0"/>
        <c:axPos val="b"/>
        <c:majorGridlines>
          <c:spPr>
            <a:ln>
              <a:solidFill>
                <a:srgbClr val="E5DFD5"/>
              </a:solidFill>
            </a:ln>
          </c:spPr>
        </c:majorGridlines>
        <c:majorTickMark val="out"/>
        <c:minorTickMark val="none"/>
        <c:tickLblPos val="nextTo"/>
        <c:spPr>
          <a:ln>
            <a:noFill/>
          </a:ln>
        </c:spPr>
        <c:crossAx val="-2068027336"/>
        <c:crosses val="autoZero"/>
      </c:valAx>
    </c:plotArea>
    <c:dispBlanksAs val="gap"/>
  </c:chart>
  <c:txPr>
    <a:bodyPr/>
    <a:lstStyle/>
    <a:p>
      <a:pPr>
        <a:defRPr sz="1000">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2B2B2B"/>
                </a:solidFill>
                <a:latin typeface="Century Gothic"/>
              </a:rPr>
              <a:t>Confidence with a rent/landlord issue (0–10)</a:t>
            </a:r>
          </a:p>
        </c:rich>
      </c:tx>
      <c:layout/>
      <c:overlay val="0"/>
    </c:title>
    <c:autoTitleDeleted val="0"/>
    <c:plotArea>
      <c:barChart>
        <c:barDir val="bar"/>
        <c:grouping val="clustered"/>
        <c:ser>
          <c:idx val="0"/>
          <c:order val="0"/>
          <c:tx>
            <c:strRef>
              <c:f>Sheet1!$B$1</c:f>
              <c:strCache>
                <c:ptCount val="1"/>
                <c:pt idx="0">
                  <c:v>Average</c:v>
                </c:pt>
              </c:strCache>
            </c:strRef>
          </c:tx>
          <c:spPr>
            <a:solidFill>
              <a:srgbClr val="3E63B0"/>
            </a:solidFill>
          </c:spPr>
          <c:dPt>
            <c:idx val="1"/>
            <c:spPr>
              <a:solidFill>
                <a:srgbClr val="D96C4F"/>
              </a:solidFill>
            </c:spPr>
          </c:dPt>
          <c:cat>
            <c:strRef>
              <c:f>Sheet1!$A$2:$A$3</c:f>
              <c:strCache>
                <c:ptCount val="2"/>
                <c:pt idx="0">
                  <c:v>Before (pre)</c:v>
                </c:pt>
                <c:pt idx="1">
                  <c:v>After (post)</c:v>
                </c:pt>
              </c:strCache>
            </c:strRef>
          </c:cat>
          <c:val>
            <c:numRef>
              <c:f>Sheet1!$B$2:$B$3</c:f>
              <c:numCache>
                <c:formatCode>General</c:formatCode>
                <c:ptCount val="2"/>
                <c:pt idx="0">
                  <c:v>3.35</c:v>
                </c:pt>
                <c:pt idx="1">
                  <c:v>6.6</c:v>
                </c:pt>
              </c:numCache>
            </c:numRef>
          </c:val>
        </c:ser>
        <c:dLbls>
          <c:numFmt formatCode="General"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crossAx val="-2113994440"/>
        <c:crosses val="autoZero"/>
        <c:auto val="1"/>
        <c:lblAlgn val="ctr"/>
        <c:lblOffset val="100"/>
        <c:noMultiLvlLbl val="0"/>
      </c:catAx>
      <c:valAx>
        <c:axId val="-2113994440"/>
        <c:scaling>
          <c:min val="0.0"/>
        </c:scaling>
        <c:delete val="0"/>
        <c:axPos val="b"/>
        <c:majorGridlines>
          <c:spPr>
            <a:ln>
              <a:solidFill>
                <a:srgbClr val="E5DFD5"/>
              </a:solidFill>
            </a:ln>
          </c:spPr>
        </c:majorGridlines>
        <c:majorTickMark val="out"/>
        <c:minorTickMark val="none"/>
        <c:tickLblPos val="nextTo"/>
        <c:spPr>
          <a:ln>
            <a:noFill/>
          </a:ln>
        </c:spPr>
        <c:crossAx val="-2068027336"/>
        <c:crosses val="autoZero"/>
      </c:valAx>
    </c:plotArea>
    <c:dispBlanksAs val="gap"/>
  </c:chart>
  <c:txPr>
    <a:bodyPr/>
    <a:lstStyle/>
    <a:p>
      <a:pPr>
        <a:defRPr sz="1000">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2B2B2B"/>
                </a:solidFill>
                <a:latin typeface="Century Gothic"/>
              </a:rPr>
              <a:t>Knows where to seek help (% yes)</a:t>
            </a:r>
          </a:p>
        </c:rich>
      </c:tx>
      <c:layout/>
      <c:overlay val="0"/>
    </c:title>
    <c:autoTitleDeleted val="0"/>
    <c:plotArea>
      <c:barChart>
        <c:barDir val="bar"/>
        <c:grouping val="clustered"/>
        <c:ser>
          <c:idx val="0"/>
          <c:order val="0"/>
          <c:tx>
            <c:strRef>
              <c:f>Sheet1!$B$1</c:f>
              <c:strCache>
                <c:ptCount val="1"/>
                <c:pt idx="0">
                  <c:v>% yes</c:v>
                </c:pt>
              </c:strCache>
            </c:strRef>
          </c:tx>
          <c:spPr>
            <a:solidFill>
              <a:srgbClr val="3E63B0"/>
            </a:solidFill>
          </c:spPr>
          <c:dPt>
            <c:idx val="1"/>
            <c:spPr>
              <a:solidFill>
                <a:srgbClr val="D96C4F"/>
              </a:solidFill>
            </c:spPr>
          </c:dPt>
          <c:cat>
            <c:strRef>
              <c:f>Sheet1!$A$2:$A$3</c:f>
              <c:strCache>
                <c:ptCount val="2"/>
                <c:pt idx="0">
                  <c:v>Before (pre)</c:v>
                </c:pt>
                <c:pt idx="1">
                  <c:v>After (post)</c:v>
                </c:pt>
              </c:strCache>
            </c:strRef>
          </c:cat>
          <c:val>
            <c:numRef>
              <c:f>Sheet1!$B$2:$B$3</c:f>
              <c:numCache>
                <c:formatCode>General</c:formatCode>
                <c:ptCount val="2"/>
                <c:pt idx="0">
                  <c:v>20</c:v>
                </c:pt>
                <c:pt idx="1">
                  <c:v>70</c:v>
                </c:pt>
              </c:numCache>
            </c:numRef>
          </c:val>
        </c:ser>
        <c:dLbls>
          <c:numFmt formatCode="0&quot;%&quot;"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crossAx val="-2113994440"/>
        <c:crosses val="autoZero"/>
        <c:auto val="1"/>
        <c:lblAlgn val="ctr"/>
        <c:lblOffset val="100"/>
        <c:noMultiLvlLbl val="0"/>
      </c:catAx>
      <c:valAx>
        <c:axId val="-2113994440"/>
        <c:scaling>
          <c:max val="100.0"/>
          <c:min val="0.0"/>
        </c:scaling>
        <c:delete val="0"/>
        <c:axPos val="b"/>
        <c:majorGridlines>
          <c:spPr>
            <a:ln>
              <a:solidFill>
                <a:srgbClr val="E5DFD5"/>
              </a:solidFill>
            </a:ln>
          </c:spPr>
        </c:majorGridlines>
        <c:majorTickMark val="out"/>
        <c:minorTickMark val="none"/>
        <c:tickLblPos val="nextTo"/>
        <c:spPr>
          <a:ln>
            <a:noFill/>
          </a:ln>
        </c:spPr>
        <c:crossAx val="-2068027336"/>
        <c:crosses val="autoZero"/>
      </c:valAx>
    </c:plotArea>
    <c:dispBlanksAs val="gap"/>
  </c:chart>
  <c:txPr>
    <a:bodyPr/>
    <a:lstStyle/>
    <a:p>
      <a:pPr>
        <a:defRPr sz="1000">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2B2B2B"/>
                </a:solidFill>
                <a:latin typeface="Century Gothic"/>
              </a:rPr>
              <a:t>Stress, reverse-scored (1–5, higher = less stress)</a:t>
            </a:r>
          </a:p>
        </c:rich>
      </c:tx>
      <c:layout/>
      <c:overlay val="0"/>
    </c:title>
    <c:autoTitleDeleted val="0"/>
    <c:plotArea>
      <c:barChart>
        <c:barDir val="bar"/>
        <c:grouping val="clustered"/>
        <c:ser>
          <c:idx val="0"/>
          <c:order val="0"/>
          <c:tx>
            <c:strRef>
              <c:f>Sheet1!$B$1</c:f>
              <c:strCache>
                <c:ptCount val="1"/>
                <c:pt idx="0">
                  <c:v>Average</c:v>
                </c:pt>
              </c:strCache>
            </c:strRef>
          </c:tx>
          <c:spPr>
            <a:solidFill>
              <a:srgbClr val="3E63B0"/>
            </a:solidFill>
          </c:spPr>
          <c:dPt>
            <c:idx val="1"/>
            <c:spPr>
              <a:solidFill>
                <a:srgbClr val="D96C4F"/>
              </a:solidFill>
            </c:spPr>
          </c:dPt>
          <c:cat>
            <c:strRef>
              <c:f>Sheet1!$A$2:$A$3</c:f>
              <c:strCache>
                <c:ptCount val="2"/>
                <c:pt idx="0">
                  <c:v>Before (pre)</c:v>
                </c:pt>
                <c:pt idx="1">
                  <c:v>After (post)</c:v>
                </c:pt>
              </c:strCache>
            </c:strRef>
          </c:cat>
          <c:val>
            <c:numRef>
              <c:f>Sheet1!$B$2:$B$3</c:f>
              <c:numCache>
                <c:formatCode>General</c:formatCode>
                <c:ptCount val="2"/>
                <c:pt idx="0">
                  <c:v>2.55</c:v>
                </c:pt>
                <c:pt idx="1">
                  <c:v>3.6</c:v>
                </c:pt>
              </c:numCache>
            </c:numRef>
          </c:val>
        </c:ser>
        <c:dLbls>
          <c:numFmt formatCode="General"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crossAx val="-2113994440"/>
        <c:crosses val="autoZero"/>
        <c:auto val="1"/>
        <c:lblAlgn val="ctr"/>
        <c:lblOffset val="100"/>
        <c:noMultiLvlLbl val="0"/>
      </c:catAx>
      <c:valAx>
        <c:axId val="-2113994440"/>
        <c:scaling>
          <c:min val="0.0"/>
        </c:scaling>
        <c:delete val="0"/>
        <c:axPos val="b"/>
        <c:majorGridlines>
          <c:spPr>
            <a:ln>
              <a:solidFill>
                <a:srgbClr val="E5DFD5"/>
              </a:solidFill>
            </a:ln>
          </c:spPr>
        </c:majorGridlines>
        <c:majorTickMark val="out"/>
        <c:minorTickMark val="none"/>
        <c:tickLblPos val="nextTo"/>
        <c:spPr>
          <a:ln>
            <a:noFill/>
          </a:ln>
        </c:spPr>
        <c:crossAx val="-2068027336"/>
        <c:crosses val="autoZero"/>
      </c:valAx>
    </c:plotArea>
    <c:dispBlanksAs val="gap"/>
  </c:chart>
  <c:txPr>
    <a:bodyPr/>
    <a:lstStyle/>
    <a:p>
      <a:pPr>
        <a:defRPr sz="1000">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2B2B2B"/>
                </a:solidFill>
                <a:latin typeface="Century Gothic"/>
              </a:rPr>
              <a:t>Rental assistance paid to landlords ($)</a:t>
            </a:r>
          </a:p>
        </c:rich>
      </c:tx>
      <c:layout/>
      <c:overlay val="0"/>
    </c:title>
    <c:autoTitleDeleted val="0"/>
    <c:plotArea>
      <c:lineChart>
        <c:grouping val="standard"/>
        <c:varyColors val="0"/>
        <c:ser>
          <c:idx val="0"/>
          <c:order val="0"/>
          <c:tx>
            <c:strRef>
              <c:f>Sheet1!$B$1</c:f>
              <c:strCache>
                <c:ptCount val="1"/>
                <c:pt idx="0">
                  <c:v>Rental assistance</c:v>
                </c:pt>
              </c:strCache>
            </c:strRef>
          </c:tx>
          <c:spPr>
            <a:ln w="25400">
              <a:solidFill>
                <a:srgbClr val="3E63B0"/>
              </a:solidFill>
            </a:ln>
          </c:spPr>
          <c:cat>
            <c:strRef>
              <c:f>Sheet1!$A$2:$A$7</c:f>
              <c:strCache>
                <c:ptCount val="6"/>
                <c:pt idx="0">
                  <c:v>2026-04</c:v>
                </c:pt>
                <c:pt idx="1">
                  <c:v>2026-05</c:v>
                </c:pt>
                <c:pt idx="2">
                  <c:v>2026-06</c:v>
                </c:pt>
                <c:pt idx="3">
                  <c:v>2026-07</c:v>
                </c:pt>
                <c:pt idx="4">
                  <c:v>2026-08</c:v>
                </c:pt>
                <c:pt idx="5">
                  <c:v>2026-09</c:v>
                </c:pt>
              </c:strCache>
            </c:strRef>
          </c:cat>
          <c:val>
            <c:numRef>
              <c:f>Sheet1!$B$2:$B$7</c:f>
              <c:numCache>
                <c:formatCode>General</c:formatCode>
                <c:ptCount val="6"/>
                <c:pt idx="0">
                  <c:v>31500.0</c:v>
                </c:pt>
                <c:pt idx="1">
                  <c:v>34200.0</c:v>
                </c:pt>
                <c:pt idx="2">
                  <c:v>36800.0</c:v>
                </c:pt>
                <c:pt idx="3">
                  <c:v>33900.0</c:v>
                </c:pt>
                <c:pt idx="4">
                  <c:v>35400.0</c:v>
                </c:pt>
                <c:pt idx="5">
                  <c:v>38100.0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min val="0.0"/>
        </c:scaling>
        <c:delete val="0"/>
        <c:axPos val="l"/>
        <c:majorGridlines>
          <c:spPr>
            <a:ln>
              <a:solidFill>
                <a:srgbClr val="E5DFD5"/>
              </a:solidFill>
            </a:ln>
          </c:spPr>
        </c:majorGridlines>
        <c:majorTickMark val="out"/>
        <c:minorTickMark val="none"/>
        <c:tickLblPos val="nextTo"/>
        <c:crossAx val="2118791784"/>
        <c:crosses val="autoZero"/>
      </c:valAx>
    </c:plotArea>
    <c:plotVisOnly val="1"/>
    <c:dispBlanksAs val="gap"/>
    <c:showDLblsOverMax val="0"/>
  </c:chart>
  <c:txPr>
    <a:bodyPr/>
    <a:lstStyle/>
    <a:p>
      <a:pPr>
        <a:defRPr sz="1000">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2B2B2B"/>
                </a:solidFill>
                <a:latin typeface="Century Gothic"/>
              </a:rPr>
              <a:t>12-month follow-up: families due vs. in permanent housing</a:t>
            </a:r>
          </a:p>
        </c:rich>
      </c:tx>
      <c:layout/>
      <c:overlay val="0"/>
    </c:title>
    <c:autoTitleDeleted val="0"/>
    <c:plotArea>
      <c:barChart>
        <c:barDir val="col"/>
        <c:grouping val="clustered"/>
        <c:ser>
          <c:idx val="0"/>
          <c:order val="0"/>
          <c:tx>
            <c:strRef>
              <c:f>Sheet1!$B$1</c:f>
              <c:strCache>
                <c:ptCount val="1"/>
                <c:pt idx="0">
                  <c:v>Due for 12-month follow-up</c:v>
                </c:pt>
              </c:strCache>
            </c:strRef>
          </c:tx>
          <c:spPr>
            <a:solidFill>
              <a:srgbClr val="3E63B0"/>
            </a:solidFill>
          </c:spPr>
          <c:cat>
            <c:strRef>
              <c:f>Sheet1!$A$2:$A$7</c:f>
              <c:strCache>
                <c:ptCount val="6"/>
                <c:pt idx="0">
                  <c:v>2026-04</c:v>
                </c:pt>
                <c:pt idx="1">
                  <c:v>2026-05</c:v>
                </c:pt>
                <c:pt idx="2">
                  <c:v>2026-06</c:v>
                </c:pt>
                <c:pt idx="3">
                  <c:v>2026-07</c:v>
                </c:pt>
                <c:pt idx="4">
                  <c:v>2026-08</c:v>
                </c:pt>
                <c:pt idx="5">
                  <c:v>2026-09</c:v>
                </c:pt>
              </c:strCache>
            </c:strRef>
          </c:cat>
          <c:val>
            <c:numRef>
              <c:f>Sheet1!$B$2:$B$7</c:f>
              <c:numCache>
                <c:formatCode>General</c:formatCode>
                <c:ptCount val="6"/>
                <c:pt idx="0">
                  <c:v>5.0</c:v>
                </c:pt>
                <c:pt idx="1">
                  <c:v>6.0</c:v>
                </c:pt>
                <c:pt idx="2">
                  <c:v>6.0</c:v>
                </c:pt>
                <c:pt idx="3">
                  <c:v>7.0</c:v>
                </c:pt>
                <c:pt idx="4">
                  <c:v>6.0</c:v>
                </c:pt>
                <c:pt idx="5">
                  <c:v>7.0</c:v>
                </c:pt>
              </c:numCache>
            </c:numRef>
          </c:val>
        </c:ser>
        <c:ser>
          <c:idx val="1"/>
          <c:order val="1"/>
          <c:tx>
            <c:strRef>
              <c:f>Sheet1!$C$1</c:f>
              <c:strCache>
                <c:ptCount val="1"/>
                <c:pt idx="0">
                  <c:v>In permanent housing at follow-up</c:v>
                </c:pt>
              </c:strCache>
            </c:strRef>
          </c:tx>
          <c:spPr>
            <a:solidFill>
              <a:srgbClr val="D96C4F"/>
            </a:solidFill>
          </c:spPr>
          <c:cat>
            <c:strRef>
              <c:f>Sheet1!$A$2:$A$7</c:f>
              <c:strCache>
                <c:ptCount val="6"/>
                <c:pt idx="0">
                  <c:v>2026-04</c:v>
                </c:pt>
                <c:pt idx="1">
                  <c:v>2026-05</c:v>
                </c:pt>
                <c:pt idx="2">
                  <c:v>2026-06</c:v>
                </c:pt>
                <c:pt idx="3">
                  <c:v>2026-07</c:v>
                </c:pt>
                <c:pt idx="4">
                  <c:v>2026-08</c:v>
                </c:pt>
                <c:pt idx="5">
                  <c:v>2026-09</c:v>
                </c:pt>
              </c:strCache>
            </c:strRef>
          </c:cat>
          <c:val>
            <c:numRef>
              <c:f>Sheet1!$C$2:$C$7</c:f>
              <c:numCache>
                <c:formatCode>General</c:formatCode>
                <c:ptCount val="6"/>
                <c:pt idx="0">
                  <c:v>3.0</c:v>
                </c:pt>
                <c:pt idx="1">
                  <c:v>4.0</c:v>
                </c:pt>
                <c:pt idx="2">
                  <c:v>4.0</c:v>
                </c:pt>
                <c:pt idx="3">
                  <c:v>5.0</c:v>
                </c:pt>
                <c:pt idx="4">
                  <c:v>4.0</c:v>
                </c:pt>
                <c:pt idx="5">
                  <c:v>5.0</c:v>
                </c:pt>
              </c:numCache>
            </c:numRef>
          </c:val>
        </c:ser>
        <c:dLbls>
          <c:numFmt formatCode="General"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in val="0.0"/>
        </c:scaling>
        <c:delete val="0"/>
        <c:axPos val="l"/>
        <c:majorGridlines>
          <c:spPr>
            <a:ln>
              <a:solidFill>
                <a:srgbClr val="E5DFD5"/>
              </a:solidFill>
            </a:ln>
          </c:spPr>
        </c:majorGridlines>
        <c:majorTickMark val="out"/>
        <c:minorTickMark val="none"/>
        <c:tickLblPos val="nextTo"/>
        <c:spPr>
          <a:ln>
            <a:noFill/>
          </a:ln>
        </c:spPr>
        <c:crossAx val="-2068027336"/>
        <c:crosses val="autoZero"/>
      </c:valAx>
    </c:plotArea>
    <c:legend>
      <c:legendPos val="b"/>
      <c:overlay val="0"/>
    </c:legend>
    <c:dispBlanksAs val="gap"/>
  </c:chart>
  <c:txPr>
    <a:bodyPr/>
    <a:lstStyle/>
    <a:p>
      <a:pPr>
        <a:defRPr sz="1000">
          <a:latin typeface="Segoe U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chart" Target="../charts/chart5.xml"/><Relationship Id="rId4" Type="http://schemas.openxmlformats.org/officeDocument/2006/relationships/chart" Target="../charts/char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Oval 1"/>
          <p:cNvSpPr/>
          <p:nvPr/>
        </p:nvSpPr>
        <p:spPr>
          <a:xfrm>
            <a:off x="7863840" y="914400"/>
            <a:ext cx="2743200" cy="2743200"/>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509760" y="3108960"/>
            <a:ext cx="2103120" cy="2103120"/>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223760" y="3566160"/>
            <a:ext cx="2194560" cy="1920240"/>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6583680" cy="365760"/>
          </a:xfrm>
          <a:prstGeom prst="rect">
            <a:avLst/>
          </a:prstGeom>
          <a:noFill/>
        </p:spPr>
        <p:txBody>
          <a:bodyPr wrap="square">
            <a:spAutoFit/>
          </a:bodyPr>
          <a:lstStyle/>
          <a:p>
            <a:pPr>
              <a:spcAft>
                <a:spcPts val="600"/>
              </a:spcAft>
            </a:pPr>
            <a:r>
              <a:rPr sz="1200" b="1">
                <a:solidFill>
                  <a:srgbClr val="6F6A63"/>
                </a:solidFill>
                <a:latin typeface="Segoe UI"/>
              </a:rPr>
              <a:t>THROUGH LINE · LIVE WALKTHROUGH</a:t>
            </a:r>
          </a:p>
        </p:txBody>
      </p:sp>
      <p:sp>
        <p:nvSpPr>
          <p:cNvPr id="6" name="TextBox 5"/>
          <p:cNvSpPr txBox="1"/>
          <p:nvPr/>
        </p:nvSpPr>
        <p:spPr>
          <a:xfrm>
            <a:off x="731520" y="1737360"/>
            <a:ext cx="6766560" cy="2011680"/>
          </a:xfrm>
          <a:prstGeom prst="rect">
            <a:avLst/>
          </a:prstGeom>
          <a:noFill/>
        </p:spPr>
        <p:txBody>
          <a:bodyPr wrap="square">
            <a:spAutoFit/>
          </a:bodyPr>
          <a:lstStyle/>
          <a:p>
            <a:pPr>
              <a:spcAft>
                <a:spcPts val="600"/>
              </a:spcAft>
            </a:pPr>
            <a:r>
              <a:rPr sz="3800" b="1">
                <a:solidFill>
                  <a:srgbClr val="2B2B2B"/>
                </a:solidFill>
                <a:latin typeface="Century Gothic"/>
              </a:rPr>
              <a:t>From mission to evidence to story, end to end</a:t>
            </a:r>
          </a:p>
        </p:txBody>
      </p:sp>
      <p:sp>
        <p:nvSpPr>
          <p:cNvPr id="7" name="TextBox 6"/>
          <p:cNvSpPr txBox="1"/>
          <p:nvPr/>
        </p:nvSpPr>
        <p:spPr>
          <a:xfrm>
            <a:off x="731520" y="3931920"/>
            <a:ext cx="6400800" cy="1280160"/>
          </a:xfrm>
          <a:prstGeom prst="rect">
            <a:avLst/>
          </a:prstGeom>
          <a:noFill/>
        </p:spPr>
        <p:txBody>
          <a:bodyPr wrap="square">
            <a:spAutoFit/>
          </a:bodyPr>
          <a:lstStyle/>
          <a:p>
            <a:pPr>
              <a:spcAft>
                <a:spcPts val="600"/>
              </a:spcAft>
            </a:pPr>
            <a:r>
              <a:rPr sz="1600" b="0">
                <a:solidFill>
                  <a:srgbClr val="6F6A63"/>
                </a:solidFill>
                <a:latin typeface="Segoe UI"/>
              </a:rPr>
              <a:t>A full test of the working prototype with a fictional nonprofit, Keystone Family Housing Partners, using live AI agents (gpt-6-luna via Portkey) and synthetic participant data.</a:t>
            </a:r>
          </a:p>
        </p:txBody>
      </p:sp>
      <p:sp>
        <p:nvSpPr>
          <p:cNvPr id="8" name="TextBox 7"/>
          <p:cNvSpPr txBox="1"/>
          <p:nvPr/>
        </p:nvSpPr>
        <p:spPr>
          <a:xfrm>
            <a:off x="731520" y="5852160"/>
            <a:ext cx="7315200" cy="365760"/>
          </a:xfrm>
          <a:prstGeom prst="rect">
            <a:avLst/>
          </a:prstGeom>
          <a:noFill/>
        </p:spPr>
        <p:txBody>
          <a:bodyPr wrap="square">
            <a:spAutoFit/>
          </a:bodyPr>
          <a:lstStyle/>
          <a:p>
            <a:pPr>
              <a:spcAft>
                <a:spcPts val="600"/>
              </a:spcAft>
            </a:pPr>
            <a:r>
              <a:rPr sz="1100" b="0">
                <a:solidFill>
                  <a:srgbClr val="6F6A63"/>
                </a:solidFill>
                <a:latin typeface="Segoe UI"/>
              </a:rPr>
              <a:t>Prepared for Doug · AI Foundations final project · 2026-10-20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THE JOURNEY</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What you'll see: one organization, start to finish</a:t>
            </a:r>
          </a:p>
        </p:txBody>
      </p:sp>
      <p:sp>
        <p:nvSpPr>
          <p:cNvPr id="5" name="TextBox 4"/>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6" name="Oval 5"/>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sosceles Triangle 7"/>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737360"/>
            <a:ext cx="502920" cy="502920"/>
          </a:xfrm>
          <a:prstGeom prst="ellipse">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810512"/>
            <a:ext cx="502920" cy="365760"/>
          </a:xfrm>
          <a:prstGeom prst="rect">
            <a:avLst/>
          </a:prstGeom>
          <a:noFill/>
        </p:spPr>
        <p:txBody>
          <a:bodyPr wrap="square">
            <a:spAutoFit/>
          </a:bodyPr>
          <a:lstStyle/>
          <a:p>
            <a:pPr algn="ctr">
              <a:spcAft>
                <a:spcPts val="600"/>
              </a:spcAft>
            </a:pPr>
            <a:r>
              <a:rPr sz="1600" b="1">
                <a:solidFill>
                  <a:srgbClr val="FFFFFF"/>
                </a:solidFill>
                <a:latin typeface="Century Gothic"/>
              </a:rPr>
              <a:t>1</a:t>
            </a:r>
          </a:p>
        </p:txBody>
      </p:sp>
      <p:sp>
        <p:nvSpPr>
          <p:cNvPr id="11" name="TextBox 10"/>
          <p:cNvSpPr txBox="1"/>
          <p:nvPr/>
        </p:nvSpPr>
        <p:spPr>
          <a:xfrm>
            <a:off x="548640" y="2423160"/>
            <a:ext cx="1463040" cy="365760"/>
          </a:xfrm>
          <a:prstGeom prst="rect">
            <a:avLst/>
          </a:prstGeom>
          <a:noFill/>
        </p:spPr>
        <p:txBody>
          <a:bodyPr wrap="square">
            <a:spAutoFit/>
          </a:bodyPr>
          <a:lstStyle/>
          <a:p>
            <a:pPr algn="ctr">
              <a:spcAft>
                <a:spcPts val="600"/>
              </a:spcAft>
            </a:pPr>
            <a:r>
              <a:rPr sz="1400" b="1">
                <a:solidFill>
                  <a:srgbClr val="2B2B2B"/>
                </a:solidFill>
                <a:latin typeface="Century Gothic"/>
              </a:rPr>
              <a:t>Sign up</a:t>
            </a:r>
          </a:p>
        </p:txBody>
      </p:sp>
      <p:sp>
        <p:nvSpPr>
          <p:cNvPr id="12" name="TextBox 11"/>
          <p:cNvSpPr txBox="1"/>
          <p:nvPr/>
        </p:nvSpPr>
        <p:spPr>
          <a:xfrm>
            <a:off x="548640" y="2788920"/>
            <a:ext cx="1463040" cy="914400"/>
          </a:xfrm>
          <a:prstGeom prst="rect">
            <a:avLst/>
          </a:prstGeom>
          <a:noFill/>
        </p:spPr>
        <p:txBody>
          <a:bodyPr wrap="square">
            <a:spAutoFit/>
          </a:bodyPr>
          <a:lstStyle/>
          <a:p>
            <a:pPr algn="ctr">
              <a:spcAft>
                <a:spcPts val="600"/>
              </a:spcAft>
            </a:pPr>
            <a:r>
              <a:rPr sz="1100" b="0">
                <a:solidFill>
                  <a:srgbClr val="6F6A63"/>
                </a:solidFill>
                <a:latin typeface="Segoe UI"/>
              </a:rPr>
              <a:t>Staff account first; everything saves to the org</a:t>
            </a:r>
          </a:p>
        </p:txBody>
      </p:sp>
      <p:sp>
        <p:nvSpPr>
          <p:cNvPr id="13" name="Rectangle 12"/>
          <p:cNvSpPr/>
          <p:nvPr/>
        </p:nvSpPr>
        <p:spPr>
          <a:xfrm>
            <a:off x="1600200" y="1975104"/>
            <a:ext cx="1051560" cy="27432"/>
          </a:xfrm>
          <a:prstGeom prst="rect">
            <a:avLst/>
          </a:prstGeom>
          <a:solidFill>
            <a:srgbClr val="E5D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606040" y="1737360"/>
            <a:ext cx="502920" cy="502920"/>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040" y="1810512"/>
            <a:ext cx="502920" cy="365760"/>
          </a:xfrm>
          <a:prstGeom prst="rect">
            <a:avLst/>
          </a:prstGeom>
          <a:noFill/>
        </p:spPr>
        <p:txBody>
          <a:bodyPr wrap="square">
            <a:spAutoFit/>
          </a:bodyPr>
          <a:lstStyle/>
          <a:p>
            <a:pPr algn="ctr">
              <a:spcAft>
                <a:spcPts val="600"/>
              </a:spcAft>
            </a:pPr>
            <a:r>
              <a:rPr sz="1600" b="1">
                <a:solidFill>
                  <a:srgbClr val="FFFFFF"/>
                </a:solidFill>
                <a:latin typeface="Century Gothic"/>
              </a:rPr>
              <a:t>2</a:t>
            </a:r>
          </a:p>
        </p:txBody>
      </p:sp>
      <p:sp>
        <p:nvSpPr>
          <p:cNvPr id="16" name="TextBox 15"/>
          <p:cNvSpPr txBox="1"/>
          <p:nvPr/>
        </p:nvSpPr>
        <p:spPr>
          <a:xfrm>
            <a:off x="2148840" y="2423160"/>
            <a:ext cx="1463040" cy="365760"/>
          </a:xfrm>
          <a:prstGeom prst="rect">
            <a:avLst/>
          </a:prstGeom>
          <a:noFill/>
        </p:spPr>
        <p:txBody>
          <a:bodyPr wrap="square">
            <a:spAutoFit/>
          </a:bodyPr>
          <a:lstStyle/>
          <a:p>
            <a:pPr algn="ctr">
              <a:spcAft>
                <a:spcPts val="600"/>
              </a:spcAft>
            </a:pPr>
            <a:r>
              <a:rPr sz="1400" b="1">
                <a:solidFill>
                  <a:srgbClr val="2B2B2B"/>
                </a:solidFill>
                <a:latin typeface="Century Gothic"/>
              </a:rPr>
              <a:t>Share</a:t>
            </a:r>
          </a:p>
        </p:txBody>
      </p:sp>
      <p:sp>
        <p:nvSpPr>
          <p:cNvPr id="17" name="TextBox 16"/>
          <p:cNvSpPr txBox="1"/>
          <p:nvPr/>
        </p:nvSpPr>
        <p:spPr>
          <a:xfrm>
            <a:off x="2148840" y="2788920"/>
            <a:ext cx="1463040" cy="914400"/>
          </a:xfrm>
          <a:prstGeom prst="rect">
            <a:avLst/>
          </a:prstGeom>
          <a:noFill/>
        </p:spPr>
        <p:txBody>
          <a:bodyPr wrap="square">
            <a:spAutoFit/>
          </a:bodyPr>
          <a:lstStyle/>
          <a:p>
            <a:pPr algn="ctr">
              <a:spcAft>
                <a:spcPts val="600"/>
              </a:spcAft>
            </a:pPr>
            <a:r>
              <a:rPr sz="1100" b="0">
                <a:solidFill>
                  <a:srgbClr val="6F6A63"/>
                </a:solidFill>
                <a:latin typeface="Segoe UI"/>
              </a:rPr>
              <a:t>Upload what you have (read, never saved)</a:t>
            </a:r>
          </a:p>
        </p:txBody>
      </p:sp>
      <p:sp>
        <p:nvSpPr>
          <p:cNvPr id="18" name="Rectangle 17"/>
          <p:cNvSpPr/>
          <p:nvPr/>
        </p:nvSpPr>
        <p:spPr>
          <a:xfrm>
            <a:off x="3200400" y="1975104"/>
            <a:ext cx="1051560" cy="27432"/>
          </a:xfrm>
          <a:prstGeom prst="rect">
            <a:avLst/>
          </a:prstGeom>
          <a:solidFill>
            <a:srgbClr val="E5D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206240" y="1737360"/>
            <a:ext cx="502920" cy="502920"/>
          </a:xfrm>
          <a:prstGeom prst="ellips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1810512"/>
            <a:ext cx="502920" cy="365760"/>
          </a:xfrm>
          <a:prstGeom prst="rect">
            <a:avLst/>
          </a:prstGeom>
          <a:noFill/>
        </p:spPr>
        <p:txBody>
          <a:bodyPr wrap="square">
            <a:spAutoFit/>
          </a:bodyPr>
          <a:lstStyle/>
          <a:p>
            <a:pPr algn="ctr">
              <a:spcAft>
                <a:spcPts val="600"/>
              </a:spcAft>
            </a:pPr>
            <a:r>
              <a:rPr sz="1600" b="1">
                <a:solidFill>
                  <a:srgbClr val="2B2B2B"/>
                </a:solidFill>
                <a:latin typeface="Century Gothic"/>
              </a:rPr>
              <a:t>3</a:t>
            </a:r>
          </a:p>
        </p:txBody>
      </p:sp>
      <p:sp>
        <p:nvSpPr>
          <p:cNvPr id="21" name="TextBox 20"/>
          <p:cNvSpPr txBox="1"/>
          <p:nvPr/>
        </p:nvSpPr>
        <p:spPr>
          <a:xfrm>
            <a:off x="3749039" y="2423160"/>
            <a:ext cx="1463040" cy="365760"/>
          </a:xfrm>
          <a:prstGeom prst="rect">
            <a:avLst/>
          </a:prstGeom>
          <a:noFill/>
        </p:spPr>
        <p:txBody>
          <a:bodyPr wrap="square">
            <a:spAutoFit/>
          </a:bodyPr>
          <a:lstStyle/>
          <a:p>
            <a:pPr algn="ctr">
              <a:spcAft>
                <a:spcPts val="600"/>
              </a:spcAft>
            </a:pPr>
            <a:r>
              <a:rPr sz="1400" b="1">
                <a:solidFill>
                  <a:srgbClr val="2B2B2B"/>
                </a:solidFill>
                <a:latin typeface="Century Gothic"/>
              </a:rPr>
              <a:t>Five questions</a:t>
            </a:r>
          </a:p>
        </p:txBody>
      </p:sp>
      <p:sp>
        <p:nvSpPr>
          <p:cNvPr id="22" name="TextBox 21"/>
          <p:cNvSpPr txBox="1"/>
          <p:nvPr/>
        </p:nvSpPr>
        <p:spPr>
          <a:xfrm>
            <a:off x="3749039" y="2788920"/>
            <a:ext cx="1463040" cy="914400"/>
          </a:xfrm>
          <a:prstGeom prst="rect">
            <a:avLst/>
          </a:prstGeom>
          <a:noFill/>
        </p:spPr>
        <p:txBody>
          <a:bodyPr wrap="square">
            <a:spAutoFit/>
          </a:bodyPr>
          <a:lstStyle/>
          <a:p>
            <a:pPr algn="ctr">
              <a:spcAft>
                <a:spcPts val="600"/>
              </a:spcAft>
            </a:pPr>
            <a:r>
              <a:rPr sz="1100" b="0">
                <a:solidFill>
                  <a:srgbClr val="6F6A63"/>
                </a:solidFill>
                <a:latin typeface="Segoe UI"/>
              </a:rPr>
              <a:t>AI team interviews the director</a:t>
            </a:r>
          </a:p>
        </p:txBody>
      </p:sp>
      <p:sp>
        <p:nvSpPr>
          <p:cNvPr id="23" name="Rectangle 22"/>
          <p:cNvSpPr/>
          <p:nvPr/>
        </p:nvSpPr>
        <p:spPr>
          <a:xfrm>
            <a:off x="4800600" y="1975104"/>
            <a:ext cx="1051560" cy="27432"/>
          </a:xfrm>
          <a:prstGeom prst="rect">
            <a:avLst/>
          </a:prstGeom>
          <a:solidFill>
            <a:srgbClr val="E5D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06440" y="1737360"/>
            <a:ext cx="502920" cy="502920"/>
          </a:xfrm>
          <a:prstGeom prst="ellipse">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06440" y="1810512"/>
            <a:ext cx="502920" cy="365760"/>
          </a:xfrm>
          <a:prstGeom prst="rect">
            <a:avLst/>
          </a:prstGeom>
          <a:noFill/>
        </p:spPr>
        <p:txBody>
          <a:bodyPr wrap="square">
            <a:spAutoFit/>
          </a:bodyPr>
          <a:lstStyle/>
          <a:p>
            <a:pPr algn="ctr">
              <a:spcAft>
                <a:spcPts val="600"/>
              </a:spcAft>
            </a:pPr>
            <a:r>
              <a:rPr sz="1600" b="1">
                <a:solidFill>
                  <a:srgbClr val="FFFFFF"/>
                </a:solidFill>
                <a:latin typeface="Century Gothic"/>
              </a:rPr>
              <a:t>4</a:t>
            </a:r>
          </a:p>
        </p:txBody>
      </p:sp>
      <p:sp>
        <p:nvSpPr>
          <p:cNvPr id="26" name="TextBox 25"/>
          <p:cNvSpPr txBox="1"/>
          <p:nvPr/>
        </p:nvSpPr>
        <p:spPr>
          <a:xfrm>
            <a:off x="5349240" y="2423160"/>
            <a:ext cx="1463040" cy="365760"/>
          </a:xfrm>
          <a:prstGeom prst="rect">
            <a:avLst/>
          </a:prstGeom>
          <a:noFill/>
        </p:spPr>
        <p:txBody>
          <a:bodyPr wrap="square">
            <a:spAutoFit/>
          </a:bodyPr>
          <a:lstStyle/>
          <a:p>
            <a:pPr algn="ctr">
              <a:spcAft>
                <a:spcPts val="600"/>
              </a:spcAft>
            </a:pPr>
            <a:r>
              <a:rPr sz="1400" b="1">
                <a:solidFill>
                  <a:srgbClr val="2B2B2B"/>
                </a:solidFill>
                <a:latin typeface="Century Gothic"/>
              </a:rPr>
              <a:t>Logic model</a:t>
            </a:r>
          </a:p>
        </p:txBody>
      </p:sp>
      <p:sp>
        <p:nvSpPr>
          <p:cNvPr id="27" name="TextBox 26"/>
          <p:cNvSpPr txBox="1"/>
          <p:nvPr/>
        </p:nvSpPr>
        <p:spPr>
          <a:xfrm>
            <a:off x="5349240" y="2788920"/>
            <a:ext cx="1463040" cy="914400"/>
          </a:xfrm>
          <a:prstGeom prst="rect">
            <a:avLst/>
          </a:prstGeom>
          <a:noFill/>
        </p:spPr>
        <p:txBody>
          <a:bodyPr wrap="square">
            <a:spAutoFit/>
          </a:bodyPr>
          <a:lstStyle/>
          <a:p>
            <a:pPr algn="ctr">
              <a:spcAft>
                <a:spcPts val="600"/>
              </a:spcAft>
            </a:pPr>
            <a:r>
              <a:rPr sz="1100" b="0">
                <a:solidFill>
                  <a:srgbClr val="6F6A63"/>
                </a:solidFill>
                <a:latin typeface="Segoe UI"/>
              </a:rPr>
              <a:t>Drafted, peer-reviewed, refined</a:t>
            </a:r>
          </a:p>
        </p:txBody>
      </p:sp>
      <p:sp>
        <p:nvSpPr>
          <p:cNvPr id="28" name="Rectangle 27"/>
          <p:cNvSpPr/>
          <p:nvPr/>
        </p:nvSpPr>
        <p:spPr>
          <a:xfrm>
            <a:off x="6400800" y="1975104"/>
            <a:ext cx="1051560" cy="27432"/>
          </a:xfrm>
          <a:prstGeom prst="rect">
            <a:avLst/>
          </a:prstGeom>
          <a:solidFill>
            <a:srgbClr val="E5D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406640" y="1737360"/>
            <a:ext cx="502920" cy="502920"/>
          </a:xfrm>
          <a:prstGeom prst="ellipse">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0" y="1810512"/>
            <a:ext cx="502920" cy="365760"/>
          </a:xfrm>
          <a:prstGeom prst="rect">
            <a:avLst/>
          </a:prstGeom>
          <a:noFill/>
        </p:spPr>
        <p:txBody>
          <a:bodyPr wrap="square">
            <a:spAutoFit/>
          </a:bodyPr>
          <a:lstStyle/>
          <a:p>
            <a:pPr algn="ctr">
              <a:spcAft>
                <a:spcPts val="600"/>
              </a:spcAft>
            </a:pPr>
            <a:r>
              <a:rPr sz="1600" b="1">
                <a:solidFill>
                  <a:srgbClr val="FFFFFF"/>
                </a:solidFill>
                <a:latin typeface="Century Gothic"/>
              </a:rPr>
              <a:t>5</a:t>
            </a:r>
          </a:p>
        </p:txBody>
      </p:sp>
      <p:sp>
        <p:nvSpPr>
          <p:cNvPr id="31" name="TextBox 30"/>
          <p:cNvSpPr txBox="1"/>
          <p:nvPr/>
        </p:nvSpPr>
        <p:spPr>
          <a:xfrm>
            <a:off x="6949440" y="2423160"/>
            <a:ext cx="1463040" cy="365760"/>
          </a:xfrm>
          <a:prstGeom prst="rect">
            <a:avLst/>
          </a:prstGeom>
          <a:noFill/>
        </p:spPr>
        <p:txBody>
          <a:bodyPr wrap="square">
            <a:spAutoFit/>
          </a:bodyPr>
          <a:lstStyle/>
          <a:p>
            <a:pPr algn="ctr">
              <a:spcAft>
                <a:spcPts val="600"/>
              </a:spcAft>
            </a:pPr>
            <a:r>
              <a:rPr sz="1400" b="1">
                <a:solidFill>
                  <a:srgbClr val="2B2B2B"/>
                </a:solidFill>
                <a:latin typeface="Century Gothic"/>
              </a:rPr>
              <a:t>Metrics</a:t>
            </a:r>
          </a:p>
        </p:txBody>
      </p:sp>
      <p:sp>
        <p:nvSpPr>
          <p:cNvPr id="32" name="TextBox 31"/>
          <p:cNvSpPr txBox="1"/>
          <p:nvPr/>
        </p:nvSpPr>
        <p:spPr>
          <a:xfrm>
            <a:off x="6949440" y="2788920"/>
            <a:ext cx="1463040" cy="914400"/>
          </a:xfrm>
          <a:prstGeom prst="rect">
            <a:avLst/>
          </a:prstGeom>
          <a:noFill/>
        </p:spPr>
        <p:txBody>
          <a:bodyPr wrap="square">
            <a:spAutoFit/>
          </a:bodyPr>
          <a:lstStyle/>
          <a:p>
            <a:pPr algn="ctr">
              <a:spcAft>
                <a:spcPts val="600"/>
              </a:spcAft>
            </a:pPr>
            <a:r>
              <a:rPr sz="1100" b="0">
                <a:solidFill>
                  <a:srgbClr val="6F6A63"/>
                </a:solidFill>
                <a:latin typeface="Segoe UI"/>
              </a:rPr>
              <a:t>Research-backed questions &amp; scales</a:t>
            </a:r>
          </a:p>
        </p:txBody>
      </p:sp>
      <p:sp>
        <p:nvSpPr>
          <p:cNvPr id="33" name="Rectangle 32"/>
          <p:cNvSpPr/>
          <p:nvPr/>
        </p:nvSpPr>
        <p:spPr>
          <a:xfrm>
            <a:off x="8001000" y="1975104"/>
            <a:ext cx="1051560" cy="27432"/>
          </a:xfrm>
          <a:prstGeom prst="rect">
            <a:avLst/>
          </a:prstGeom>
          <a:solidFill>
            <a:srgbClr val="E5D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006840" y="1737360"/>
            <a:ext cx="502920" cy="502920"/>
          </a:xfrm>
          <a:prstGeom prst="ellipse">
            <a:avLst/>
          </a:prstGeom>
          <a:solidFill>
            <a:srgbClr val="8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06840" y="1810512"/>
            <a:ext cx="502920" cy="365760"/>
          </a:xfrm>
          <a:prstGeom prst="rect">
            <a:avLst/>
          </a:prstGeom>
          <a:noFill/>
        </p:spPr>
        <p:txBody>
          <a:bodyPr wrap="square">
            <a:spAutoFit/>
          </a:bodyPr>
          <a:lstStyle/>
          <a:p>
            <a:pPr algn="ctr">
              <a:spcAft>
                <a:spcPts val="600"/>
              </a:spcAft>
            </a:pPr>
            <a:r>
              <a:rPr sz="1600" b="1">
                <a:solidFill>
                  <a:srgbClr val="FFFFFF"/>
                </a:solidFill>
                <a:latin typeface="Century Gothic"/>
              </a:rPr>
              <a:t>6</a:t>
            </a:r>
          </a:p>
        </p:txBody>
      </p:sp>
      <p:sp>
        <p:nvSpPr>
          <p:cNvPr id="36" name="TextBox 35"/>
          <p:cNvSpPr txBox="1"/>
          <p:nvPr/>
        </p:nvSpPr>
        <p:spPr>
          <a:xfrm>
            <a:off x="8549640" y="2423160"/>
            <a:ext cx="1463040" cy="365760"/>
          </a:xfrm>
          <a:prstGeom prst="rect">
            <a:avLst/>
          </a:prstGeom>
          <a:noFill/>
        </p:spPr>
        <p:txBody>
          <a:bodyPr wrap="square">
            <a:spAutoFit/>
          </a:bodyPr>
          <a:lstStyle/>
          <a:p>
            <a:pPr algn="ctr">
              <a:spcAft>
                <a:spcPts val="600"/>
              </a:spcAft>
            </a:pPr>
            <a:r>
              <a:rPr sz="1400" b="1">
                <a:solidFill>
                  <a:srgbClr val="2B2B2B"/>
                </a:solidFill>
                <a:latin typeface="Century Gothic"/>
              </a:rPr>
              <a:t>Collect</a:t>
            </a:r>
          </a:p>
        </p:txBody>
      </p:sp>
      <p:sp>
        <p:nvSpPr>
          <p:cNvPr id="37" name="TextBox 36"/>
          <p:cNvSpPr txBox="1"/>
          <p:nvPr/>
        </p:nvSpPr>
        <p:spPr>
          <a:xfrm>
            <a:off x="8549640" y="2788920"/>
            <a:ext cx="1463040" cy="914400"/>
          </a:xfrm>
          <a:prstGeom prst="rect">
            <a:avLst/>
          </a:prstGeom>
          <a:noFill/>
        </p:spPr>
        <p:txBody>
          <a:bodyPr wrap="square">
            <a:spAutoFit/>
          </a:bodyPr>
          <a:lstStyle/>
          <a:p>
            <a:pPr algn="ctr">
              <a:spcAft>
                <a:spcPts val="600"/>
              </a:spcAft>
            </a:pPr>
            <a:r>
              <a:rPr sz="1100" b="0">
                <a:solidFill>
                  <a:srgbClr val="6F6A63"/>
                </a:solidFill>
                <a:latin typeface="Segoe UI"/>
              </a:rPr>
              <a:t>Survey tools, portal, staff entry</a:t>
            </a:r>
          </a:p>
        </p:txBody>
      </p:sp>
      <p:sp>
        <p:nvSpPr>
          <p:cNvPr id="38" name="Rectangle 37"/>
          <p:cNvSpPr/>
          <p:nvPr/>
        </p:nvSpPr>
        <p:spPr>
          <a:xfrm>
            <a:off x="9601200" y="1975104"/>
            <a:ext cx="1051560" cy="27432"/>
          </a:xfrm>
          <a:prstGeom prst="rect">
            <a:avLst/>
          </a:prstGeom>
          <a:solidFill>
            <a:srgbClr val="E5D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607040" y="1737360"/>
            <a:ext cx="502920" cy="502920"/>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607040" y="1810512"/>
            <a:ext cx="502920" cy="365760"/>
          </a:xfrm>
          <a:prstGeom prst="rect">
            <a:avLst/>
          </a:prstGeom>
          <a:noFill/>
        </p:spPr>
        <p:txBody>
          <a:bodyPr wrap="square">
            <a:spAutoFit/>
          </a:bodyPr>
          <a:lstStyle/>
          <a:p>
            <a:pPr algn="ctr">
              <a:spcAft>
                <a:spcPts val="600"/>
              </a:spcAft>
            </a:pPr>
            <a:r>
              <a:rPr sz="1600" b="1">
                <a:solidFill>
                  <a:srgbClr val="FFFFFF"/>
                </a:solidFill>
                <a:latin typeface="Century Gothic"/>
              </a:rPr>
              <a:t>7</a:t>
            </a:r>
          </a:p>
        </p:txBody>
      </p:sp>
      <p:sp>
        <p:nvSpPr>
          <p:cNvPr id="41" name="TextBox 40"/>
          <p:cNvSpPr txBox="1"/>
          <p:nvPr/>
        </p:nvSpPr>
        <p:spPr>
          <a:xfrm>
            <a:off x="10149840" y="2423160"/>
            <a:ext cx="1463040" cy="365760"/>
          </a:xfrm>
          <a:prstGeom prst="rect">
            <a:avLst/>
          </a:prstGeom>
          <a:noFill/>
        </p:spPr>
        <p:txBody>
          <a:bodyPr wrap="square">
            <a:spAutoFit/>
          </a:bodyPr>
          <a:lstStyle/>
          <a:p>
            <a:pPr algn="ctr">
              <a:spcAft>
                <a:spcPts val="600"/>
              </a:spcAft>
            </a:pPr>
            <a:r>
              <a:rPr sz="1400" b="1">
                <a:solidFill>
                  <a:srgbClr val="2B2B2B"/>
                </a:solidFill>
                <a:latin typeface="Century Gothic"/>
              </a:rPr>
              <a:t>Dashboard</a:t>
            </a:r>
          </a:p>
        </p:txBody>
      </p:sp>
      <p:sp>
        <p:nvSpPr>
          <p:cNvPr id="42" name="TextBox 41"/>
          <p:cNvSpPr txBox="1"/>
          <p:nvPr/>
        </p:nvSpPr>
        <p:spPr>
          <a:xfrm>
            <a:off x="10149840" y="2788920"/>
            <a:ext cx="1463040" cy="914400"/>
          </a:xfrm>
          <a:prstGeom prst="rect">
            <a:avLst/>
          </a:prstGeom>
          <a:noFill/>
        </p:spPr>
        <p:txBody>
          <a:bodyPr wrap="square">
            <a:spAutoFit/>
          </a:bodyPr>
          <a:lstStyle/>
          <a:p>
            <a:pPr algn="ctr">
              <a:spcAft>
                <a:spcPts val="600"/>
              </a:spcAft>
            </a:pPr>
            <a:r>
              <a:rPr sz="1100" b="0">
                <a:solidFill>
                  <a:srgbClr val="6F6A63"/>
                </a:solidFill>
                <a:latin typeface="Segoe UI"/>
              </a:rPr>
              <a:t>Charts, downloads, report</a:t>
            </a:r>
          </a:p>
        </p:txBody>
      </p:sp>
      <p:sp>
        <p:nvSpPr>
          <p:cNvPr id="43" name="Rectangle 42"/>
          <p:cNvSpPr/>
          <p:nvPr/>
        </p:nvSpPr>
        <p:spPr>
          <a:xfrm>
            <a:off x="548640" y="4206240"/>
            <a:ext cx="64008" cy="1828800"/>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2647" y="4206240"/>
            <a:ext cx="5422392"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77240" y="4297679"/>
            <a:ext cx="5120640" cy="1645920"/>
          </a:xfrm>
          <a:prstGeom prst="rect">
            <a:avLst/>
          </a:prstGeom>
          <a:noFill/>
        </p:spPr>
        <p:txBody>
          <a:bodyPr wrap="square">
            <a:spAutoFit/>
          </a:bodyPr>
          <a:lstStyle/>
          <a:p>
            <a:pPr>
              <a:spcAft>
                <a:spcPts val="400"/>
              </a:spcAft>
            </a:pPr>
            <a:r>
              <a:rPr sz="1250" b="1">
                <a:solidFill>
                  <a:srgbClr val="2B2B2B"/>
                </a:solidFill>
                <a:latin typeface="Segoe UI"/>
              </a:rPr>
              <a:t>How this test was run</a:t>
            </a:r>
          </a:p>
          <a:p>
            <a:pPr>
              <a:spcAft>
                <a:spcPts val="400"/>
              </a:spcAft>
            </a:pPr>
            <a:r>
              <a:rPr sz="1250" b="0">
                <a:solidFill>
                  <a:srgbClr val="2B2B2B"/>
                </a:solidFill>
                <a:latin typeface="Segoe UI"/>
              </a:rPr>
              <a:t>The Logic Model Studio was driven through the real browser UI so you can see the live team at work. Survey tools, the Survey Review Bot, 24 participants and program numbers were then loaded by scripts/run_test_profile.py from the saved test profile.</a:t>
            </a:r>
          </a:p>
        </p:txBody>
      </p:sp>
      <p:sp>
        <p:nvSpPr>
          <p:cNvPr id="46" name="Rectangle 45"/>
          <p:cNvSpPr/>
          <p:nvPr/>
        </p:nvSpPr>
        <p:spPr>
          <a:xfrm>
            <a:off x="6309360" y="4206240"/>
            <a:ext cx="64008" cy="1828800"/>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73368" y="4206240"/>
            <a:ext cx="5239512"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537960" y="4297679"/>
            <a:ext cx="4937759" cy="1645920"/>
          </a:xfrm>
          <a:prstGeom prst="rect">
            <a:avLst/>
          </a:prstGeom>
          <a:noFill/>
        </p:spPr>
        <p:txBody>
          <a:bodyPr wrap="square">
            <a:spAutoFit/>
          </a:bodyPr>
          <a:lstStyle/>
          <a:p>
            <a:pPr>
              <a:spcAft>
                <a:spcPts val="400"/>
              </a:spcAft>
            </a:pPr>
            <a:r>
              <a:rPr sz="1250" b="1">
                <a:solidFill>
                  <a:srgbClr val="2B2B2B"/>
                </a:solidFill>
                <a:latin typeface="Segoe UI"/>
              </a:rPr>
              <a:t>What was real vs. synthetic</a:t>
            </a:r>
          </a:p>
          <a:p>
            <a:pPr>
              <a:spcAft>
                <a:spcPts val="400"/>
              </a:spcAft>
            </a:pPr>
            <a:r>
              <a:rPr sz="1250" b="0">
                <a:solidFill>
                  <a:srgbClr val="2B2B2B"/>
                </a:solidFill>
                <a:latin typeface="Segoe UI"/>
              </a:rPr>
              <a:t>Real: every agent decision, question, draft, citation and review (live gpt-6-luna, live web search). Synthetic: the organization, the director's answers (from the profile's answer bank), and all participant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TEST PROFILE</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The saved test profile: reusable fake data</a:t>
            </a:r>
          </a:p>
        </p:txBody>
      </p:sp>
      <p:sp>
        <p:nvSpPr>
          <p:cNvPr id="5" name="TextBox 4"/>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6" name="Oval 5"/>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sosceles Triangle 7"/>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71600"/>
            <a:ext cx="5760720" cy="4846320"/>
          </a:xfrm>
          <a:prstGeom prst="rect">
            <a:avLst/>
          </a:prstGeom>
          <a:noFill/>
        </p:spPr>
        <p:txBody>
          <a:bodyPr wrap="square">
            <a:spAutoFit/>
          </a:bodyPr>
          <a:lstStyle/>
          <a:p>
            <a:pPr>
              <a:spcAft>
                <a:spcPts val="800"/>
              </a:spcAft>
            </a:pPr>
            <a:r>
              <a:rPr sz="1400" b="1">
                <a:solidFill>
                  <a:srgbClr val="6F6A63"/>
                </a:solidFill>
                <a:latin typeface="Segoe UI"/>
              </a:rPr>
              <a:t>•  </a:t>
            </a:r>
            <a:r>
              <a:rPr sz="1400" b="0">
                <a:solidFill>
                  <a:srgbClr val="2B2B2B"/>
                </a:solidFill>
                <a:latin typeface="Segoe UI"/>
              </a:rPr>
              <a:t>Organization: Keystone Family Housing Partners, family rapid rehousing (fictional, West Haven, CT)</a:t>
            </a:r>
          </a:p>
          <a:p>
            <a:pPr>
              <a:spcAft>
                <a:spcPts val="800"/>
              </a:spcAft>
            </a:pPr>
            <a:r>
              <a:rPr sz="1400" b="1">
                <a:solidFill>
                  <a:srgbClr val="6F6A63"/>
                </a:solidFill>
                <a:latin typeface="Segoe UI"/>
              </a:rPr>
              <a:t>•  </a:t>
            </a:r>
            <a:r>
              <a:rPr sz="1400" b="0">
                <a:solidFill>
                  <a:srgbClr val="2B2B2B"/>
                </a:solidFill>
                <a:latin typeface="Segoe UI"/>
              </a:rPr>
              <a:t>Uploaded document: its 2-page PDF profile from data/test_organizations/</a:t>
            </a:r>
          </a:p>
          <a:p>
            <a:pPr>
              <a:spcAft>
                <a:spcPts val="800"/>
              </a:spcAft>
            </a:pPr>
            <a:r>
              <a:rPr sz="1400" b="1">
                <a:solidFill>
                  <a:srgbClr val="6F6A63"/>
                </a:solidFill>
                <a:latin typeface="Segoe UI"/>
              </a:rPr>
              <a:t>•  </a:t>
            </a:r>
            <a:r>
              <a:rPr sz="1400" b="0">
                <a:solidFill>
                  <a:srgbClr val="2B2B2B"/>
                </a:solidFill>
                <a:latin typeface="Segoe UI"/>
              </a:rPr>
              <a:t>Staff account: keystone.test · Maria Okafor (test ED)</a:t>
            </a:r>
          </a:p>
          <a:p>
            <a:pPr>
              <a:spcAft>
                <a:spcPts val="800"/>
              </a:spcAft>
            </a:pPr>
            <a:r>
              <a:rPr sz="1400" b="1">
                <a:solidFill>
                  <a:srgbClr val="6F6A63"/>
                </a:solidFill>
                <a:latin typeface="Segoe UI"/>
              </a:rPr>
              <a:t>•  </a:t>
            </a:r>
            <a:r>
              <a:rPr sz="1400" b="0">
                <a:solidFill>
                  <a:srgbClr val="2B2B2B"/>
                </a:solidFill>
                <a:latin typeface="Segoe UI"/>
              </a:rPr>
              <a:t>Interview answer bank: 7 answers, matched to whatever the AI asks</a:t>
            </a:r>
          </a:p>
          <a:p>
            <a:pPr>
              <a:spcAft>
                <a:spcPts val="800"/>
              </a:spcAft>
            </a:pPr>
            <a:r>
              <a:rPr sz="1400" b="1">
                <a:solidFill>
                  <a:srgbClr val="6F6A63"/>
                </a:solidFill>
                <a:latin typeface="Segoe UI"/>
              </a:rPr>
              <a:t>•  </a:t>
            </a:r>
            <a:r>
              <a:rPr sz="1400" b="0">
                <a:solidFill>
                  <a:srgbClr val="2B2B2B"/>
                </a:solidFill>
                <a:latin typeface="Segoe UI"/>
              </a:rPr>
              <a:t>Scripted feedback for one logic model round and one metrics round</a:t>
            </a:r>
          </a:p>
          <a:p>
            <a:pPr>
              <a:spcAft>
                <a:spcPts val="800"/>
              </a:spcAft>
            </a:pPr>
            <a:r>
              <a:rPr sz="1400" b="1">
                <a:solidFill>
                  <a:srgbClr val="6F6A63"/>
                </a:solidFill>
                <a:latin typeface="Segoe UI"/>
              </a:rPr>
              <a:t>•  </a:t>
            </a:r>
            <a:r>
              <a:rPr sz="1400" b="0">
                <a:solidFill>
                  <a:srgbClr val="2B2B2B"/>
                </a:solidFill>
                <a:latin typeface="Segoe UI"/>
              </a:rPr>
              <a:t>24 synthetic participants with fixed demographics and a seeded response pattern (75% improve; ~8% skip the post survey)</a:t>
            </a:r>
          </a:p>
          <a:p>
            <a:pPr>
              <a:spcAft>
                <a:spcPts val="800"/>
              </a:spcAft>
            </a:pPr>
            <a:r>
              <a:rPr sz="1400" b="1">
                <a:solidFill>
                  <a:srgbClr val="6F6A63"/>
                </a:solidFill>
                <a:latin typeface="Segoe UI"/>
              </a:rPr>
              <a:t>•  </a:t>
            </a:r>
            <a:r>
              <a:rPr sz="1400" b="0">
                <a:solidFill>
                  <a:srgbClr val="2B2B2B"/>
                </a:solidFill>
                <a:latin typeface="Segoe UI"/>
              </a:rPr>
              <a:t>6 months of program numbers, matched to the plan's indicators by keyword, plus 3 custom numbers</a:t>
            </a:r>
          </a:p>
        </p:txBody>
      </p:sp>
      <p:sp>
        <p:nvSpPr>
          <p:cNvPr id="10" name="Rectangle 9"/>
          <p:cNvSpPr/>
          <p:nvPr/>
        </p:nvSpPr>
        <p:spPr>
          <a:xfrm>
            <a:off x="6675120" y="1371600"/>
            <a:ext cx="64008" cy="2011680"/>
          </a:xfrm>
          <a:prstGeom prst="rect">
            <a:avLst/>
          </a:prstGeom>
          <a:solidFill>
            <a:srgbClr val="8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39128" y="1371600"/>
            <a:ext cx="4873752"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903720" y="1463040"/>
            <a:ext cx="4572000" cy="1828800"/>
          </a:xfrm>
          <a:prstGeom prst="rect">
            <a:avLst/>
          </a:prstGeom>
          <a:noFill/>
        </p:spPr>
        <p:txBody>
          <a:bodyPr wrap="square">
            <a:spAutoFit/>
          </a:bodyPr>
          <a:lstStyle/>
          <a:p>
            <a:pPr>
              <a:spcAft>
                <a:spcPts val="400"/>
              </a:spcAft>
            </a:pPr>
            <a:r>
              <a:rPr sz="1200" b="1">
                <a:solidFill>
                  <a:srgbClr val="2B2B2B"/>
                </a:solidFill>
                <a:latin typeface="Segoe UI"/>
              </a:rPr>
              <a:t>Where it lives</a:t>
            </a:r>
          </a:p>
          <a:p>
            <a:pPr>
              <a:spcAft>
                <a:spcPts val="400"/>
              </a:spcAft>
            </a:pPr>
            <a:r>
              <a:rPr sz="1200" b="0">
                <a:solidFill>
                  <a:srgbClr val="2B2B2B"/>
                </a:solidFill>
                <a:latin typeface="Segoe UI"/>
              </a:rPr>
              <a:t>data/test_profiles/keystone_family_housing/
  profile.json: the fake firm and its data
  demo_screens/: screenshots for this deck
  runs/&lt;date&gt;/: outputs of each run</a:t>
            </a:r>
          </a:p>
        </p:txBody>
      </p:sp>
      <p:sp>
        <p:nvSpPr>
          <p:cNvPr id="13" name="Rectangle 12"/>
          <p:cNvSpPr/>
          <p:nvPr/>
        </p:nvSpPr>
        <p:spPr>
          <a:xfrm>
            <a:off x="6675120" y="3657600"/>
            <a:ext cx="64008" cy="2377440"/>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39128" y="3657600"/>
            <a:ext cx="4873752" cy="2377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903720" y="3749039"/>
            <a:ext cx="4572000" cy="2194560"/>
          </a:xfrm>
          <a:prstGeom prst="rect">
            <a:avLst/>
          </a:prstGeom>
          <a:noFill/>
        </p:spPr>
        <p:txBody>
          <a:bodyPr wrap="square">
            <a:spAutoFit/>
          </a:bodyPr>
          <a:lstStyle/>
          <a:p>
            <a:pPr>
              <a:spcAft>
                <a:spcPts val="400"/>
              </a:spcAft>
            </a:pPr>
            <a:r>
              <a:rPr sz="1200" b="1">
                <a:solidFill>
                  <a:srgbClr val="2B2B2B"/>
                </a:solidFill>
                <a:latin typeface="Segoe UI"/>
              </a:rPr>
              <a:t>Run it again</a:t>
            </a:r>
          </a:p>
          <a:p>
            <a:pPr>
              <a:spcAft>
                <a:spcPts val="400"/>
              </a:spcAft>
            </a:pPr>
            <a:r>
              <a:rPr sz="1200" b="0">
                <a:solidFill>
                  <a:srgbClr val="2B2B2B"/>
                </a:solidFill>
                <a:latin typeface="Segoe UI"/>
              </a:rPr>
              <a:t>.venv/Scripts/python scripts/run_test_profile.py data/test_profiles/keystone_family_housing
Add --from tools (or collect, numbers, export) to resume part-way. Same seed gives the same participant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1 · SIGN UP</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Accounts come first, and they're built to be safe</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1</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423367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2_signup.jpg"/>
          <p:cNvPicPr>
            <a:picLocks noChangeAspect="1"/>
          </p:cNvPicPr>
          <p:nvPr/>
        </p:nvPicPr>
        <p:blipFill>
          <a:blip r:embed="rId2"/>
          <a:srcRect/>
          <a:stretch>
            <a:fillRect/>
          </a:stretch>
        </p:blipFill>
        <p:spPr>
          <a:xfrm>
            <a:off x="548640" y="1371600"/>
            <a:ext cx="6400800" cy="4160520"/>
          </a:xfrm>
          <a:prstGeom prst="rect">
            <a:avLst/>
          </a:prstGeom>
        </p:spPr>
      </p:pic>
      <p:sp>
        <p:nvSpPr>
          <p:cNvPr id="12" name="TextBox 11"/>
          <p:cNvSpPr txBox="1"/>
          <p:nvPr/>
        </p:nvSpPr>
        <p:spPr>
          <a:xfrm>
            <a:off x="7315200" y="1371600"/>
            <a:ext cx="4389120" cy="4846320"/>
          </a:xfrm>
          <a:prstGeom prst="rect">
            <a:avLst/>
          </a:prstGeom>
          <a:noFill/>
        </p:spPr>
        <p:txBody>
          <a:bodyPr wrap="square">
            <a:spAutoFit/>
          </a:bodyPr>
          <a:lstStyle/>
          <a:p>
            <a:pPr>
              <a:spcAft>
                <a:spcPts val="800"/>
              </a:spcAft>
            </a:pPr>
            <a:r>
              <a:rPr sz="1300" b="1">
                <a:solidFill>
                  <a:srgbClr val="6F6A63"/>
                </a:solidFill>
                <a:latin typeface="Segoe UI"/>
              </a:rPr>
              <a:t>•  </a:t>
            </a:r>
            <a:r>
              <a:rPr sz="1300" b="0">
                <a:solidFill>
                  <a:srgbClr val="2B2B2B"/>
                </a:solidFill>
                <a:latin typeface="Segoe UI"/>
              </a:rPr>
              <a:t>Signing up creates the organization; the logic model, metrics, surveys and data are all saved to it</a:t>
            </a:r>
          </a:p>
          <a:p>
            <a:pPr>
              <a:spcAft>
                <a:spcPts val="800"/>
              </a:spcAft>
            </a:pPr>
            <a:r>
              <a:rPr sz="1300" b="1">
                <a:solidFill>
                  <a:srgbClr val="6F6A63"/>
                </a:solidFill>
                <a:latin typeface="Segoe UI"/>
              </a:rPr>
              <a:t>•  </a:t>
            </a:r>
            <a:r>
              <a:rPr sz="1300" b="0">
                <a:solidFill>
                  <a:srgbClr val="2B2B2B"/>
                </a:solidFill>
                <a:latin typeface="Segoe UI"/>
              </a:rPr>
              <a:t>Passwords and PINs: Argon2id hashes only</a:t>
            </a:r>
          </a:p>
          <a:p>
            <a:pPr>
              <a:spcAft>
                <a:spcPts val="800"/>
              </a:spcAft>
            </a:pPr>
            <a:r>
              <a:rPr sz="1300" b="1">
                <a:solidFill>
                  <a:srgbClr val="6F6A63"/>
                </a:solidFill>
                <a:latin typeface="Segoe UI"/>
              </a:rPr>
              <a:t>•  </a:t>
            </a:r>
            <a:r>
              <a:rPr sz="1300" b="0">
                <a:solidFill>
                  <a:srgbClr val="2B2B2B"/>
                </a:solidFill>
                <a:latin typeface="Segoe UI"/>
              </a:rPr>
              <a:t>Usernames are never stored, only a keyed hash used to find the account</a:t>
            </a:r>
          </a:p>
          <a:p>
            <a:pPr>
              <a:spcAft>
                <a:spcPts val="800"/>
              </a:spcAft>
            </a:pPr>
            <a:r>
              <a:rPr sz="1300" b="1">
                <a:solidFill>
                  <a:srgbClr val="6F6A63"/>
                </a:solidFill>
                <a:latin typeface="Segoe UI"/>
              </a:rPr>
              <a:t>•  </a:t>
            </a:r>
            <a:r>
              <a:rPr sz="1300" b="0">
                <a:solidFill>
                  <a:srgbClr val="2B2B2B"/>
                </a:solidFill>
                <a:latin typeface="Segoe UI"/>
              </a:rPr>
              <a:t>Sign-in token in an HttpOnly, SameSite=Strict cookie; staff and participants use separate cookies</a:t>
            </a:r>
          </a:p>
          <a:p>
            <a:pPr>
              <a:spcAft>
                <a:spcPts val="800"/>
              </a:spcAft>
            </a:pPr>
            <a:r>
              <a:rPr sz="1300" b="1">
                <a:solidFill>
                  <a:srgbClr val="6F6A63"/>
                </a:solidFill>
                <a:latin typeface="Segoe UI"/>
              </a:rPr>
              <a:t>•  </a:t>
            </a:r>
            <a:r>
              <a:rPr sz="1300" b="0">
                <a:solidFill>
                  <a:srgbClr val="2B2B2B"/>
                </a:solidFill>
                <a:latin typeface="Segoe UI"/>
              </a:rPr>
              <a:t>5 wrong attempts lock the account for 15 minutes</a:t>
            </a:r>
          </a:p>
          <a:p>
            <a:pPr>
              <a:spcAft>
                <a:spcPts val="800"/>
              </a:spcAft>
            </a:pPr>
            <a:r>
              <a:rPr sz="1300" b="1">
                <a:solidFill>
                  <a:srgbClr val="6F6A63"/>
                </a:solidFill>
                <a:latin typeface="Segoe UI"/>
              </a:rPr>
              <a:t>•  </a:t>
            </a:r>
            <a:r>
              <a:rPr sz="1300" b="0">
                <a:solidFill>
                  <a:srgbClr val="2B2B2B"/>
                </a:solidFill>
                <a:latin typeface="Segoe UI"/>
              </a:rPr>
              <a:t>Every query is scoped to the signed-in organization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1 · HOW IT WORKS</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A short tutorial, then a team of five agents</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1</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423367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3_tutorial.jpg"/>
          <p:cNvPicPr>
            <a:picLocks noChangeAspect="1"/>
          </p:cNvPicPr>
          <p:nvPr/>
        </p:nvPicPr>
        <p:blipFill>
          <a:blip r:embed="rId2"/>
          <a:srcRect/>
          <a:stretch>
            <a:fillRect/>
          </a:stretch>
        </p:blipFill>
        <p:spPr>
          <a:xfrm>
            <a:off x="548640" y="1371600"/>
            <a:ext cx="6400800" cy="4160520"/>
          </a:xfrm>
          <a:prstGeom prst="rect">
            <a:avLst/>
          </a:prstGeom>
        </p:spPr>
      </p:pic>
      <p:sp>
        <p:nvSpPr>
          <p:cNvPr id="12" name="TextBox 11"/>
          <p:cNvSpPr txBox="1"/>
          <p:nvPr/>
        </p:nvSpPr>
        <p:spPr>
          <a:xfrm>
            <a:off x="7315200" y="1371600"/>
            <a:ext cx="4389120" cy="4846320"/>
          </a:xfrm>
          <a:prstGeom prst="rect">
            <a:avLst/>
          </a:prstGeom>
          <a:noFill/>
        </p:spPr>
        <p:txBody>
          <a:bodyPr wrap="square">
            <a:spAutoFit/>
          </a:bodyPr>
          <a:lstStyle/>
          <a:p>
            <a:pPr>
              <a:spcAft>
                <a:spcPts val="800"/>
              </a:spcAft>
            </a:pPr>
            <a:r>
              <a:rPr sz="1300" b="1">
                <a:solidFill>
                  <a:srgbClr val="D96C4F"/>
                </a:solidFill>
                <a:latin typeface="Segoe UI"/>
              </a:rPr>
              <a:t>Team Lead ● </a:t>
            </a:r>
            <a:r>
              <a:rPr sz="1300" b="0">
                <a:solidFill>
                  <a:srgbClr val="2B2B2B"/>
                </a:solidFill>
                <a:latin typeface="Segoe UI"/>
              </a:rPr>
              <a:t>talks with the client and writes every draft</a:t>
            </a:r>
          </a:p>
          <a:p>
            <a:pPr>
              <a:spcAft>
                <a:spcPts val="800"/>
              </a:spcAft>
            </a:pPr>
            <a:r>
              <a:rPr sz="1300" b="1">
                <a:solidFill>
                  <a:srgbClr val="E8B84A"/>
                </a:solidFill>
                <a:latin typeface="Segoe UI"/>
              </a:rPr>
              <a:t>Sector Expert ▲ </a:t>
            </a:r>
            <a:r>
              <a:rPr sz="1300" b="0">
                <a:solidFill>
                  <a:srgbClr val="2B2B2B"/>
                </a:solidFill>
                <a:latin typeface="Segoe UI"/>
              </a:rPr>
              <a:t>practice standards in the client's field</a:t>
            </a:r>
          </a:p>
          <a:p>
            <a:pPr>
              <a:spcAft>
                <a:spcPts val="800"/>
              </a:spcAft>
            </a:pPr>
            <a:r>
              <a:rPr sz="1300" b="1">
                <a:solidFill>
                  <a:srgbClr val="3E63B0"/>
                </a:solidFill>
                <a:latin typeface="Segoe UI"/>
              </a:rPr>
              <a:t>Client Advocate ■ </a:t>
            </a:r>
            <a:r>
              <a:rPr sz="1300" b="0">
                <a:solidFill>
                  <a:srgbClr val="2B2B2B"/>
                </a:solidFill>
                <a:latin typeface="Segoe UI"/>
              </a:rPr>
              <a:t>the org's voice, capacity and participants</a:t>
            </a:r>
          </a:p>
          <a:p>
            <a:pPr>
              <a:spcAft>
                <a:spcPts val="800"/>
              </a:spcAft>
            </a:pPr>
            <a:r>
              <a:rPr sz="1300" b="1">
                <a:solidFill>
                  <a:srgbClr val="4E8C7A"/>
                </a:solidFill>
                <a:latin typeface="Segoe UI"/>
              </a:rPr>
              <a:t>Evaluation Specialist ◆ </a:t>
            </a:r>
            <a:r>
              <a:rPr sz="1300" b="0">
                <a:solidFill>
                  <a:srgbClr val="2B2B2B"/>
                </a:solidFill>
                <a:latin typeface="Segoe UI"/>
              </a:rPr>
              <a:t>logic, measurement, scales</a:t>
            </a:r>
          </a:p>
          <a:p>
            <a:pPr>
              <a:spcAft>
                <a:spcPts val="800"/>
              </a:spcAft>
            </a:pPr>
            <a:r>
              <a:rPr sz="1300" b="1">
                <a:solidFill>
                  <a:srgbClr val="8A6FB0"/>
                </a:solidFill>
                <a:latin typeface="Segoe UI"/>
              </a:rPr>
              <a:t>Funder Researcher ⬢ </a:t>
            </a:r>
            <a:r>
              <a:rPr sz="1300" b="0">
                <a:solidFill>
                  <a:srgbClr val="2B2B2B"/>
                </a:solidFill>
                <a:latin typeface="Segoe UI"/>
              </a:rPr>
              <a:t>live web research on what funders want</a:t>
            </a:r>
          </a:p>
          <a:p>
            <a:pPr>
              <a:spcAft>
                <a:spcPts val="800"/>
              </a:spcAft>
            </a:pPr>
            <a:r>
              <a:rPr sz="1300" b="1">
                <a:solidFill>
                  <a:srgbClr val="6F6A63"/>
                </a:solidFill>
                <a:latin typeface="Segoe UI"/>
              </a:rPr>
              <a:t>•  </a:t>
            </a:r>
            <a:r>
              <a:rPr sz="1300" b="0">
                <a:solidFill>
                  <a:srgbClr val="2B2B2B"/>
                </a:solidFill>
                <a:latin typeface="Segoe UI"/>
              </a:rPr>
              <a:t>A stepper across the top shows exactly where you 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2 · SHARE</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Share what you already have</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2</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423367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4_share.jpg"/>
          <p:cNvPicPr>
            <a:picLocks noChangeAspect="1"/>
          </p:cNvPicPr>
          <p:nvPr/>
        </p:nvPicPr>
        <p:blipFill>
          <a:blip r:embed="rId2"/>
          <a:srcRect/>
          <a:stretch>
            <a:fillRect/>
          </a:stretch>
        </p:blipFill>
        <p:spPr>
          <a:xfrm>
            <a:off x="548640" y="1371600"/>
            <a:ext cx="6400800" cy="4160520"/>
          </a:xfrm>
          <a:prstGeom prst="rect">
            <a:avLst/>
          </a:prstGeom>
        </p:spPr>
      </p:pic>
      <p:sp>
        <p:nvSpPr>
          <p:cNvPr id="12" name="TextBox 11"/>
          <p:cNvSpPr txBox="1"/>
          <p:nvPr/>
        </p:nvSpPr>
        <p:spPr>
          <a:xfrm>
            <a:off x="7315200" y="1371600"/>
            <a:ext cx="4389120" cy="2926080"/>
          </a:xfrm>
          <a:prstGeom prst="rect">
            <a:avLst/>
          </a:prstGeom>
          <a:noFill/>
        </p:spPr>
        <p:txBody>
          <a:bodyPr wrap="square">
            <a:spAutoFit/>
          </a:bodyPr>
          <a:lstStyle/>
          <a:p>
            <a:pPr>
              <a:spcAft>
                <a:spcPts val="800"/>
              </a:spcAft>
            </a:pPr>
            <a:r>
              <a:rPr sz="1300" b="1">
                <a:solidFill>
                  <a:srgbClr val="6F6A63"/>
                </a:solidFill>
                <a:latin typeface="Segoe UI"/>
              </a:rPr>
              <a:t>•  </a:t>
            </a:r>
            <a:r>
              <a:rPr sz="1300" b="0">
                <a:solidFill>
                  <a:srgbClr val="2B2B2B"/>
                </a:solidFill>
                <a:latin typeface="Segoe UI"/>
              </a:rPr>
              <a:t>Keystone's 2-page PDF profile was uploaded here</a:t>
            </a:r>
          </a:p>
          <a:p>
            <a:pPr>
              <a:spcAft>
                <a:spcPts val="800"/>
              </a:spcAft>
            </a:pPr>
            <a:r>
              <a:rPr sz="1300" b="1">
                <a:solidFill>
                  <a:srgbClr val="6F6A63"/>
                </a:solidFill>
                <a:latin typeface="Segoe UI"/>
              </a:rPr>
              <a:t>•  </a:t>
            </a:r>
            <a:r>
              <a:rPr sz="1300" b="0">
                <a:solidFill>
                  <a:srgbClr val="2B2B2B"/>
                </a:solidFill>
                <a:latin typeface="Segoe UI"/>
              </a:rPr>
              <a:t>Files and website text are read in memory and dropped after intake: never written to disk, never in the audit log</a:t>
            </a:r>
          </a:p>
          <a:p>
            <a:pPr>
              <a:spcAft>
                <a:spcPts val="800"/>
              </a:spcAft>
            </a:pPr>
            <a:r>
              <a:rPr sz="1300" b="1">
                <a:solidFill>
                  <a:srgbClr val="6F6A63"/>
                </a:solidFill>
                <a:latin typeface="Segoe UI"/>
              </a:rPr>
              <a:t>•  </a:t>
            </a:r>
            <a:r>
              <a:rPr sz="1300" b="0">
                <a:solidFill>
                  <a:srgbClr val="2B2B2B"/>
                </a:solidFill>
                <a:latin typeface="Segoe UI"/>
              </a:rPr>
              <a:t>Org name defaults to the signed-in organization</a:t>
            </a:r>
          </a:p>
        </p:txBody>
      </p:sp>
      <p:sp>
        <p:nvSpPr>
          <p:cNvPr id="13" name="Rectangle 12"/>
          <p:cNvSpPr/>
          <p:nvPr/>
        </p:nvSpPr>
        <p:spPr>
          <a:xfrm>
            <a:off x="7315200" y="4389120"/>
            <a:ext cx="64008" cy="1645920"/>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4389120"/>
            <a:ext cx="4325112" cy="1645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543800" y="4480559"/>
            <a:ext cx="4023359" cy="1463040"/>
          </a:xfrm>
          <a:prstGeom prst="rect">
            <a:avLst/>
          </a:prstGeom>
          <a:noFill/>
        </p:spPr>
        <p:txBody>
          <a:bodyPr wrap="square">
            <a:spAutoFit/>
          </a:bodyPr>
          <a:lstStyle/>
          <a:p>
            <a:pPr>
              <a:spcAft>
                <a:spcPts val="400"/>
              </a:spcAft>
            </a:pPr>
            <a:r>
              <a:rPr sz="1200" b="1">
                <a:solidFill>
                  <a:srgbClr val="2B2B2B"/>
                </a:solidFill>
                <a:latin typeface="Segoe UI"/>
              </a:rPr>
              <a:t>Intake took about 15 seconds</a:t>
            </a:r>
          </a:p>
          <a:p>
            <a:pPr>
              <a:spcAft>
                <a:spcPts val="400"/>
              </a:spcAft>
            </a:pPr>
            <a:r>
              <a:rPr sz="1200" b="0">
                <a:solidFill>
                  <a:srgbClr val="2B2B2B"/>
                </a:solidFill>
                <a:latin typeface="Segoe UI"/>
              </a:rPr>
              <a:t>The Team Lead read the PDF while four specialists worked in parallel: a practice brief, live funder research (16 sources, all verified), and proposed interview questions.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3 · FIVE QUESTIONS</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The interview starts with the team's best question</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3</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423367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5_interview_q1.jpg"/>
          <p:cNvPicPr>
            <a:picLocks noChangeAspect="1"/>
          </p:cNvPicPr>
          <p:nvPr/>
        </p:nvPicPr>
        <p:blipFill>
          <a:blip r:embed="rId2"/>
          <a:srcRect/>
          <a:stretch>
            <a:fillRect/>
          </a:stretch>
        </p:blipFill>
        <p:spPr>
          <a:xfrm>
            <a:off x="548640" y="1371600"/>
            <a:ext cx="6400800" cy="4160520"/>
          </a:xfrm>
          <a:prstGeom prst="rect">
            <a:avLst/>
          </a:prstGeom>
        </p:spPr>
      </p:pic>
      <p:sp>
        <p:nvSpPr>
          <p:cNvPr id="12" name="TextBox 11"/>
          <p:cNvSpPr txBox="1"/>
          <p:nvPr/>
        </p:nvSpPr>
        <p:spPr>
          <a:xfrm>
            <a:off x="7315200" y="1371600"/>
            <a:ext cx="4389120" cy="4846320"/>
          </a:xfrm>
          <a:prstGeom prst="rect">
            <a:avLst/>
          </a:prstGeom>
          <a:noFill/>
        </p:spPr>
        <p:txBody>
          <a:bodyPr wrap="square">
            <a:spAutoFit/>
          </a:bodyPr>
          <a:lstStyle/>
          <a:p>
            <a:pPr>
              <a:spcAft>
                <a:spcPts val="800"/>
              </a:spcAft>
            </a:pPr>
            <a:r>
              <a:rPr sz="1300" b="1">
                <a:solidFill>
                  <a:srgbClr val="6F6A63"/>
                </a:solidFill>
                <a:latin typeface="Segoe UI"/>
              </a:rPr>
              <a:t>•  </a:t>
            </a:r>
            <a:r>
              <a:rPr sz="1300" b="0">
                <a:solidFill>
                  <a:srgbClr val="2B2B2B"/>
                </a:solidFill>
                <a:latin typeface="Segoe UI"/>
              </a:rPr>
              <a:t>The welcome shows the team actually read the PDF (HMIS, home visits, furniture)</a:t>
            </a:r>
          </a:p>
          <a:p>
            <a:pPr>
              <a:spcAft>
                <a:spcPts val="800"/>
              </a:spcAft>
            </a:pPr>
            <a:r>
              <a:rPr sz="1300" b="1">
                <a:solidFill>
                  <a:srgbClr val="6F6A63"/>
                </a:solidFill>
                <a:latin typeface="Segoe UI"/>
              </a:rPr>
              <a:t>•  </a:t>
            </a:r>
            <a:r>
              <a:rPr sz="1300" b="0">
                <a:solidFill>
                  <a:srgbClr val="2B2B2B"/>
                </a:solidFill>
                <a:latin typeface="Segoe UI"/>
              </a:rPr>
              <a:t>Question 1 came from the Evaluation Specialist's proposal: what does 'kept their home' mean, and how would you confirm it?</a:t>
            </a:r>
          </a:p>
          <a:p>
            <a:pPr>
              <a:spcAft>
                <a:spcPts val="800"/>
              </a:spcAft>
            </a:pPr>
            <a:r>
              <a:rPr sz="1300" b="1">
                <a:solidFill>
                  <a:srgbClr val="6F6A63"/>
                </a:solidFill>
                <a:latin typeface="Segoe UI"/>
              </a:rPr>
              <a:t>•  </a:t>
            </a:r>
            <a:r>
              <a:rPr sz="1300" b="0">
                <a:solidFill>
                  <a:srgbClr val="2B2B2B"/>
                </a:solidFill>
                <a:latin typeface="Segoe UI"/>
              </a:rPr>
              <a:t>The live huddle (right) shows each agent as a shape and logs every hand-off</a:t>
            </a:r>
          </a:p>
          <a:p>
            <a:pPr>
              <a:spcAft>
                <a:spcPts val="800"/>
              </a:spcAft>
            </a:pPr>
            <a:r>
              <a:rPr sz="1300" b="1">
                <a:solidFill>
                  <a:srgbClr val="6F6A63"/>
                </a:solidFill>
                <a:latin typeface="Segoe UI"/>
              </a:rPr>
              <a:t>•  </a:t>
            </a:r>
            <a:r>
              <a:rPr sz="1300" b="0">
                <a:solidFill>
                  <a:srgbClr val="2B2B2B"/>
                </a:solidFill>
                <a:latin typeface="Segoe UI"/>
              </a:rPr>
              <a:t>"Why we ask" explains each question in plain language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3 · FIVE QUESTIONS</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Answering: a word countdown, then the team thinks</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3</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80744"/>
            <a:ext cx="5559552" cy="363931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6_interview_answer.jpg"/>
          <p:cNvPicPr>
            <a:picLocks noChangeAspect="1"/>
          </p:cNvPicPr>
          <p:nvPr/>
        </p:nvPicPr>
        <p:blipFill>
          <a:blip r:embed="rId2"/>
          <a:srcRect/>
          <a:stretch>
            <a:fillRect/>
          </a:stretch>
        </p:blipFill>
        <p:spPr>
          <a:xfrm>
            <a:off x="548640" y="1417320"/>
            <a:ext cx="5486400" cy="3566160"/>
          </a:xfrm>
          <a:prstGeom prst="rect">
            <a:avLst/>
          </a:prstGeom>
        </p:spPr>
      </p:pic>
      <p:sp>
        <p:nvSpPr>
          <p:cNvPr id="12" name="Rectangle 11"/>
          <p:cNvSpPr/>
          <p:nvPr/>
        </p:nvSpPr>
        <p:spPr>
          <a:xfrm>
            <a:off x="6272784" y="1380744"/>
            <a:ext cx="5559552" cy="363931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07_interview_thinking.jpg"/>
          <p:cNvPicPr>
            <a:picLocks noChangeAspect="1"/>
          </p:cNvPicPr>
          <p:nvPr/>
        </p:nvPicPr>
        <p:blipFill>
          <a:blip r:embed="rId3"/>
          <a:srcRect/>
          <a:stretch>
            <a:fillRect/>
          </a:stretch>
        </p:blipFill>
        <p:spPr>
          <a:xfrm>
            <a:off x="6309360" y="1417320"/>
            <a:ext cx="5486400" cy="3566160"/>
          </a:xfrm>
          <a:prstGeom prst="rect">
            <a:avLst/>
          </a:prstGeom>
        </p:spPr>
      </p:pic>
      <p:sp>
        <p:nvSpPr>
          <p:cNvPr id="14" name="TextBox 13"/>
          <p:cNvSpPr txBox="1"/>
          <p:nvPr/>
        </p:nvSpPr>
        <p:spPr>
          <a:xfrm>
            <a:off x="548640" y="5166360"/>
            <a:ext cx="5486400" cy="365760"/>
          </a:xfrm>
          <a:prstGeom prst="rect">
            <a:avLst/>
          </a:prstGeom>
          <a:noFill/>
        </p:spPr>
        <p:txBody>
          <a:bodyPr wrap="square">
            <a:spAutoFit/>
          </a:bodyPr>
          <a:lstStyle/>
          <a:p>
            <a:pPr>
              <a:spcAft>
                <a:spcPts val="600"/>
              </a:spcAft>
            </a:pPr>
            <a:r>
              <a:rPr sz="1100" b="0">
                <a:solidFill>
                  <a:srgbClr val="6F6A63"/>
                </a:solidFill>
                <a:latin typeface="Segoe UI"/>
              </a:rPr>
              <a:t>Answers are capped at 200 words; the bar counts down as you type.</a:t>
            </a:r>
          </a:p>
        </p:txBody>
      </p:sp>
      <p:sp>
        <p:nvSpPr>
          <p:cNvPr id="15" name="TextBox 14"/>
          <p:cNvSpPr txBox="1"/>
          <p:nvPr/>
        </p:nvSpPr>
        <p:spPr>
          <a:xfrm>
            <a:off x="6309360" y="5166360"/>
            <a:ext cx="5486400" cy="365760"/>
          </a:xfrm>
          <a:prstGeom prst="rect">
            <a:avLst/>
          </a:prstGeom>
          <a:noFill/>
        </p:spPr>
        <p:txBody>
          <a:bodyPr wrap="square">
            <a:spAutoFit/>
          </a:bodyPr>
          <a:lstStyle/>
          <a:p>
            <a:pPr>
              <a:spcAft>
                <a:spcPts val="600"/>
              </a:spcAft>
            </a:pPr>
            <a:r>
              <a:rPr sz="1100" b="0">
                <a:solidFill>
                  <a:srgbClr val="6F6A63"/>
                </a:solidFill>
                <a:latin typeface="Segoe UI"/>
              </a:rPr>
              <a:t>While the Team Lead works, the huddle switches to "Working" and narrates.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3 · FIVE QUESTIONS</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All five questions were written live by the AI</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3</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548640" y="1371600"/>
          <a:ext cx="11064240" cy="1920239"/>
        </p:xfrm>
        <a:graphic>
          <a:graphicData uri="http://schemas.openxmlformats.org/drawingml/2006/table">
            <a:tbl>
              <a:tblPr firstRow="1" bandRow="1">
                <a:tableStyleId>{5C22544A-7EE6-4342-B048-85BDC9FD1C3A}</a:tableStyleId>
              </a:tblPr>
              <a:tblGrid>
                <a:gridCol w="365760"/>
                <a:gridCol w="8412480"/>
                <a:gridCol w="2286000"/>
              </a:tblGrid>
              <a:tr h="320039">
                <a:tc>
                  <a:txBody>
                    <a:bodyPr/>
                    <a:lstStyle/>
                    <a:p>
                      <a:r>
                        <a:rPr sz="1100" b="1">
                          <a:solidFill>
                            <a:srgbClr val="FFFFFF"/>
                          </a:solidFill>
                          <a:latin typeface="Segoe UI"/>
                        </a:rPr>
                        <a:t>#</a:t>
                      </a:r>
                    </a:p>
                  </a:txBody>
                  <a:tcPr marL="73152" marR="73152">
                    <a:solidFill>
                      <a:srgbClr val="2B2B2B"/>
                    </a:solidFill>
                  </a:tcPr>
                </a:tc>
                <a:tc>
                  <a:txBody>
                    <a:bodyPr/>
                    <a:lstStyle/>
                    <a:p>
                      <a:r>
                        <a:rPr sz="1100" b="1">
                          <a:solidFill>
                            <a:srgbClr val="FFFFFF"/>
                          </a:solidFill>
                          <a:latin typeface="Segoe UI"/>
                        </a:rPr>
                        <a:t>What the team asked</a:t>
                      </a:r>
                    </a:p>
                  </a:txBody>
                  <a:tcPr marL="73152" marR="73152">
                    <a:solidFill>
                      <a:srgbClr val="2B2B2B"/>
                    </a:solidFill>
                  </a:tcPr>
                </a:tc>
                <a:tc>
                  <a:txBody>
                    <a:bodyPr/>
                    <a:lstStyle/>
                    <a:p>
                      <a:r>
                        <a:rPr sz="1100" b="1">
                          <a:solidFill>
                            <a:srgbClr val="FFFFFF"/>
                          </a:solidFill>
                          <a:latin typeface="Segoe UI"/>
                        </a:rPr>
                        <a:t>Answer given (profile topic)</a:t>
                      </a:r>
                    </a:p>
                  </a:txBody>
                  <a:tcPr marL="73152" marR="73152">
                    <a:solidFill>
                      <a:srgbClr val="2B2B2B"/>
                    </a:solidFill>
                  </a:tcPr>
                </a:tc>
              </a:tr>
              <a:tr h="320039">
                <a:tc>
                  <a:txBody>
                    <a:bodyPr/>
                    <a:lstStyle/>
                    <a:p>
                      <a:r>
                        <a:rPr sz="1100" b="0">
                          <a:solidFill>
                            <a:srgbClr val="2B2B2B"/>
                          </a:solidFill>
                          <a:latin typeface="Segoe UI"/>
                        </a:rPr>
                        <a:t>1</a:t>
                      </a:r>
                    </a:p>
                  </a:txBody>
                  <a:tcPr marL="73152" marR="73152">
                    <a:solidFill>
                      <a:srgbClr val="FFFFFF"/>
                    </a:solidFill>
                  </a:tcPr>
                </a:tc>
                <a:tc>
                  <a:txBody>
                    <a:bodyPr/>
                    <a:lstStyle/>
                    <a:p>
                      <a:r>
                        <a:rPr sz="1100" b="0">
                          <a:solidFill>
                            <a:srgbClr val="2B2B2B"/>
                          </a:solidFill>
                          <a:latin typeface="Segoe UI"/>
                        </a:rPr>
                        <a:t>When you say a family has “kept their home,” how long after rental assistance ends do you mean, and what would you use to confirm the family is still housed?</a:t>
                      </a:r>
                    </a:p>
                  </a:txBody>
                  <a:tcPr marL="73152" marR="73152">
                    <a:solidFill>
                      <a:srgbClr val="FFFFFF"/>
                    </a:solidFill>
                  </a:tcPr>
                </a:tc>
                <a:tc>
                  <a:txBody>
                    <a:bodyPr/>
                    <a:lstStyle/>
                    <a:p>
                      <a:r>
                        <a:rPr sz="1100" b="0">
                          <a:solidFill>
                            <a:srgbClr val="2B2B2B"/>
                          </a:solidFill>
                          <a:latin typeface="Segoe UI"/>
                        </a:rPr>
                        <a:t>how we know</a:t>
                      </a:r>
                    </a:p>
                  </a:txBody>
                  <a:tcPr marL="73152" marR="73152">
                    <a:solidFill>
                      <a:srgbClr val="FFFFFF"/>
                    </a:solidFill>
                  </a:tcPr>
                </a:tc>
              </a:tr>
              <a:tr h="320039">
                <a:tc>
                  <a:txBody>
                    <a:bodyPr/>
                    <a:lstStyle/>
                    <a:p>
                      <a:r>
                        <a:rPr sz="1100" b="0">
                          <a:solidFill>
                            <a:srgbClr val="2B2B2B"/>
                          </a:solidFill>
                          <a:latin typeface="Segoe UI"/>
                        </a:rPr>
                        <a:t>2</a:t>
                      </a:r>
                    </a:p>
                  </a:txBody>
                  <a:tcPr marL="73152" marR="73152">
                    <a:solidFill>
                      <a:srgbClr val="F7F4EE"/>
                    </a:solidFill>
                  </a:tcPr>
                </a:tc>
                <a:tc>
                  <a:txBody>
                    <a:bodyPr/>
                    <a:lstStyle/>
                    <a:p>
                      <a:r>
                        <a:rPr sz="1100" b="0">
                          <a:solidFill>
                            <a:srgbClr val="2B2B2B"/>
                          </a:solidFill>
                          <a:latin typeface="Segoe UI"/>
                        </a:rPr>
                        <a:t>During case management, what changes do you hope families make that help them stay housed, and what could staff realistically notice or record during visits?</a:t>
                      </a:r>
                    </a:p>
                  </a:txBody>
                  <a:tcPr marL="73152" marR="73152">
                    <a:solidFill>
                      <a:srgbClr val="F7F4EE"/>
                    </a:solidFill>
                  </a:tcPr>
                </a:tc>
                <a:tc>
                  <a:txBody>
                    <a:bodyPr/>
                    <a:lstStyle/>
                    <a:p>
                      <a:r>
                        <a:rPr sz="1100" b="0">
                          <a:solidFill>
                            <a:srgbClr val="2B2B2B"/>
                          </a:solidFill>
                          <a:latin typeface="Segoe UI"/>
                        </a:rPr>
                        <a:t>changes we see</a:t>
                      </a:r>
                    </a:p>
                  </a:txBody>
                  <a:tcPr marL="73152" marR="73152">
                    <a:solidFill>
                      <a:srgbClr val="F7F4EE"/>
                    </a:solidFill>
                  </a:tcPr>
                </a:tc>
              </a:tr>
              <a:tr h="320039">
                <a:tc>
                  <a:txBody>
                    <a:bodyPr/>
                    <a:lstStyle/>
                    <a:p>
                      <a:r>
                        <a:rPr sz="1100" b="0">
                          <a:solidFill>
                            <a:srgbClr val="2B2B2B"/>
                          </a:solidFill>
                          <a:latin typeface="Segoe UI"/>
                        </a:rPr>
                        <a:t>3</a:t>
                      </a:r>
                    </a:p>
                  </a:txBody>
                  <a:tcPr marL="73152" marR="73152">
                    <a:solidFill>
                      <a:srgbClr val="FFFFFF"/>
                    </a:solidFill>
                  </a:tcPr>
                </a:tc>
                <a:tc>
                  <a:txBody>
                    <a:bodyPr/>
                    <a:lstStyle/>
                    <a:p>
                      <a:r>
                        <a:rPr sz="1100" b="0">
                          <a:solidFill>
                            <a:srgbClr val="2B2B2B"/>
                          </a:solidFill>
                          <a:latin typeface="Segoe UI"/>
                        </a:rPr>
                        <a:t>What does case management look like in practice—what support do families receive, how often do you meet or visit, and for how long?</a:t>
                      </a:r>
                    </a:p>
                  </a:txBody>
                  <a:tcPr marL="73152" marR="73152">
                    <a:solidFill>
                      <a:srgbClr val="FFFFFF"/>
                    </a:solidFill>
                  </a:tcPr>
                </a:tc>
                <a:tc>
                  <a:txBody>
                    <a:bodyPr/>
                    <a:lstStyle/>
                    <a:p>
                      <a:r>
                        <a:rPr sz="1100" b="0">
                          <a:solidFill>
                            <a:srgbClr val="2B2B2B"/>
                          </a:solidFill>
                          <a:latin typeface="Segoe UI"/>
                        </a:rPr>
                        <a:t>who we serve</a:t>
                      </a:r>
                    </a:p>
                  </a:txBody>
                  <a:tcPr marL="73152" marR="73152">
                    <a:solidFill>
                      <a:srgbClr val="FFFFFF"/>
                    </a:solidFill>
                  </a:tcPr>
                </a:tc>
              </a:tr>
              <a:tr h="320039">
                <a:tc>
                  <a:txBody>
                    <a:bodyPr/>
                    <a:lstStyle/>
                    <a:p>
                      <a:r>
                        <a:rPr sz="1100" b="0">
                          <a:solidFill>
                            <a:srgbClr val="2B2B2B"/>
                          </a:solidFill>
                          <a:latin typeface="Segoe UI"/>
                        </a:rPr>
                        <a:t>4</a:t>
                      </a:r>
                    </a:p>
                  </a:txBody>
                  <a:tcPr marL="73152" marR="73152">
                    <a:solidFill>
                      <a:srgbClr val="F7F4EE"/>
                    </a:solidFill>
                  </a:tcPr>
                </a:tc>
                <a:tc>
                  <a:txBody>
                    <a:bodyPr/>
                    <a:lstStyle/>
                    <a:p>
                      <a:r>
                        <a:rPr sz="1100" b="0">
                          <a:solidFill>
                            <a:srgbClr val="2B2B2B"/>
                          </a:solidFill>
                          <a:latin typeface="Segoe UI"/>
                        </a:rPr>
                        <a:t>What kinds of support do case managers typically provide to a family, and how often and for how long do they meet or visit?</a:t>
                      </a:r>
                    </a:p>
                  </a:txBody>
                  <a:tcPr marL="73152" marR="73152">
                    <a:solidFill>
                      <a:srgbClr val="F7F4EE"/>
                    </a:solidFill>
                  </a:tcPr>
                </a:tc>
                <a:tc>
                  <a:txBody>
                    <a:bodyPr/>
                    <a:lstStyle/>
                    <a:p>
                      <a:r>
                        <a:rPr sz="1100" b="0">
                          <a:solidFill>
                            <a:srgbClr val="2B2B2B"/>
                          </a:solidFill>
                          <a:latin typeface="Segoe UI"/>
                        </a:rPr>
                        <a:t>what we do</a:t>
                      </a:r>
                    </a:p>
                  </a:txBody>
                  <a:tcPr marL="73152" marR="73152">
                    <a:solidFill>
                      <a:srgbClr val="F7F4EE"/>
                    </a:solidFill>
                  </a:tcPr>
                </a:tc>
              </a:tr>
              <a:tr h="320044">
                <a:tc>
                  <a:txBody>
                    <a:bodyPr/>
                    <a:lstStyle/>
                    <a:p>
                      <a:r>
                        <a:rPr sz="1100" b="0">
                          <a:solidFill>
                            <a:srgbClr val="2B2B2B"/>
                          </a:solidFill>
                          <a:latin typeface="Segoe UI"/>
                        </a:rPr>
                        <a:t>5</a:t>
                      </a:r>
                    </a:p>
                  </a:txBody>
                  <a:tcPr marL="73152" marR="73152">
                    <a:solidFill>
                      <a:srgbClr val="FFFFFF"/>
                    </a:solidFill>
                  </a:tcPr>
                </a:tc>
                <a:tc>
                  <a:txBody>
                    <a:bodyPr/>
                    <a:lstStyle/>
                    <a:p>
                      <a:r>
                        <a:rPr sz="1100" b="0">
                          <a:solidFill>
                            <a:srgbClr val="2B2B2B"/>
                          </a:solidFill>
                          <a:latin typeface="Segoe UI"/>
                        </a:rPr>
                        <a:t>Which grants or contracts fund these services, and what outcomes or reports do those funders ask you to provide?</a:t>
                      </a:r>
                    </a:p>
                  </a:txBody>
                  <a:tcPr marL="73152" marR="73152">
                    <a:solidFill>
                      <a:srgbClr val="FFFFFF"/>
                    </a:solidFill>
                  </a:tcPr>
                </a:tc>
                <a:tc>
                  <a:txBody>
                    <a:bodyPr/>
                    <a:lstStyle/>
                    <a:p>
                      <a:r>
                        <a:rPr sz="1100" b="0">
                          <a:solidFill>
                            <a:srgbClr val="2B2B2B"/>
                          </a:solidFill>
                          <a:latin typeface="Segoe UI"/>
                        </a:rPr>
                        <a:t>funders</a:t>
                      </a:r>
                    </a:p>
                  </a:txBody>
                  <a:tcPr marL="73152" marR="73152">
                    <a:solidFill>
                      <a:srgbClr val="FFFFFF"/>
                    </a:solidFill>
                  </a:tcPr>
                </a:tc>
              </a:tr>
            </a:tbl>
          </a:graphicData>
        </a:graphic>
      </p:graphicFrame>
      <p:sp>
        <p:nvSpPr>
          <p:cNvPr id="11" name="Rectangle 10"/>
          <p:cNvSpPr/>
          <p:nvPr/>
        </p:nvSpPr>
        <p:spPr>
          <a:xfrm>
            <a:off x="548640" y="5074920"/>
            <a:ext cx="64008" cy="1051560"/>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7" y="5074920"/>
            <a:ext cx="11000232"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77240" y="5166359"/>
            <a:ext cx="10698480" cy="868680"/>
          </a:xfrm>
          <a:prstGeom prst="rect">
            <a:avLst/>
          </a:prstGeom>
          <a:noFill/>
        </p:spPr>
        <p:txBody>
          <a:bodyPr wrap="square">
            <a:spAutoFit/>
          </a:bodyPr>
          <a:lstStyle/>
          <a:p>
            <a:pPr>
              <a:spcAft>
                <a:spcPts val="400"/>
              </a:spcAft>
            </a:pPr>
            <a:r>
              <a:rPr sz="1200" b="1">
                <a:solidFill>
                  <a:srgbClr val="2B2B2B"/>
                </a:solidFill>
                <a:latin typeface="Segoe UI"/>
              </a:rPr>
              <a:t>The team adapted</a:t>
            </a:r>
          </a:p>
          <a:p>
            <a:pPr>
              <a:spcAft>
                <a:spcPts val="400"/>
              </a:spcAft>
            </a:pPr>
            <a:r>
              <a:rPr sz="1200" b="0">
                <a:solidFill>
                  <a:srgbClr val="2B2B2B"/>
                </a:solidFill>
                <a:latin typeface="Segoe UI"/>
              </a:rPr>
              <a:t>Question 3 asked how case management works, but the test's answer matcher sent the 'who we serve' answer. The Team Lead noticed the gap and asked about case management again in question 4. (The matcher has since been fixed.)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4 · LOGIC MODEL</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Every draft is peer-reviewed before you see it</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4</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423367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8_peer_review_live.jpg"/>
          <p:cNvPicPr>
            <a:picLocks noChangeAspect="1"/>
          </p:cNvPicPr>
          <p:nvPr/>
        </p:nvPicPr>
        <p:blipFill>
          <a:blip r:embed="rId2"/>
          <a:srcRect/>
          <a:stretch>
            <a:fillRect/>
          </a:stretch>
        </p:blipFill>
        <p:spPr>
          <a:xfrm>
            <a:off x="548640" y="1371600"/>
            <a:ext cx="6400800" cy="4160520"/>
          </a:xfrm>
          <a:prstGeom prst="rect">
            <a:avLst/>
          </a:prstGeom>
        </p:spPr>
      </p:pic>
      <p:sp>
        <p:nvSpPr>
          <p:cNvPr id="12" name="TextBox 11"/>
          <p:cNvSpPr txBox="1"/>
          <p:nvPr/>
        </p:nvSpPr>
        <p:spPr>
          <a:xfrm>
            <a:off x="7315200" y="1371600"/>
            <a:ext cx="4389120" cy="4846320"/>
          </a:xfrm>
          <a:prstGeom prst="rect">
            <a:avLst/>
          </a:prstGeom>
          <a:noFill/>
        </p:spPr>
        <p:txBody>
          <a:bodyPr wrap="square">
            <a:spAutoFit/>
          </a:bodyPr>
          <a:lstStyle/>
          <a:p>
            <a:pPr>
              <a:spcAft>
                <a:spcPts val="800"/>
              </a:spcAft>
            </a:pPr>
            <a:r>
              <a:rPr sz="1200" b="1">
                <a:solidFill>
                  <a:srgbClr val="6F6A63"/>
                </a:solidFill>
                <a:latin typeface="Segoe UI"/>
              </a:rPr>
              <a:t>•  </a:t>
            </a:r>
            <a:r>
              <a:rPr sz="1200" b="0">
                <a:solidFill>
                  <a:srgbClr val="2B2B2B"/>
                </a:solidFill>
                <a:latin typeface="Segoe UI"/>
              </a:rPr>
              <a:t>The Team Lead writes a working draft</a:t>
            </a:r>
          </a:p>
          <a:p>
            <a:pPr>
              <a:spcAft>
                <a:spcPts val="800"/>
              </a:spcAft>
            </a:pPr>
            <a:r>
              <a:rPr sz="1200" b="1">
                <a:solidFill>
                  <a:srgbClr val="6F6A63"/>
                </a:solidFill>
                <a:latin typeface="Segoe UI"/>
              </a:rPr>
              <a:t>•  </a:t>
            </a:r>
            <a:r>
              <a:rPr sz="1200" b="0">
                <a:solidFill>
                  <a:srgbClr val="2B2B2B"/>
                </a:solidFill>
                <a:latin typeface="Segoe UI"/>
              </a:rPr>
              <a:t>All four specialists review it at the same time: every link lights up</a:t>
            </a:r>
          </a:p>
          <a:p>
            <a:pPr>
              <a:spcAft>
                <a:spcPts val="800"/>
              </a:spcAft>
            </a:pPr>
            <a:r>
              <a:rPr sz="1200" b="1">
                <a:solidFill>
                  <a:srgbClr val="6F6A63"/>
                </a:solidFill>
                <a:latin typeface="Segoe UI"/>
              </a:rPr>
              <a:t>•  </a:t>
            </a:r>
            <a:r>
              <a:rPr sz="1200" b="0">
                <a:solidFill>
                  <a:srgbClr val="2B2B2B"/>
                </a:solidFill>
                <a:latin typeface="Segoe UI"/>
              </a:rPr>
              <a:t>The Team Lead folds their reviews into the version you see</a:t>
            </a:r>
          </a:p>
          <a:p>
            <a:pPr>
              <a:spcAft>
                <a:spcPts val="800"/>
              </a:spcAft>
            </a:pPr>
            <a:r>
              <a:rPr sz="1200" b="1">
                <a:solidFill>
                  <a:srgbClr val="6F6A63"/>
                </a:solidFill>
                <a:latin typeface="Segoe UI"/>
              </a:rPr>
              <a:t>•  </a:t>
            </a:r>
            <a:r>
              <a:rPr sz="1200" b="0">
                <a:solidFill>
                  <a:srgbClr val="2B2B2B"/>
                </a:solidFill>
                <a:latin typeface="Segoe UI"/>
              </a:rPr>
              <a:t>What the reviewers changed (from the live run):</a:t>
            </a:r>
          </a:p>
          <a:p>
            <a:pPr>
              <a:spcAft>
                <a:spcPts val="800"/>
              </a:spcAft>
            </a:pPr>
            <a:r>
              <a:rPr sz="1200" b="1">
                <a:solidFill>
                  <a:srgbClr val="6F6A63"/>
                </a:solidFill>
                <a:latin typeface="Segoe UI"/>
              </a:rPr>
              <a:t>•  </a:t>
            </a:r>
            <a:r>
              <a:rPr sz="1200" b="0">
                <a:solidFill>
                  <a:srgbClr val="2B2B2B"/>
                </a:solidFill>
                <a:latin typeface="Segoe UI"/>
              </a:rPr>
              <a:t>Sector Expert: made housing skills observable; removed 'steadier income'</a:t>
            </a:r>
          </a:p>
          <a:p>
            <a:pPr>
              <a:spcAft>
                <a:spcPts val="800"/>
              </a:spcAft>
            </a:pPr>
            <a:r>
              <a:rPr sz="1200" b="1">
                <a:solidFill>
                  <a:srgbClr val="6F6A63"/>
                </a:solidFill>
                <a:latin typeface="Segoe UI"/>
              </a:rPr>
              <a:t>•  </a:t>
            </a:r>
            <a:r>
              <a:rPr sz="1200" b="0">
                <a:solidFill>
                  <a:srgbClr val="2B2B2B"/>
                </a:solidFill>
                <a:latin typeface="Segoe UI"/>
              </a:rPr>
              <a:t>Client Advocate: case management described as voluntary and tailored</a:t>
            </a:r>
          </a:p>
          <a:p>
            <a:pPr>
              <a:spcAft>
                <a:spcPts val="800"/>
              </a:spcAft>
            </a:pPr>
            <a:r>
              <a:rPr sz="1200" b="1">
                <a:solidFill>
                  <a:srgbClr val="6F6A63"/>
                </a:solidFill>
                <a:latin typeface="Segoe UI"/>
              </a:rPr>
              <a:t>•  </a:t>
            </a:r>
            <a:r>
              <a:rPr sz="1200" b="0">
                <a:solidFill>
                  <a:srgbClr val="2B2B2B"/>
                </a:solidFill>
                <a:latin typeface="Segoe UI"/>
              </a:rPr>
              <a:t>Evaluation Specialist: separated move-in timing from family outcomes</a:t>
            </a:r>
          </a:p>
          <a:p>
            <a:pPr>
              <a:spcAft>
                <a:spcPts val="800"/>
              </a:spcAft>
            </a:pPr>
            <a:r>
              <a:rPr sz="1200" b="1">
                <a:solidFill>
                  <a:srgbClr val="6F6A63"/>
                </a:solidFill>
                <a:latin typeface="Segoe UI"/>
              </a:rPr>
              <a:t>•  </a:t>
            </a:r>
            <a:r>
              <a:rPr sz="1200" b="0">
                <a:solidFill>
                  <a:srgbClr val="2B2B2B"/>
                </a:solidFill>
                <a:latin typeface="Segoe UI"/>
              </a:rPr>
              <a:t>Funder Researcher: centred retention and returns to homelessness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4 · LOGIC MODEL</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The first draft, ready to edit</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4</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423367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9_logic_model_review.jpg"/>
          <p:cNvPicPr>
            <a:picLocks noChangeAspect="1"/>
          </p:cNvPicPr>
          <p:nvPr/>
        </p:nvPicPr>
        <p:blipFill>
          <a:blip r:embed="rId2"/>
          <a:srcRect/>
          <a:stretch>
            <a:fillRect/>
          </a:stretch>
        </p:blipFill>
        <p:spPr>
          <a:xfrm>
            <a:off x="548640" y="1371600"/>
            <a:ext cx="6400800" cy="4160520"/>
          </a:xfrm>
          <a:prstGeom prst="rect">
            <a:avLst/>
          </a:prstGeom>
        </p:spPr>
      </p:pic>
      <p:sp>
        <p:nvSpPr>
          <p:cNvPr id="12" name="Rectangle 11"/>
          <p:cNvSpPr/>
          <p:nvPr/>
        </p:nvSpPr>
        <p:spPr>
          <a:xfrm>
            <a:off x="7315200" y="1371600"/>
            <a:ext cx="64008" cy="2743200"/>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79208" y="1371600"/>
            <a:ext cx="4325112"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43800" y="1463040"/>
            <a:ext cx="4023359" cy="2560320"/>
          </a:xfrm>
          <a:prstGeom prst="rect">
            <a:avLst/>
          </a:prstGeom>
          <a:noFill/>
        </p:spPr>
        <p:txBody>
          <a:bodyPr wrap="square">
            <a:spAutoFit/>
          </a:bodyPr>
          <a:lstStyle/>
          <a:p>
            <a:pPr>
              <a:spcAft>
                <a:spcPts val="400"/>
              </a:spcAft>
            </a:pPr>
            <a:r>
              <a:rPr sz="1150" b="1">
                <a:solidFill>
                  <a:srgbClr val="2B2B2B"/>
                </a:solidFill>
                <a:latin typeface="Segoe UI"/>
              </a:rPr>
              <a:t>Theory of change (as drafted)</a:t>
            </a:r>
          </a:p>
          <a:p>
            <a:pPr>
              <a:spcAft>
                <a:spcPts val="400"/>
              </a:spcAft>
            </a:pPr>
            <a:r>
              <a:rPr sz="1150" b="0">
                <a:solidFill>
                  <a:srgbClr val="2B2B2B"/>
                </a:solidFill>
                <a:latin typeface="Segoe UI"/>
              </a:rPr>
              <a:t>If Keystone helps families move quickly into permanent housing with time-limited rent assistance, move-in essentials, and voluntary, individualized case management, then families can settle into housing and address barriers that threaten stability. This support is intended to help families remain housed after assistance ends, though housing stability also depends on factors outside Keystone’s control.</a:t>
            </a:r>
          </a:p>
        </p:txBody>
      </p:sp>
      <p:sp>
        <p:nvSpPr>
          <p:cNvPr id="15" name="TextBox 14"/>
          <p:cNvSpPr txBox="1"/>
          <p:nvPr/>
        </p:nvSpPr>
        <p:spPr>
          <a:xfrm>
            <a:off x="7315200" y="4343400"/>
            <a:ext cx="4389120" cy="1828800"/>
          </a:xfrm>
          <a:prstGeom prst="rect">
            <a:avLst/>
          </a:prstGeom>
          <a:noFill/>
        </p:spPr>
        <p:txBody>
          <a:bodyPr wrap="square">
            <a:spAutoFit/>
          </a:bodyPr>
          <a:lstStyle/>
          <a:p>
            <a:pPr>
              <a:spcAft>
                <a:spcPts val="800"/>
              </a:spcAft>
            </a:pPr>
            <a:r>
              <a:rPr sz="1200" b="1">
                <a:solidFill>
                  <a:srgbClr val="6F6A63"/>
                </a:solidFill>
                <a:latin typeface="Segoe UI"/>
              </a:rPr>
              <a:t>•  </a:t>
            </a:r>
            <a:r>
              <a:rPr sz="1200" b="0">
                <a:solidFill>
                  <a:srgbClr val="2B2B2B"/>
                </a:solidFill>
                <a:latin typeface="Segoe UI"/>
              </a:rPr>
              <a:t>Edit any line directly, or ask the team for changes (2 rounds)</a:t>
            </a:r>
          </a:p>
          <a:p>
            <a:pPr>
              <a:spcAft>
                <a:spcPts val="800"/>
              </a:spcAft>
            </a:pPr>
            <a:r>
              <a:rPr sz="1200" b="1">
                <a:solidFill>
                  <a:srgbClr val="6F6A63"/>
                </a:solidFill>
                <a:latin typeface="Segoe UI"/>
              </a:rPr>
              <a:t>•  </a:t>
            </a:r>
            <a:r>
              <a:rPr sz="1200" b="0">
                <a:solidFill>
                  <a:srgbClr val="2B2B2B"/>
                </a:solidFill>
                <a:latin typeface="Segoe UI"/>
              </a:rPr>
              <a:t>"Approve" is disabled while edits are unsaved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4 · LOGIC MODEL</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The logic model workspace</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4</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423367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10_logic_model_grid.jpg"/>
          <p:cNvPicPr>
            <a:picLocks noChangeAspect="1"/>
          </p:cNvPicPr>
          <p:nvPr/>
        </p:nvPicPr>
        <p:blipFill>
          <a:blip r:embed="rId2"/>
          <a:srcRect/>
          <a:stretch>
            <a:fillRect/>
          </a:stretch>
        </p:blipFill>
        <p:spPr>
          <a:xfrm>
            <a:off x="548640" y="1371600"/>
            <a:ext cx="6400800" cy="4160520"/>
          </a:xfrm>
          <a:prstGeom prst="rect">
            <a:avLst/>
          </a:prstGeom>
        </p:spPr>
      </p:pic>
      <p:sp>
        <p:nvSpPr>
          <p:cNvPr id="12" name="TextBox 11"/>
          <p:cNvSpPr txBox="1"/>
          <p:nvPr/>
        </p:nvSpPr>
        <p:spPr>
          <a:xfrm>
            <a:off x="7315200" y="1371600"/>
            <a:ext cx="4389120" cy="4846320"/>
          </a:xfrm>
          <a:prstGeom prst="rect">
            <a:avLst/>
          </a:prstGeom>
          <a:noFill/>
        </p:spPr>
        <p:txBody>
          <a:bodyPr wrap="square">
            <a:spAutoFit/>
          </a:bodyPr>
          <a:lstStyle/>
          <a:p>
            <a:pPr>
              <a:spcAft>
                <a:spcPts val="800"/>
              </a:spcAft>
            </a:pPr>
            <a:r>
              <a:rPr sz="1300" b="1">
                <a:solidFill>
                  <a:srgbClr val="6F6A63"/>
                </a:solidFill>
                <a:latin typeface="Segoe UI"/>
              </a:rPr>
              <a:t>•  </a:t>
            </a:r>
            <a:r>
              <a:rPr sz="1300" b="0">
                <a:solidFill>
                  <a:srgbClr val="2B2B2B"/>
                </a:solidFill>
                <a:latin typeface="Segoe UI"/>
              </a:rPr>
              <a:t>Inputs: 5 · Activities: 5 · Outputs: 5</a:t>
            </a:r>
          </a:p>
          <a:p>
            <a:pPr>
              <a:spcAft>
                <a:spcPts val="800"/>
              </a:spcAft>
            </a:pPr>
            <a:r>
              <a:rPr sz="1300" b="1">
                <a:solidFill>
                  <a:srgbClr val="6F6A63"/>
                </a:solidFill>
                <a:latin typeface="Segoe UI"/>
              </a:rPr>
              <a:t>•  </a:t>
            </a:r>
            <a:r>
              <a:rPr sz="1300" b="0">
                <a:solidFill>
                  <a:srgbClr val="2B2B2B"/>
                </a:solidFill>
                <a:latin typeface="Segoe UI"/>
              </a:rPr>
              <a:t>Short-term outcomes: 4 · Long-term: 2</a:t>
            </a:r>
          </a:p>
          <a:p>
            <a:pPr>
              <a:spcAft>
                <a:spcPts val="800"/>
              </a:spcAft>
            </a:pPr>
            <a:r>
              <a:rPr sz="1300" b="1">
                <a:solidFill>
                  <a:srgbClr val="6F6A63"/>
                </a:solidFill>
                <a:latin typeface="Segoe UI"/>
              </a:rPr>
              <a:t>•  </a:t>
            </a:r>
            <a:r>
              <a:rPr sz="1300" b="0">
                <a:solidFill>
                  <a:srgbClr val="2B2B2B"/>
                </a:solidFill>
                <a:latin typeface="Segoe UI"/>
              </a:rPr>
              <a:t>Long-term outcomes use HUD's framing: staying housed after assistance ends; fewer returns to shelter</a:t>
            </a:r>
          </a:p>
          <a:p>
            <a:pPr>
              <a:spcAft>
                <a:spcPts val="800"/>
              </a:spcAft>
            </a:pPr>
            <a:r>
              <a:rPr sz="1300" b="1">
                <a:solidFill>
                  <a:srgbClr val="6F6A63"/>
                </a:solidFill>
                <a:latin typeface="Segoe UI"/>
              </a:rPr>
              <a:t>•  </a:t>
            </a:r>
            <a:r>
              <a:rPr sz="1300" b="0">
                <a:solidFill>
                  <a:srgbClr val="2B2B2B"/>
                </a:solidFill>
                <a:latin typeface="Segoe UI"/>
              </a:rPr>
              <a:t>Each item is an editable line with add/remove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4 · LOGIC MODEL</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Research-backed: how it lines up with funders</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4</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423367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11_alignment_funders.jpg"/>
          <p:cNvPicPr>
            <a:picLocks noChangeAspect="1"/>
          </p:cNvPicPr>
          <p:nvPr/>
        </p:nvPicPr>
        <p:blipFill>
          <a:blip r:embed="rId2"/>
          <a:srcRect/>
          <a:stretch>
            <a:fillRect/>
          </a:stretch>
        </p:blipFill>
        <p:spPr>
          <a:xfrm>
            <a:off x="548640" y="1371600"/>
            <a:ext cx="6400800" cy="4160520"/>
          </a:xfrm>
          <a:prstGeom prst="rect">
            <a:avLst/>
          </a:prstGeom>
        </p:spPr>
      </p:pic>
      <p:sp>
        <p:nvSpPr>
          <p:cNvPr id="12" name="TextBox 11"/>
          <p:cNvSpPr txBox="1"/>
          <p:nvPr/>
        </p:nvSpPr>
        <p:spPr>
          <a:xfrm>
            <a:off x="7315200" y="1371600"/>
            <a:ext cx="4389120" cy="4846320"/>
          </a:xfrm>
          <a:prstGeom prst="rect">
            <a:avLst/>
          </a:prstGeom>
          <a:noFill/>
        </p:spPr>
        <p:txBody>
          <a:bodyPr wrap="square">
            <a:spAutoFit/>
          </a:bodyPr>
          <a:lstStyle/>
          <a:p>
            <a:pPr>
              <a:spcAft>
                <a:spcPts val="800"/>
              </a:spcAft>
            </a:pPr>
            <a:r>
              <a:rPr sz="1250" b="1">
                <a:solidFill>
                  <a:srgbClr val="6F6A63"/>
                </a:solidFill>
                <a:latin typeface="Segoe UI"/>
              </a:rPr>
              <a:t>•  </a:t>
            </a:r>
            <a:r>
              <a:rPr sz="1250" b="0">
                <a:solidFill>
                  <a:srgbClr val="2B2B2B"/>
                </a:solidFill>
                <a:latin typeface="Segoe UI"/>
              </a:rPr>
              <a:t>The Funder Researcher searched the web live through Portkey; it works</a:t>
            </a:r>
          </a:p>
          <a:p>
            <a:pPr>
              <a:spcAft>
                <a:spcPts val="800"/>
              </a:spcAft>
            </a:pPr>
            <a:r>
              <a:rPr sz="1250" b="1">
                <a:solidFill>
                  <a:srgbClr val="6F6A63"/>
                </a:solidFill>
                <a:latin typeface="Segoe UI"/>
              </a:rPr>
              <a:t>•  </a:t>
            </a:r>
            <a:r>
              <a:rPr sz="1250" b="0">
                <a:solidFill>
                  <a:srgbClr val="2B2B2B"/>
                </a:solidFill>
                <a:latin typeface="Segoe UI"/>
              </a:rPr>
              <a:t>Found real local and federal funders: HUD Continuum of Care, CT Dept. of Housing, City of New Haven ESG, Community Foundation for Greater New Haven, United Way</a:t>
            </a:r>
          </a:p>
          <a:p>
            <a:pPr>
              <a:spcAft>
                <a:spcPts val="800"/>
              </a:spcAft>
            </a:pPr>
            <a:r>
              <a:rPr sz="1250" b="1">
                <a:solidFill>
                  <a:srgbClr val="6F6A63"/>
                </a:solidFill>
                <a:latin typeface="Segoe UI"/>
              </a:rPr>
              <a:t>•  </a:t>
            </a:r>
            <a:r>
              <a:rPr sz="1250" b="0">
                <a:solidFill>
                  <a:srgbClr val="2B2B2B"/>
                </a:solidFill>
                <a:latin typeface="Segoe UI"/>
              </a:rPr>
              <a:t>Each alignment note carries citation chips (S2, S4, …)</a:t>
            </a:r>
          </a:p>
          <a:p>
            <a:pPr>
              <a:spcAft>
                <a:spcPts val="800"/>
              </a:spcAft>
            </a:pPr>
            <a:r>
              <a:rPr sz="1250" b="1">
                <a:solidFill>
                  <a:srgbClr val="6F6A63"/>
                </a:solidFill>
                <a:latin typeface="Segoe UI"/>
              </a:rPr>
              <a:t>•  </a:t>
            </a:r>
            <a:r>
              <a:rPr sz="1250" b="0">
                <a:solidFill>
                  <a:srgbClr val="2B2B2B"/>
                </a:solidFill>
                <a:latin typeface="Segoe UI"/>
              </a:rPr>
              <a:t>The prompt forbids adding outcomes the client doesn't actually pursue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4 · LOGIC MODEL</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Every source is checked in code</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4</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423367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12_sources_verified.jpg"/>
          <p:cNvPicPr>
            <a:picLocks noChangeAspect="1"/>
          </p:cNvPicPr>
          <p:nvPr/>
        </p:nvPicPr>
        <p:blipFill>
          <a:blip r:embed="rId2"/>
          <a:srcRect/>
          <a:stretch>
            <a:fillRect/>
          </a:stretch>
        </p:blipFill>
        <p:spPr>
          <a:xfrm>
            <a:off x="548640" y="1371600"/>
            <a:ext cx="6400800" cy="4160520"/>
          </a:xfrm>
          <a:prstGeom prst="rect">
            <a:avLst/>
          </a:prstGeom>
        </p:spPr>
      </p:pic>
      <p:sp>
        <p:nvSpPr>
          <p:cNvPr id="12" name="TextBox 11"/>
          <p:cNvSpPr txBox="1"/>
          <p:nvPr/>
        </p:nvSpPr>
        <p:spPr>
          <a:xfrm>
            <a:off x="7315200" y="1371600"/>
            <a:ext cx="4389120" cy="4846320"/>
          </a:xfrm>
          <a:prstGeom prst="rect">
            <a:avLst/>
          </a:prstGeom>
          <a:noFill/>
        </p:spPr>
        <p:txBody>
          <a:bodyPr wrap="square">
            <a:spAutoFit/>
          </a:bodyPr>
          <a:lstStyle/>
          <a:p>
            <a:pPr>
              <a:spcAft>
                <a:spcPts val="800"/>
              </a:spcAft>
            </a:pPr>
            <a:r>
              <a:rPr sz="1300" b="1">
                <a:solidFill>
                  <a:srgbClr val="6F6A63"/>
                </a:solidFill>
                <a:latin typeface="Segoe UI"/>
              </a:rPr>
              <a:t>•  </a:t>
            </a:r>
            <a:r>
              <a:rPr sz="1300" b="0">
                <a:solidFill>
                  <a:srgbClr val="2B2B2B"/>
                </a:solidFill>
                <a:latin typeface="Segoe UI"/>
              </a:rPr>
              <a:t>16 sources at intake; all 16 'verified link'</a:t>
            </a:r>
          </a:p>
          <a:p>
            <a:pPr>
              <a:spcAft>
                <a:spcPts val="800"/>
              </a:spcAft>
            </a:pPr>
            <a:r>
              <a:rPr sz="1300" b="1">
                <a:solidFill>
                  <a:srgbClr val="6F6A63"/>
                </a:solidFill>
                <a:latin typeface="Segoe UI"/>
              </a:rPr>
              <a:t>•  </a:t>
            </a:r>
            <a:r>
              <a:rPr sz="1300" b="0">
                <a:solidFill>
                  <a:srgbClr val="2B2B2B"/>
                </a:solidFill>
                <a:latin typeface="Segoe UI"/>
              </a:rPr>
              <a:t>'Verified' is set by code only if the URL appeared in that run's actual search results</a:t>
            </a:r>
          </a:p>
          <a:p>
            <a:pPr>
              <a:spcAft>
                <a:spcPts val="800"/>
              </a:spcAft>
            </a:pPr>
            <a:r>
              <a:rPr sz="1300" b="1">
                <a:solidFill>
                  <a:srgbClr val="6F6A63"/>
                </a:solidFill>
                <a:latin typeface="Segoe UI"/>
              </a:rPr>
              <a:t>•  </a:t>
            </a:r>
            <a:r>
              <a:rPr sz="1300" b="0">
                <a:solidFill>
                  <a:srgbClr val="2B2B2B"/>
                </a:solidFill>
                <a:latin typeface="Segoe UI"/>
              </a:rPr>
              <a:t>If web search ever fails, the researcher says so, removes links and marks everything 'unverified'</a:t>
            </a:r>
          </a:p>
          <a:p>
            <a:pPr>
              <a:spcAft>
                <a:spcPts val="800"/>
              </a:spcAft>
            </a:pPr>
            <a:r>
              <a:rPr sz="1300" b="1">
                <a:solidFill>
                  <a:srgbClr val="6F6A63"/>
                </a:solidFill>
                <a:latin typeface="Segoe UI"/>
              </a:rPr>
              <a:t>•  </a:t>
            </a:r>
            <a:r>
              <a:rPr sz="1300" b="0">
                <a:solidFill>
                  <a:srgbClr val="2B2B2B"/>
                </a:solidFill>
                <a:latin typeface="Segoe UI"/>
              </a:rPr>
              <a:t>Neither the AI nor the client can forge a source or its status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4 · LOGIC MODEL</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Feedback in plain words → a revised model</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4</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423367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13_logic_model_revised.jpg"/>
          <p:cNvPicPr>
            <a:picLocks noChangeAspect="1"/>
          </p:cNvPicPr>
          <p:nvPr/>
        </p:nvPicPr>
        <p:blipFill>
          <a:blip r:embed="rId2"/>
          <a:srcRect/>
          <a:stretch>
            <a:fillRect/>
          </a:stretch>
        </p:blipFill>
        <p:spPr>
          <a:xfrm>
            <a:off x="548640" y="1371600"/>
            <a:ext cx="6400800" cy="4160520"/>
          </a:xfrm>
          <a:prstGeom prst="rect">
            <a:avLst/>
          </a:prstGeom>
        </p:spPr>
      </p:pic>
      <p:sp>
        <p:nvSpPr>
          <p:cNvPr id="12" name="Rectangle 11"/>
          <p:cNvSpPr/>
          <p:nvPr/>
        </p:nvSpPr>
        <p:spPr>
          <a:xfrm>
            <a:off x="7315200" y="1371600"/>
            <a:ext cx="64008" cy="2057400"/>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79208" y="1371600"/>
            <a:ext cx="4325112" cy="2057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43800" y="1463040"/>
            <a:ext cx="4023359" cy="1874519"/>
          </a:xfrm>
          <a:prstGeom prst="rect">
            <a:avLst/>
          </a:prstGeom>
          <a:noFill/>
        </p:spPr>
        <p:txBody>
          <a:bodyPr wrap="square">
            <a:spAutoFit/>
          </a:bodyPr>
          <a:lstStyle/>
          <a:p>
            <a:pPr>
              <a:spcAft>
                <a:spcPts val="400"/>
              </a:spcAft>
            </a:pPr>
            <a:r>
              <a:rPr sz="1150" b="1">
                <a:solidFill>
                  <a:srgbClr val="2B2B2B"/>
                </a:solidFill>
                <a:latin typeface="Segoe UI"/>
              </a:rPr>
              <a:t>What the director asked</a:t>
            </a:r>
          </a:p>
          <a:p>
            <a:pPr>
              <a:spcAft>
                <a:spcPts val="400"/>
              </a:spcAft>
            </a:pPr>
            <a:r>
              <a:rPr sz="1150" b="0">
                <a:solidFill>
                  <a:srgbClr val="2B2B2B"/>
                </a:solidFill>
                <a:latin typeface="Segoe UI"/>
              </a:rPr>
              <a:t>This is close. Please add our Fresh Start Furniture move-in support as its own activity, and make one short-term outcome about parents feeling more in control and less stressed, because families tell us that matters most.</a:t>
            </a:r>
          </a:p>
        </p:txBody>
      </p:sp>
      <p:sp>
        <p:nvSpPr>
          <p:cNvPr id="15" name="Rectangle 14"/>
          <p:cNvSpPr/>
          <p:nvPr/>
        </p:nvSpPr>
        <p:spPr>
          <a:xfrm>
            <a:off x="7315200" y="3611880"/>
            <a:ext cx="64008" cy="2514600"/>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79208" y="3611880"/>
            <a:ext cx="4325112"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543800" y="3703320"/>
            <a:ext cx="4023359" cy="2331720"/>
          </a:xfrm>
          <a:prstGeom prst="rect">
            <a:avLst/>
          </a:prstGeom>
          <a:noFill/>
        </p:spPr>
        <p:txBody>
          <a:bodyPr wrap="square">
            <a:spAutoFit/>
          </a:bodyPr>
          <a:lstStyle/>
          <a:p>
            <a:pPr>
              <a:spcAft>
                <a:spcPts val="400"/>
              </a:spcAft>
            </a:pPr>
            <a:r>
              <a:rPr sz="1150" b="1">
                <a:solidFill>
                  <a:srgbClr val="2B2B2B"/>
                </a:solidFill>
                <a:latin typeface="Segoe UI"/>
              </a:rPr>
              <a:t>What the team did (version 2)</a:t>
            </a:r>
          </a:p>
          <a:p>
            <a:pPr>
              <a:spcAft>
                <a:spcPts val="400"/>
              </a:spcAft>
            </a:pPr>
            <a:r>
              <a:rPr sz="1150" b="0">
                <a:solidFill>
                  <a:srgbClr val="2B2B2B"/>
                </a:solidFill>
                <a:latin typeface="Segoe UI"/>
              </a:rPr>
              <a:t>I added Fresh Start Furniture as a clearly named move-in support activity and included the change families have emphasized: parents feeling more in control and less stressed. I kept the rest of the model as it was and retained alignment with common rapid-rehousing and housing-stability priorities. Please let me know if you’d like either new line worded differently.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5 · METRICS</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Designing metrics: research first, then peer review</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5</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80744"/>
            <a:ext cx="5559552" cy="363931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14_metrics_research_live.jpg"/>
          <p:cNvPicPr>
            <a:picLocks noChangeAspect="1"/>
          </p:cNvPicPr>
          <p:nvPr/>
        </p:nvPicPr>
        <p:blipFill>
          <a:blip r:embed="rId2"/>
          <a:srcRect/>
          <a:stretch>
            <a:fillRect/>
          </a:stretch>
        </p:blipFill>
        <p:spPr>
          <a:xfrm>
            <a:off x="548640" y="1417320"/>
            <a:ext cx="5486400" cy="3566160"/>
          </a:xfrm>
          <a:prstGeom prst="rect">
            <a:avLst/>
          </a:prstGeom>
        </p:spPr>
      </p:pic>
      <p:sp>
        <p:nvSpPr>
          <p:cNvPr id="12" name="Rectangle 11"/>
          <p:cNvSpPr/>
          <p:nvPr/>
        </p:nvSpPr>
        <p:spPr>
          <a:xfrm>
            <a:off x="6272784" y="1380744"/>
            <a:ext cx="5559552" cy="363931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15_metrics_peer_review.jpg"/>
          <p:cNvPicPr>
            <a:picLocks noChangeAspect="1"/>
          </p:cNvPicPr>
          <p:nvPr/>
        </p:nvPicPr>
        <p:blipFill>
          <a:blip r:embed="rId3"/>
          <a:srcRect/>
          <a:stretch>
            <a:fillRect/>
          </a:stretch>
        </p:blipFill>
        <p:spPr>
          <a:xfrm>
            <a:off x="6309360" y="1417320"/>
            <a:ext cx="5486400" cy="3566160"/>
          </a:xfrm>
          <a:prstGeom prst="rect">
            <a:avLst/>
          </a:prstGeom>
        </p:spPr>
      </p:pic>
      <p:sp>
        <p:nvSpPr>
          <p:cNvPr id="14" name="TextBox 13"/>
          <p:cNvSpPr txBox="1"/>
          <p:nvPr/>
        </p:nvSpPr>
        <p:spPr>
          <a:xfrm>
            <a:off x="548640" y="5166360"/>
            <a:ext cx="5486400" cy="548640"/>
          </a:xfrm>
          <a:prstGeom prst="rect">
            <a:avLst/>
          </a:prstGeom>
          <a:noFill/>
        </p:spPr>
        <p:txBody>
          <a:bodyPr wrap="square">
            <a:spAutoFit/>
          </a:bodyPr>
          <a:lstStyle/>
          <a:p>
            <a:pPr>
              <a:spcAft>
                <a:spcPts val="600"/>
              </a:spcAft>
            </a:pPr>
            <a:r>
              <a:rPr sz="1100" b="0">
                <a:solidFill>
                  <a:srgbClr val="6F6A63"/>
                </a:solidFill>
                <a:latin typeface="Segoe UI"/>
              </a:rPr>
              <a:t>The Funder Researcher searches for measures and real question items funders use.</a:t>
            </a:r>
          </a:p>
        </p:txBody>
      </p:sp>
      <p:sp>
        <p:nvSpPr>
          <p:cNvPr id="15" name="TextBox 14"/>
          <p:cNvSpPr txBox="1"/>
          <p:nvPr/>
        </p:nvSpPr>
        <p:spPr>
          <a:xfrm>
            <a:off x="6309360" y="5166360"/>
            <a:ext cx="5486400" cy="548640"/>
          </a:xfrm>
          <a:prstGeom prst="rect">
            <a:avLst/>
          </a:prstGeom>
          <a:noFill/>
        </p:spPr>
        <p:txBody>
          <a:bodyPr wrap="square">
            <a:spAutoFit/>
          </a:bodyPr>
          <a:lstStyle/>
          <a:p>
            <a:pPr>
              <a:spcAft>
                <a:spcPts val="600"/>
              </a:spcAft>
            </a:pPr>
            <a:r>
              <a:rPr sz="1100" b="0">
                <a:solidFill>
                  <a:srgbClr val="6F6A63"/>
                </a:solidFill>
                <a:latin typeface="Segoe UI"/>
              </a:rPr>
              <a:t>Then all four specialists review the working plan in parallel.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5 · METRICS</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The measurement plan: five metrics, two ways to collect</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5</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548640" y="1371600"/>
          <a:ext cx="11064240" cy="1920239"/>
        </p:xfrm>
        <a:graphic>
          <a:graphicData uri="http://schemas.openxmlformats.org/drawingml/2006/table">
            <a:tbl>
              <a:tblPr firstRow="1" bandRow="1">
                <a:tableStyleId>{5C22544A-7EE6-4342-B048-85BDC9FD1C3A}</a:tableStyleId>
              </a:tblPr>
              <a:tblGrid>
                <a:gridCol w="3291840"/>
                <a:gridCol w="1645920"/>
                <a:gridCol w="1188720"/>
                <a:gridCol w="4937760"/>
              </a:tblGrid>
              <a:tr h="320039">
                <a:tc>
                  <a:txBody>
                    <a:bodyPr/>
                    <a:lstStyle/>
                    <a:p>
                      <a:r>
                        <a:rPr sz="1100" b="1">
                          <a:solidFill>
                            <a:srgbClr val="FFFFFF"/>
                          </a:solidFill>
                          <a:latin typeface="Segoe UI"/>
                        </a:rPr>
                        <a:t>Metric</a:t>
                      </a:r>
                    </a:p>
                  </a:txBody>
                  <a:tcPr marL="73152" marR="73152">
                    <a:solidFill>
                      <a:srgbClr val="2B2B2B"/>
                    </a:solidFill>
                  </a:tcPr>
                </a:tc>
                <a:tc>
                  <a:txBody>
                    <a:bodyPr/>
                    <a:lstStyle/>
                    <a:p>
                      <a:r>
                        <a:rPr sz="1100" b="1">
                          <a:solidFill>
                            <a:srgbClr val="FFFFFF"/>
                          </a:solidFill>
                          <a:latin typeface="Segoe UI"/>
                        </a:rPr>
                        <a:t>Method</a:t>
                      </a:r>
                    </a:p>
                  </a:txBody>
                  <a:tcPr marL="73152" marR="73152">
                    <a:solidFill>
                      <a:srgbClr val="2B2B2B"/>
                    </a:solidFill>
                  </a:tcPr>
                </a:tc>
                <a:tc>
                  <a:txBody>
                    <a:bodyPr/>
                    <a:lstStyle/>
                    <a:p>
                      <a:r>
                        <a:rPr sz="1100" b="1">
                          <a:solidFill>
                            <a:srgbClr val="FFFFFF"/>
                          </a:solidFill>
                          <a:latin typeface="Segoe UI"/>
                        </a:rPr>
                        <a:t>Questions on</a:t>
                      </a:r>
                    </a:p>
                  </a:txBody>
                  <a:tcPr marL="73152" marR="73152">
                    <a:solidFill>
                      <a:srgbClr val="2B2B2B"/>
                    </a:solidFill>
                  </a:tcPr>
                </a:tc>
                <a:tc>
                  <a:txBody>
                    <a:bodyPr/>
                    <a:lstStyle/>
                    <a:p>
                      <a:r>
                        <a:rPr sz="1100" b="1">
                          <a:solidFill>
                            <a:srgbClr val="FFFFFF"/>
                          </a:solidFill>
                          <a:latin typeface="Segoe UI"/>
                        </a:rPr>
                        <a:t>Outcome it tracks</a:t>
                      </a:r>
                    </a:p>
                  </a:txBody>
                  <a:tcPr marL="73152" marR="73152">
                    <a:solidFill>
                      <a:srgbClr val="2B2B2B"/>
                    </a:solidFill>
                  </a:tcPr>
                </a:tc>
              </a:tr>
              <a:tr h="320039">
                <a:tc>
                  <a:txBody>
                    <a:bodyPr/>
                    <a:lstStyle/>
                    <a:p>
                      <a:r>
                        <a:rPr sz="1100" b="0">
                          <a:solidFill>
                            <a:srgbClr val="2B2B2B"/>
                          </a:solidFill>
                          <a:latin typeface="Segoe UI"/>
                        </a:rPr>
                        <a:t>Permanent-housing move-in and time to move-in</a:t>
                      </a:r>
                    </a:p>
                  </a:txBody>
                  <a:tcPr marL="73152" marR="73152">
                    <a:solidFill>
                      <a:srgbClr val="FFFFFF"/>
                    </a:solidFill>
                  </a:tcPr>
                </a:tc>
                <a:tc>
                  <a:txBody>
                    <a:bodyPr/>
                    <a:lstStyle/>
                    <a:p>
                      <a:r>
                        <a:rPr sz="1100" b="0">
                          <a:solidFill>
                            <a:srgbClr val="2B2B2B"/>
                          </a:solidFill>
                          <a:latin typeface="Segoe UI"/>
                        </a:rPr>
                        <a:t>program records</a:t>
                      </a:r>
                    </a:p>
                  </a:txBody>
                  <a:tcPr marL="73152" marR="73152">
                    <a:solidFill>
                      <a:srgbClr val="FFFFFF"/>
                    </a:solidFill>
                  </a:tcPr>
                </a:tc>
                <a:tc>
                  <a:txBody>
                    <a:bodyPr/>
                    <a:lstStyle/>
                    <a:p>
                      <a:r>
                        <a:rPr sz="1100" b="0">
                          <a:solidFill>
                            <a:srgbClr val="2B2B2B"/>
                          </a:solidFill>
                          <a:latin typeface="Segoe UI"/>
                        </a:rPr>
                        <a:t>3 of 3</a:t>
                      </a:r>
                    </a:p>
                  </a:txBody>
                  <a:tcPr marL="73152" marR="73152">
                    <a:solidFill>
                      <a:srgbClr val="FFFFFF"/>
                    </a:solidFill>
                  </a:tcPr>
                </a:tc>
                <a:tc>
                  <a:txBody>
                    <a:bodyPr/>
                    <a:lstStyle/>
                    <a:p>
                      <a:r>
                        <a:rPr sz="1100" b="0">
                          <a:solidFill>
                            <a:srgbClr val="2B2B2B"/>
                          </a:solidFill>
                          <a:latin typeface="Segoe UI"/>
                        </a:rPr>
                        <a:t>Families move from homelessness into permanent housing</a:t>
                      </a:r>
                    </a:p>
                  </a:txBody>
                  <a:tcPr marL="73152" marR="73152">
                    <a:solidFill>
                      <a:srgbClr val="FFFFFF"/>
                    </a:solidFill>
                  </a:tcPr>
                </a:tc>
              </a:tr>
              <a:tr h="320039">
                <a:tc>
                  <a:txBody>
                    <a:bodyPr/>
                    <a:lstStyle/>
                    <a:p>
                      <a:r>
                        <a:rPr sz="1100" b="0">
                          <a:solidFill>
                            <a:srgbClr val="2B2B2B"/>
                          </a:solidFill>
                          <a:latin typeface="Segoe UI"/>
                        </a:rPr>
                        <a:t>Confidence addressing a rent or landlord issue</a:t>
                      </a:r>
                    </a:p>
                  </a:txBody>
                  <a:tcPr marL="73152" marR="73152">
                    <a:solidFill>
                      <a:srgbClr val="F7F4EE"/>
                    </a:solidFill>
                  </a:tcPr>
                </a:tc>
                <a:tc>
                  <a:txBody>
                    <a:bodyPr/>
                    <a:lstStyle/>
                    <a:p>
                      <a:r>
                        <a:rPr sz="1100" b="0">
                          <a:solidFill>
                            <a:srgbClr val="2B2B2B"/>
                          </a:solidFill>
                          <a:latin typeface="Segoe UI"/>
                        </a:rPr>
                        <a:t>participant survey</a:t>
                      </a:r>
                    </a:p>
                  </a:txBody>
                  <a:tcPr marL="73152" marR="73152">
                    <a:solidFill>
                      <a:srgbClr val="F7F4EE"/>
                    </a:solidFill>
                  </a:tcPr>
                </a:tc>
                <a:tc>
                  <a:txBody>
                    <a:bodyPr/>
                    <a:lstStyle/>
                    <a:p>
                      <a:r>
                        <a:rPr sz="1100" b="0">
                          <a:solidFill>
                            <a:srgbClr val="2B2B2B"/>
                          </a:solidFill>
                          <a:latin typeface="Segoe UI"/>
                        </a:rPr>
                        <a:t>1 of 3</a:t>
                      </a:r>
                    </a:p>
                  </a:txBody>
                  <a:tcPr marL="73152" marR="73152">
                    <a:solidFill>
                      <a:srgbClr val="F7F4EE"/>
                    </a:solidFill>
                  </a:tcPr>
                </a:tc>
                <a:tc>
                  <a:txBody>
                    <a:bodyPr/>
                    <a:lstStyle/>
                    <a:p>
                      <a:r>
                        <a:rPr sz="1100" b="0">
                          <a:solidFill>
                            <a:srgbClr val="2B2B2B"/>
                          </a:solidFill>
                          <a:latin typeface="Segoe UI"/>
                        </a:rPr>
                        <a:t>Families report greater confidence taking a next step to address a rent or landlord issue</a:t>
                      </a:r>
                    </a:p>
                  </a:txBody>
                  <a:tcPr marL="73152" marR="73152">
                    <a:solidFill>
                      <a:srgbClr val="F7F4EE"/>
                    </a:solidFill>
                  </a:tcPr>
                </a:tc>
              </a:tr>
              <a:tr h="320039">
                <a:tc>
                  <a:txBody>
                    <a:bodyPr/>
                    <a:lstStyle/>
                    <a:p>
                      <a:r>
                        <a:rPr sz="1100" b="0">
                          <a:solidFill>
                            <a:srgbClr val="2B2B2B"/>
                          </a:solidFill>
                          <a:latin typeface="Segoe UI"/>
                        </a:rPr>
                        <a:t>Parent-reported stress</a:t>
                      </a:r>
                    </a:p>
                  </a:txBody>
                  <a:tcPr marL="73152" marR="73152">
                    <a:solidFill>
                      <a:srgbClr val="FFFFFF"/>
                    </a:solidFill>
                  </a:tcPr>
                </a:tc>
                <a:tc>
                  <a:txBody>
                    <a:bodyPr/>
                    <a:lstStyle/>
                    <a:p>
                      <a:r>
                        <a:rPr sz="1100" b="0">
                          <a:solidFill>
                            <a:srgbClr val="2B2B2B"/>
                          </a:solidFill>
                          <a:latin typeface="Segoe UI"/>
                        </a:rPr>
                        <a:t>participant survey</a:t>
                      </a:r>
                    </a:p>
                  </a:txBody>
                  <a:tcPr marL="73152" marR="73152">
                    <a:solidFill>
                      <a:srgbClr val="FFFFFF"/>
                    </a:solidFill>
                  </a:tcPr>
                </a:tc>
                <a:tc>
                  <a:txBody>
                    <a:bodyPr/>
                    <a:lstStyle/>
                    <a:p>
                      <a:r>
                        <a:rPr sz="1100" b="0">
                          <a:solidFill>
                            <a:srgbClr val="2B2B2B"/>
                          </a:solidFill>
                          <a:latin typeface="Segoe UI"/>
                        </a:rPr>
                        <a:t>2 of 3</a:t>
                      </a:r>
                    </a:p>
                  </a:txBody>
                  <a:tcPr marL="73152" marR="73152">
                    <a:solidFill>
                      <a:srgbClr val="FFFFFF"/>
                    </a:solidFill>
                  </a:tcPr>
                </a:tc>
                <a:tc>
                  <a:txBody>
                    <a:bodyPr/>
                    <a:lstStyle/>
                    <a:p>
                      <a:r>
                        <a:rPr sz="1100" b="0">
                          <a:solidFill>
                            <a:srgbClr val="2B2B2B"/>
                          </a:solidFill>
                          <a:latin typeface="Segoe UI"/>
                        </a:rPr>
                        <a:t>Parents report feeling more in control and less stressed</a:t>
                      </a:r>
                    </a:p>
                  </a:txBody>
                  <a:tcPr marL="73152" marR="73152">
                    <a:solidFill>
                      <a:srgbClr val="FFFFFF"/>
                    </a:solidFill>
                  </a:tcPr>
                </a:tc>
              </a:tr>
              <a:tr h="320039">
                <a:tc>
                  <a:txBody>
                    <a:bodyPr/>
                    <a:lstStyle/>
                    <a:p>
                      <a:r>
                        <a:rPr sz="1100" b="0">
                          <a:solidFill>
                            <a:srgbClr val="2B2B2B"/>
                          </a:solidFill>
                          <a:latin typeface="Segoe UI"/>
                        </a:rPr>
                        <a:t>Knowing where to seek help for a chosen need</a:t>
                      </a:r>
                    </a:p>
                  </a:txBody>
                  <a:tcPr marL="73152" marR="73152">
                    <a:solidFill>
                      <a:srgbClr val="F7F4EE"/>
                    </a:solidFill>
                  </a:tcPr>
                </a:tc>
                <a:tc>
                  <a:txBody>
                    <a:bodyPr/>
                    <a:lstStyle/>
                    <a:p>
                      <a:r>
                        <a:rPr sz="1100" b="0">
                          <a:solidFill>
                            <a:srgbClr val="2B2B2B"/>
                          </a:solidFill>
                          <a:latin typeface="Segoe UI"/>
                        </a:rPr>
                        <a:t>participant survey</a:t>
                      </a:r>
                    </a:p>
                  </a:txBody>
                  <a:tcPr marL="73152" marR="73152">
                    <a:solidFill>
                      <a:srgbClr val="F7F4EE"/>
                    </a:solidFill>
                  </a:tcPr>
                </a:tc>
                <a:tc>
                  <a:txBody>
                    <a:bodyPr/>
                    <a:lstStyle/>
                    <a:p>
                      <a:r>
                        <a:rPr sz="1100" b="0">
                          <a:solidFill>
                            <a:srgbClr val="2B2B2B"/>
                          </a:solidFill>
                          <a:latin typeface="Segoe UI"/>
                        </a:rPr>
                        <a:t>1 of 3</a:t>
                      </a:r>
                    </a:p>
                  </a:txBody>
                  <a:tcPr marL="73152" marR="73152">
                    <a:solidFill>
                      <a:srgbClr val="F7F4EE"/>
                    </a:solidFill>
                  </a:tcPr>
                </a:tc>
                <a:tc>
                  <a:txBody>
                    <a:bodyPr/>
                    <a:lstStyle/>
                    <a:p>
                      <a:r>
                        <a:rPr sz="1100" b="0">
                          <a:solidFill>
                            <a:srgbClr val="2B2B2B"/>
                          </a:solidFill>
                          <a:latin typeface="Segoe UI"/>
                        </a:rPr>
                        <a:t>Parents can identify where to seek help for at least one priority need they selected</a:t>
                      </a:r>
                    </a:p>
                  </a:txBody>
                  <a:tcPr marL="73152" marR="73152">
                    <a:solidFill>
                      <a:srgbClr val="F7F4EE"/>
                    </a:solidFill>
                  </a:tcPr>
                </a:tc>
              </a:tr>
              <a:tr h="320044">
                <a:tc>
                  <a:txBody>
                    <a:bodyPr/>
                    <a:lstStyle/>
                    <a:p>
                      <a:r>
                        <a:rPr sz="1100" b="0">
                          <a:solidFill>
                            <a:srgbClr val="2B2B2B"/>
                          </a:solidFill>
                          <a:latin typeface="Segoe UI"/>
                        </a:rPr>
                        <a:t>Housing status 12 months after move-in</a:t>
                      </a:r>
                    </a:p>
                  </a:txBody>
                  <a:tcPr marL="73152" marR="73152">
                    <a:solidFill>
                      <a:srgbClr val="FFFFFF"/>
                    </a:solidFill>
                  </a:tcPr>
                </a:tc>
                <a:tc>
                  <a:txBody>
                    <a:bodyPr/>
                    <a:lstStyle/>
                    <a:p>
                      <a:r>
                        <a:rPr sz="1100" b="0">
                          <a:solidFill>
                            <a:srgbClr val="2B2B2B"/>
                          </a:solidFill>
                          <a:latin typeface="Segoe UI"/>
                        </a:rPr>
                        <a:t>program records</a:t>
                      </a:r>
                    </a:p>
                  </a:txBody>
                  <a:tcPr marL="73152" marR="73152">
                    <a:solidFill>
                      <a:srgbClr val="FFFFFF"/>
                    </a:solidFill>
                  </a:tcPr>
                </a:tc>
                <a:tc>
                  <a:txBody>
                    <a:bodyPr/>
                    <a:lstStyle/>
                    <a:p>
                      <a:r>
                        <a:rPr sz="1100" b="0">
                          <a:solidFill>
                            <a:srgbClr val="2B2B2B"/>
                          </a:solidFill>
                          <a:latin typeface="Segoe UI"/>
                        </a:rPr>
                        <a:t>5 of 5</a:t>
                      </a:r>
                    </a:p>
                  </a:txBody>
                  <a:tcPr marL="73152" marR="73152">
                    <a:solidFill>
                      <a:srgbClr val="FFFFFF"/>
                    </a:solidFill>
                  </a:tcPr>
                </a:tc>
                <a:tc>
                  <a:txBody>
                    <a:bodyPr/>
                    <a:lstStyle/>
                    <a:p>
                      <a:r>
                        <a:rPr sz="1100" b="0">
                          <a:solidFill>
                            <a:srgbClr val="2B2B2B"/>
                          </a:solidFill>
                          <a:latin typeface="Segoe UI"/>
                        </a:rPr>
                        <a:t>Families remain housed after time-limited rental assistance ends</a:t>
                      </a:r>
                    </a:p>
                  </a:txBody>
                  <a:tcPr marL="73152" marR="73152">
                    <a:solidFill>
                      <a:srgbClr val="FFFFFF"/>
                    </a:solidFill>
                  </a:tcPr>
                </a:tc>
              </a:tr>
            </a:tbl>
          </a:graphicData>
        </a:graphic>
      </p:graphicFrame>
      <p:sp>
        <p:nvSpPr>
          <p:cNvPr id="11" name="Rectangle 10"/>
          <p:cNvSpPr/>
          <p:nvPr/>
        </p:nvSpPr>
        <p:spPr>
          <a:xfrm>
            <a:off x="548640" y="3886200"/>
            <a:ext cx="64008" cy="2194560"/>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7" y="3886200"/>
            <a:ext cx="5330952"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77240" y="3977639"/>
            <a:ext cx="5029200" cy="2011679"/>
          </a:xfrm>
          <a:prstGeom prst="rect">
            <a:avLst/>
          </a:prstGeom>
          <a:noFill/>
        </p:spPr>
        <p:txBody>
          <a:bodyPr wrap="square">
            <a:spAutoFit/>
          </a:bodyPr>
          <a:lstStyle/>
          <a:p>
            <a:pPr>
              <a:spcAft>
                <a:spcPts val="400"/>
              </a:spcAft>
            </a:pPr>
            <a:r>
              <a:rPr sz="1150" b="1">
                <a:solidFill>
                  <a:srgbClr val="2B2B2B"/>
                </a:solidFill>
                <a:latin typeface="Segoe UI"/>
              </a:rPr>
              <a:t>Director's feedback</a:t>
            </a:r>
          </a:p>
          <a:p>
            <a:pPr>
              <a:spcAft>
                <a:spcPts val="400"/>
              </a:spcAft>
            </a:pPr>
            <a:r>
              <a:rPr sz="1150" b="0">
                <a:solidFill>
                  <a:srgbClr val="2B2B2B"/>
                </a:solidFill>
                <a:latin typeface="Segoe UI"/>
              </a:rPr>
              <a:t>Please keep the participant survey short, no more than about 8 recommended questions, and make sure we measure whether families stay housed 12 months after move-in.</a:t>
            </a:r>
          </a:p>
        </p:txBody>
      </p:sp>
      <p:sp>
        <p:nvSpPr>
          <p:cNvPr id="14" name="Rectangle 13"/>
          <p:cNvSpPr/>
          <p:nvPr/>
        </p:nvSpPr>
        <p:spPr>
          <a:xfrm>
            <a:off x="6217920" y="3886200"/>
            <a:ext cx="64008" cy="2194560"/>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81928" y="3886200"/>
            <a:ext cx="5330952"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46520" y="3977639"/>
            <a:ext cx="5029200" cy="2011679"/>
          </a:xfrm>
          <a:prstGeom prst="rect">
            <a:avLst/>
          </a:prstGeom>
          <a:noFill/>
        </p:spPr>
        <p:txBody>
          <a:bodyPr wrap="square">
            <a:spAutoFit/>
          </a:bodyPr>
          <a:lstStyle/>
          <a:p>
            <a:pPr>
              <a:spcAft>
                <a:spcPts val="400"/>
              </a:spcAft>
            </a:pPr>
            <a:r>
              <a:rPr sz="1100" b="1">
                <a:solidFill>
                  <a:srgbClr val="2B2B2B"/>
                </a:solidFill>
                <a:latin typeface="Segoe UI"/>
              </a:rPr>
              <a:t>Version 2</a:t>
            </a:r>
          </a:p>
          <a:p>
            <a:pPr>
              <a:spcAft>
                <a:spcPts val="400"/>
              </a:spcAft>
            </a:pPr>
            <a:r>
              <a:rPr sz="1100" b="0">
                <a:solidFill>
                  <a:srgbClr val="2B2B2B"/>
                </a:solidFill>
                <a:latin typeface="Segoe UI"/>
              </a:rPr>
              <a:t>I’ve kept the participant survey to four recommended questions, with the optional alternatives still switched off. I also changed the housing follow-up to be measured 12 months after each family’s move-in date and made unknown status visible rather than treating it as housed or unhoused. One distinction to note: this follow-up may happen while rental assistance is still active for some families, so it complements—but…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5 · METRICS</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Several cited questions per metric, and you choose</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5</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423367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17_metric_question_bank.jpg"/>
          <p:cNvPicPr>
            <a:picLocks noChangeAspect="1"/>
          </p:cNvPicPr>
          <p:nvPr/>
        </p:nvPicPr>
        <p:blipFill>
          <a:blip r:embed="rId2"/>
          <a:srcRect/>
          <a:stretch>
            <a:fillRect/>
          </a:stretch>
        </p:blipFill>
        <p:spPr>
          <a:xfrm>
            <a:off x="548640" y="1371600"/>
            <a:ext cx="6400800" cy="4160520"/>
          </a:xfrm>
          <a:prstGeom prst="rect">
            <a:avLst/>
          </a:prstGeom>
        </p:spPr>
      </p:pic>
      <p:sp>
        <p:nvSpPr>
          <p:cNvPr id="12" name="TextBox 11"/>
          <p:cNvSpPr txBox="1"/>
          <p:nvPr/>
        </p:nvSpPr>
        <p:spPr>
          <a:xfrm>
            <a:off x="7315200" y="1371600"/>
            <a:ext cx="4389120" cy="4846320"/>
          </a:xfrm>
          <a:prstGeom prst="rect">
            <a:avLst/>
          </a:prstGeom>
          <a:noFill/>
        </p:spPr>
        <p:txBody>
          <a:bodyPr wrap="square">
            <a:spAutoFit/>
          </a:bodyPr>
          <a:lstStyle/>
          <a:p>
            <a:pPr>
              <a:spcAft>
                <a:spcPts val="800"/>
              </a:spcAft>
            </a:pPr>
            <a:r>
              <a:rPr sz="1250" b="1">
                <a:solidFill>
                  <a:srgbClr val="6F6A63"/>
                </a:solidFill>
                <a:latin typeface="Segoe UI"/>
              </a:rPr>
              <a:t>•  </a:t>
            </a:r>
            <a:r>
              <a:rPr sz="1250" b="0">
                <a:solidFill>
                  <a:srgbClr val="2B2B2B"/>
                </a:solidFill>
                <a:latin typeface="Segoe UI"/>
              </a:rPr>
              <a:t>Each metric offers 3–5 candidate questions; the team switches on the 2–3 it recommends</a:t>
            </a:r>
          </a:p>
          <a:p>
            <a:pPr>
              <a:spcAft>
                <a:spcPts val="800"/>
              </a:spcAft>
            </a:pPr>
            <a:r>
              <a:rPr sz="1250" b="1">
                <a:solidFill>
                  <a:srgbClr val="6F6A63"/>
                </a:solidFill>
                <a:latin typeface="Segoe UI"/>
              </a:rPr>
              <a:t>•  </a:t>
            </a:r>
            <a:r>
              <a:rPr sz="1250" b="0">
                <a:solidFill>
                  <a:srgbClr val="2B2B2B"/>
                </a:solidFill>
                <a:latin typeface="Segoe UI"/>
              </a:rPr>
              <a:t>"Why funders care" links each metric to specific funders, with citations</a:t>
            </a:r>
          </a:p>
          <a:p>
            <a:pPr>
              <a:spcAft>
                <a:spcPts val="800"/>
              </a:spcAft>
            </a:pPr>
            <a:r>
              <a:rPr sz="1250" b="1">
                <a:solidFill>
                  <a:srgbClr val="6F6A63"/>
                </a:solidFill>
                <a:latin typeface="Segoe UI"/>
              </a:rPr>
              <a:t>•  </a:t>
            </a:r>
            <a:r>
              <a:rPr sz="1250" b="0">
                <a:solidFill>
                  <a:srgbClr val="2B2B2B"/>
                </a:solidFill>
                <a:latin typeface="Segoe UI"/>
              </a:rPr>
              <a:t>Good catch from the team: the stress items are inspired by the PSS-10 but are not copies, so it warned not to score them as a PSS-10 and to check licensing</a:t>
            </a:r>
          </a:p>
          <a:p>
            <a:pPr>
              <a:spcAft>
                <a:spcPts val="800"/>
              </a:spcAft>
            </a:pPr>
            <a:r>
              <a:rPr sz="1250" b="1">
                <a:solidFill>
                  <a:srgbClr val="6F6A63"/>
                </a:solidFill>
                <a:latin typeface="Segoe UI"/>
              </a:rPr>
              <a:t>•  </a:t>
            </a:r>
            <a:r>
              <a:rPr sz="1250" b="0">
                <a:solidFill>
                  <a:srgbClr val="2B2B2B"/>
                </a:solidFill>
                <a:latin typeface="Segoe UI"/>
              </a:rPr>
              <a:t>13 cited sources on the final plan, all verified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5 · DONE</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Approved, saved to the account, downloadable</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5</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4289679"/>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18_studio_done.jpg"/>
          <p:cNvPicPr>
            <a:picLocks noChangeAspect="1"/>
          </p:cNvPicPr>
          <p:nvPr/>
        </p:nvPicPr>
        <p:blipFill>
          <a:blip r:embed="rId2"/>
          <a:srcRect/>
          <a:stretch>
            <a:fillRect/>
          </a:stretch>
        </p:blipFill>
        <p:spPr>
          <a:xfrm>
            <a:off x="548640" y="1371600"/>
            <a:ext cx="6400800" cy="4216527"/>
          </a:xfrm>
          <a:prstGeom prst="rect">
            <a:avLst/>
          </a:prstGeom>
        </p:spPr>
      </p:pic>
      <p:sp>
        <p:nvSpPr>
          <p:cNvPr id="12" name="TextBox 11"/>
          <p:cNvSpPr txBox="1"/>
          <p:nvPr/>
        </p:nvSpPr>
        <p:spPr>
          <a:xfrm>
            <a:off x="7315200" y="1371600"/>
            <a:ext cx="4389120" cy="4846320"/>
          </a:xfrm>
          <a:prstGeom prst="rect">
            <a:avLst/>
          </a:prstGeom>
          <a:noFill/>
        </p:spPr>
        <p:txBody>
          <a:bodyPr wrap="square">
            <a:spAutoFit/>
          </a:bodyPr>
          <a:lstStyle/>
          <a:p>
            <a:pPr>
              <a:spcAft>
                <a:spcPts val="800"/>
              </a:spcAft>
            </a:pPr>
            <a:r>
              <a:rPr sz="1300" b="1">
                <a:solidFill>
                  <a:srgbClr val="6F6A63"/>
                </a:solidFill>
                <a:latin typeface="Segoe UI"/>
              </a:rPr>
              <a:t>•  </a:t>
            </a:r>
            <a:r>
              <a:rPr sz="1300" b="0">
                <a:solidFill>
                  <a:srgbClr val="2B2B2B"/>
                </a:solidFill>
                <a:latin typeface="Segoe UI"/>
              </a:rPr>
              <a:t>Approving copies the logic model and plan onto the organization</a:t>
            </a:r>
          </a:p>
          <a:p>
            <a:pPr>
              <a:spcAft>
                <a:spcPts val="800"/>
              </a:spcAft>
            </a:pPr>
            <a:r>
              <a:rPr sz="1300" b="1">
                <a:solidFill>
                  <a:srgbClr val="6F6A63"/>
                </a:solidFill>
                <a:latin typeface="Segoe UI"/>
              </a:rPr>
              <a:t>•  </a:t>
            </a:r>
            <a:r>
              <a:rPr sz="1300" b="0">
                <a:solidFill>
                  <a:srgbClr val="2B2B2B"/>
                </a:solidFill>
                <a:latin typeface="Segoe UI"/>
              </a:rPr>
              <a:t>The team's working notes (research, brief, question pool) are deleted</a:t>
            </a:r>
          </a:p>
          <a:p>
            <a:pPr>
              <a:spcAft>
                <a:spcPts val="800"/>
              </a:spcAft>
            </a:pPr>
            <a:r>
              <a:rPr sz="1300" b="1">
                <a:solidFill>
                  <a:srgbClr val="6F6A63"/>
                </a:solidFill>
                <a:latin typeface="Segoe UI"/>
              </a:rPr>
              <a:t>•  </a:t>
            </a:r>
            <a:r>
              <a:rPr sz="1300" b="0">
                <a:solidFill>
                  <a:srgbClr val="2B2B2B"/>
                </a:solidFill>
                <a:latin typeface="Segoe UI"/>
              </a:rPr>
              <a:t>The PowerPoint download includes the logic model, plan, tool question lists, a funder alignment slide and sources</a:t>
            </a:r>
          </a:p>
          <a:p>
            <a:pPr>
              <a:spcAft>
                <a:spcPts val="800"/>
              </a:spcAft>
            </a:pPr>
            <a:r>
              <a:rPr sz="1300" b="1">
                <a:solidFill>
                  <a:srgbClr val="6F6A63"/>
                </a:solidFill>
                <a:latin typeface="Segoe UI"/>
              </a:rPr>
              <a:t>•  </a:t>
            </a:r>
            <a:r>
              <a:rPr sz="1300" b="0">
                <a:solidFill>
                  <a:srgbClr val="2B2B2B"/>
                </a:solidFill>
                <a:latin typeface="Segoe UI"/>
              </a:rPr>
              <a:t>Next: build the survey tools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6 · COLLECT</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Survey tools are built straight from the metrics</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6</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5742432" cy="3758184"/>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19_tools_list.jpg"/>
          <p:cNvPicPr>
            <a:picLocks noChangeAspect="1"/>
          </p:cNvPicPr>
          <p:nvPr/>
        </p:nvPicPr>
        <p:blipFill>
          <a:blip r:embed="rId2"/>
          <a:srcRect/>
          <a:stretch>
            <a:fillRect/>
          </a:stretch>
        </p:blipFill>
        <p:spPr>
          <a:xfrm>
            <a:off x="548640" y="1371600"/>
            <a:ext cx="5669280" cy="3685032"/>
          </a:xfrm>
          <a:prstGeom prst="rect">
            <a:avLst/>
          </a:prstGeom>
        </p:spPr>
      </p:pic>
      <p:sp>
        <p:nvSpPr>
          <p:cNvPr id="12" name="TextBox 11"/>
          <p:cNvSpPr txBox="1"/>
          <p:nvPr/>
        </p:nvSpPr>
        <p:spPr>
          <a:xfrm>
            <a:off x="6583680" y="1371600"/>
            <a:ext cx="5120640" cy="4846320"/>
          </a:xfrm>
          <a:prstGeom prst="rect">
            <a:avLst/>
          </a:prstGeom>
          <a:noFill/>
        </p:spPr>
        <p:txBody>
          <a:bodyPr wrap="square">
            <a:spAutoFit/>
          </a:bodyPr>
          <a:lstStyle/>
          <a:p>
            <a:pPr>
              <a:spcAft>
                <a:spcPts val="800"/>
              </a:spcAft>
            </a:pPr>
            <a:r>
              <a:rPr sz="1250" b="1">
                <a:solidFill>
                  <a:srgbClr val="6F6A63"/>
                </a:solidFill>
                <a:latin typeface="Segoe UI"/>
              </a:rPr>
              <a:t>•  </a:t>
            </a:r>
            <a:r>
              <a:rPr sz="1250" b="0">
                <a:solidFill>
                  <a:srgbClr val="2B2B2B"/>
                </a:solidFill>
                <a:latin typeface="Segoe UI"/>
              </a:rPr>
              <a:t>One click turned the approved plan into tools:</a:t>
            </a:r>
          </a:p>
          <a:p>
            <a:pPr>
              <a:spcAft>
                <a:spcPts val="800"/>
              </a:spcAft>
            </a:pPr>
            <a:r>
              <a:rPr sz="1250" b="1">
                <a:solidFill>
                  <a:srgbClr val="6F6A63"/>
                </a:solidFill>
                <a:latin typeface="Segoe UI"/>
              </a:rPr>
              <a:t>•  </a:t>
            </a:r>
            <a:r>
              <a:rPr sz="1250" b="0">
                <a:solidFill>
                  <a:srgbClr val="2B2B2B"/>
                </a:solidFill>
                <a:latin typeface="Segoe UI"/>
              </a:rPr>
              <a:t>'Brief participant check-in': the 4 switched-on participant questions</a:t>
            </a:r>
          </a:p>
          <a:p>
            <a:pPr>
              <a:spcAft>
                <a:spcPts val="800"/>
              </a:spcAft>
            </a:pPr>
            <a:r>
              <a:rPr sz="1250" b="1">
                <a:solidFill>
                  <a:srgbClr val="6F6A63"/>
                </a:solidFill>
                <a:latin typeface="Segoe UI"/>
              </a:rPr>
              <a:t>•  </a:t>
            </a:r>
            <a:r>
              <a:rPr sz="1250" b="0">
                <a:solidFill>
                  <a:srgbClr val="2B2B2B"/>
                </a:solidFill>
                <a:latin typeface="Segoe UI"/>
              </a:rPr>
              <a:t>8 program numbers from the two 'program records' metrics (move-in and 12-month housing status), entered by staff and never sent as a survey</a:t>
            </a:r>
          </a:p>
          <a:p>
            <a:pPr>
              <a:spcAft>
                <a:spcPts val="800"/>
              </a:spcAft>
            </a:pPr>
            <a:r>
              <a:rPr sz="1250" b="1">
                <a:solidFill>
                  <a:srgbClr val="6F6A63"/>
                </a:solidFill>
                <a:latin typeface="Segoe UI"/>
              </a:rPr>
              <a:t>•  </a:t>
            </a:r>
            <a:r>
              <a:rPr sz="1250" b="0">
                <a:solidFill>
                  <a:srgbClr val="2B2B2B"/>
                </a:solidFill>
                <a:latin typeface="Segoe UI"/>
              </a:rPr>
              <a:t>Staff can hide questions, change timing, add open questions, mark reverse-scoring and pick demographics</a:t>
            </a:r>
          </a:p>
          <a:p>
            <a:pPr>
              <a:spcAft>
                <a:spcPts val="800"/>
              </a:spcAft>
            </a:pPr>
            <a:r>
              <a:rPr sz="1250" b="1">
                <a:solidFill>
                  <a:srgbClr val="6F6A63"/>
                </a:solidFill>
                <a:latin typeface="Segoe UI"/>
              </a:rPr>
              <a:t>•  </a:t>
            </a:r>
            <a:r>
              <a:rPr sz="1250" b="0">
                <a:solidFill>
                  <a:srgbClr val="2B2B2B"/>
                </a:solidFill>
                <a:latin typeface="Segoe UI"/>
              </a:rPr>
              <a:t>Once answers exist, wording and scales lock so pre and post stay comparable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6 · COLLECT</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The Survey Review Bot caught a real problem</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6</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3151216"/>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21_review_bot_CROPTOP.jpg"/>
          <p:cNvPicPr>
            <a:picLocks noChangeAspect="1"/>
          </p:cNvPicPr>
          <p:nvPr/>
        </p:nvPicPr>
        <p:blipFill>
          <a:blip r:embed="rId2"/>
          <a:srcRect t="27000"/>
          <a:stretch>
            <a:fillRect/>
          </a:stretch>
        </p:blipFill>
        <p:spPr>
          <a:xfrm>
            <a:off x="548640" y="1371600"/>
            <a:ext cx="6400800" cy="3078064"/>
          </a:xfrm>
          <a:prstGeom prst="rect">
            <a:avLst/>
          </a:prstGeom>
        </p:spPr>
      </p:pic>
      <p:sp>
        <p:nvSpPr>
          <p:cNvPr id="12" name="Rectangle 11"/>
          <p:cNvSpPr/>
          <p:nvPr/>
        </p:nvSpPr>
        <p:spPr>
          <a:xfrm>
            <a:off x="7315200" y="1371600"/>
            <a:ext cx="64008" cy="1920240"/>
          </a:xfrm>
          <a:prstGeom prst="rect">
            <a:avLst/>
          </a:prstGeom>
          <a:solidFill>
            <a:srgbClr val="8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79208" y="1371600"/>
            <a:ext cx="4325112" cy="1920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43800" y="1463040"/>
            <a:ext cx="4023359" cy="1737360"/>
          </a:xfrm>
          <a:prstGeom prst="rect">
            <a:avLst/>
          </a:prstGeom>
          <a:noFill/>
        </p:spPr>
        <p:txBody>
          <a:bodyPr wrap="square">
            <a:spAutoFit/>
          </a:bodyPr>
          <a:lstStyle/>
          <a:p>
            <a:pPr>
              <a:spcAft>
                <a:spcPts val="400"/>
              </a:spcAft>
            </a:pPr>
            <a:r>
              <a:rPr sz="1100" b="1">
                <a:solidFill>
                  <a:srgbClr val="2B2B2B"/>
                </a:solidFill>
                <a:latin typeface="Segoe UI"/>
              </a:rPr>
              <a:t>Its summary (live)</a:t>
            </a:r>
          </a:p>
          <a:p>
            <a:pPr>
              <a:spcAft>
                <a:spcPts val="400"/>
              </a:spcAft>
            </a:pPr>
            <a:r>
              <a:rPr sz="1100" b="0">
                <a:solidFill>
                  <a:srgbClr val="2B2B2B"/>
                </a:solidFill>
                <a:latin typeface="Segoe UI"/>
              </a:rPr>
              <a:t>Not quite ready: the survey is brief and most questions are clear, but the stress items need reverse-scoring and the outcome about feeling more in control is not directly measured. Add a short open-response question to hear participants’ perspectives; the program-record outcomes do not need to be added to this survey.</a:t>
            </a:r>
          </a:p>
        </p:txBody>
      </p:sp>
      <p:sp>
        <p:nvSpPr>
          <p:cNvPr id="15" name="TextBox 14"/>
          <p:cNvSpPr txBox="1"/>
          <p:nvPr/>
        </p:nvSpPr>
        <p:spPr>
          <a:xfrm>
            <a:off x="7315200" y="3474720"/>
            <a:ext cx="4389120" cy="2743200"/>
          </a:xfrm>
          <a:prstGeom prst="rect">
            <a:avLst/>
          </a:prstGeom>
          <a:noFill/>
        </p:spPr>
        <p:txBody>
          <a:bodyPr wrap="square">
            <a:spAutoFit/>
          </a:bodyPr>
          <a:lstStyle/>
          <a:p>
            <a:pPr>
              <a:spcAft>
                <a:spcPts val="800"/>
              </a:spcAft>
            </a:pPr>
            <a:r>
              <a:rPr sz="1150" b="1">
                <a:solidFill>
                  <a:srgbClr val="6F6A63"/>
                </a:solidFill>
                <a:latin typeface="Segoe UI"/>
              </a:rPr>
              <a:t>•  </a:t>
            </a:r>
            <a:r>
              <a:rPr sz="1150" b="0">
                <a:solidFill>
                  <a:srgbClr val="2B2B2B"/>
                </a:solidFill>
                <a:latin typeface="Segoe UI"/>
              </a:rPr>
              <a:t>Applied: set reverse: More frequent feelings of being overwhelmed indicate worse stress, so higher values s…</a:t>
            </a:r>
          </a:p>
          <a:p>
            <a:pPr>
              <a:spcAft>
                <a:spcPts val="800"/>
              </a:spcAft>
            </a:pPr>
            <a:r>
              <a:rPr sz="1150" b="1">
                <a:solidFill>
                  <a:srgbClr val="6F6A63"/>
                </a:solidFill>
                <a:latin typeface="Segoe UI"/>
              </a:rPr>
              <a:t>•  </a:t>
            </a:r>
            <a:r>
              <a:rPr sz="1150" b="0">
                <a:solidFill>
                  <a:srgbClr val="2B2B2B"/>
                </a:solidFill>
                <a:latin typeface="Segoe UI"/>
              </a:rPr>
              <a:t>Applied: set reverse: More frequent worry indicates worse stress, so higher values should not be treated as…</a:t>
            </a:r>
          </a:p>
          <a:p>
            <a:pPr>
              <a:spcAft>
                <a:spcPts val="800"/>
              </a:spcAft>
            </a:pPr>
            <a:r>
              <a:rPr sz="1150" b="1">
                <a:solidFill>
                  <a:srgbClr val="6F6A63"/>
                </a:solidFill>
                <a:latin typeface="Segoe UI"/>
              </a:rPr>
              <a:t>•  </a:t>
            </a:r>
            <a:r>
              <a:rPr sz="1150" b="0">
                <a:solidFill>
                  <a:srgbClr val="2B2B2B"/>
                </a:solidFill>
                <a:latin typeface="Segoe UI"/>
              </a:rPr>
              <a:t>Applied: add open question: There is no open-response question, so participants cannot share their perspective in…</a:t>
            </a:r>
          </a:p>
          <a:p>
            <a:pPr>
              <a:spcAft>
                <a:spcPts val="800"/>
              </a:spcAft>
            </a:pPr>
            <a:r>
              <a:rPr sz="1150" b="1">
                <a:solidFill>
                  <a:srgbClr val="6F6A63"/>
                </a:solidFill>
                <a:latin typeface="Segoe UI"/>
              </a:rPr>
              <a:t>•  </a:t>
            </a:r>
            <a:r>
              <a:rPr sz="1150" b="0">
                <a:solidFill>
                  <a:srgbClr val="2B2B2B"/>
                </a:solidFill>
                <a:latin typeface="Segoe UI"/>
              </a:rPr>
              <a:t>Staff choose: fixes only change the draft until you Save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6 · COLLECT</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Participants get their own portal: a code and PIN, no names</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6</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6384" y="1289304"/>
            <a:ext cx="2332406" cy="496519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25_portal_list.jpg"/>
          <p:cNvPicPr>
            <a:picLocks noChangeAspect="1"/>
          </p:cNvPicPr>
          <p:nvPr/>
        </p:nvPicPr>
        <p:blipFill>
          <a:blip r:embed="rId2"/>
          <a:srcRect/>
          <a:stretch>
            <a:fillRect/>
          </a:stretch>
        </p:blipFill>
        <p:spPr>
          <a:xfrm>
            <a:off x="822960" y="1325880"/>
            <a:ext cx="2259254" cy="4892040"/>
          </a:xfrm>
          <a:prstGeom prst="rect">
            <a:avLst/>
          </a:prstGeom>
        </p:spPr>
      </p:pic>
      <p:sp>
        <p:nvSpPr>
          <p:cNvPr id="12" name="Rectangle 11"/>
          <p:cNvSpPr/>
          <p:nvPr/>
        </p:nvSpPr>
        <p:spPr>
          <a:xfrm>
            <a:off x="4169663" y="1289304"/>
            <a:ext cx="2332754" cy="496519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26_portal_form_EARLIER_TEST.jpg"/>
          <p:cNvPicPr>
            <a:picLocks noChangeAspect="1"/>
          </p:cNvPicPr>
          <p:nvPr/>
        </p:nvPicPr>
        <p:blipFill>
          <a:blip r:embed="rId3"/>
          <a:srcRect/>
          <a:stretch>
            <a:fillRect/>
          </a:stretch>
        </p:blipFill>
        <p:spPr>
          <a:xfrm>
            <a:off x="4206240" y="1325880"/>
            <a:ext cx="2259602" cy="4892040"/>
          </a:xfrm>
          <a:prstGeom prst="rect">
            <a:avLst/>
          </a:prstGeom>
        </p:spPr>
      </p:pic>
      <p:sp>
        <p:nvSpPr>
          <p:cNvPr id="14" name="TextBox 13"/>
          <p:cNvSpPr txBox="1"/>
          <p:nvPr/>
        </p:nvSpPr>
        <p:spPr>
          <a:xfrm>
            <a:off x="7498079" y="1371600"/>
            <a:ext cx="4206240" cy="4846320"/>
          </a:xfrm>
          <a:prstGeom prst="rect">
            <a:avLst/>
          </a:prstGeom>
          <a:noFill/>
        </p:spPr>
        <p:txBody>
          <a:bodyPr wrap="square">
            <a:spAutoFit/>
          </a:bodyPr>
          <a:lstStyle/>
          <a:p>
            <a:pPr>
              <a:spcAft>
                <a:spcPts val="800"/>
              </a:spcAft>
            </a:pPr>
            <a:r>
              <a:rPr sz="1200" b="1">
                <a:solidFill>
                  <a:srgbClr val="6F6A63"/>
                </a:solidFill>
                <a:latin typeface="Segoe UI"/>
              </a:rPr>
              <a:t>•  </a:t>
            </a:r>
            <a:r>
              <a:rPr sz="1200" b="0">
                <a:solidFill>
                  <a:srgbClr val="2B2B2B"/>
                </a:solidFill>
                <a:latin typeface="Segoe UI"/>
              </a:rPr>
              <a:t>Staff create codes + 6-digit PINs, shown once (CSV/print); stored only as hashes</a:t>
            </a:r>
          </a:p>
          <a:p>
            <a:pPr>
              <a:spcAft>
                <a:spcPts val="800"/>
              </a:spcAft>
            </a:pPr>
            <a:r>
              <a:rPr sz="1200" b="1">
                <a:solidFill>
                  <a:srgbClr val="6F6A63"/>
                </a:solidFill>
                <a:latin typeface="Segoe UI"/>
              </a:rPr>
              <a:t>•  </a:t>
            </a:r>
            <a:r>
              <a:rPr sz="1200" b="0">
                <a:solidFill>
                  <a:srgbClr val="2B2B2B"/>
                </a:solidFill>
                <a:latin typeface="Segoe UI"/>
              </a:rPr>
              <a:t>Participants see only their own pending surveys and can submit pre and post once each</a:t>
            </a:r>
          </a:p>
          <a:p>
            <a:pPr>
              <a:spcAft>
                <a:spcPts val="800"/>
              </a:spcAft>
            </a:pPr>
            <a:r>
              <a:rPr sz="1200" b="1">
                <a:solidFill>
                  <a:srgbClr val="6F6A63"/>
                </a:solidFill>
                <a:latin typeface="Segoe UI"/>
              </a:rPr>
              <a:t>•  </a:t>
            </a:r>
            <a:r>
              <a:rPr sz="1200" b="0">
                <a:solidFill>
                  <a:srgbClr val="2B2B2B"/>
                </a:solidFill>
                <a:latin typeface="Segoe UI"/>
              </a:rPr>
              <a:t>Phone-first: big tap targets, optional demographics with 'Prefer not to say'</a:t>
            </a:r>
          </a:p>
          <a:p>
            <a:pPr>
              <a:spcAft>
                <a:spcPts val="800"/>
              </a:spcAft>
            </a:pPr>
            <a:r>
              <a:rPr sz="1200" b="1">
                <a:solidFill>
                  <a:srgbClr val="6F6A63"/>
                </a:solidFill>
                <a:latin typeface="Segoe UI"/>
              </a:rPr>
              <a:t>•  </a:t>
            </a:r>
            <a:r>
              <a:rPr sz="1200" b="0">
                <a:solidFill>
                  <a:srgbClr val="2B2B2B"/>
                </a:solidFill>
                <a:latin typeface="Segoe UI"/>
              </a:rPr>
              <a:t>This run: 24 pre and 20 post surveys from 24 participants</a:t>
            </a:r>
          </a:p>
          <a:p>
            <a:pPr>
              <a:spcAft>
                <a:spcPts val="800"/>
              </a:spcAft>
            </a:pPr>
            <a:r>
              <a:rPr sz="1200" b="1">
                <a:solidFill>
                  <a:srgbClr val="6F6A63"/>
                </a:solidFill>
                <a:latin typeface="Segoe UI"/>
              </a:rPr>
              <a:t>•  </a:t>
            </a:r>
            <a:r>
              <a:rPr sz="1200" b="0">
                <a:solidFill>
                  <a:srgbClr val="2B2B2B"/>
                </a:solidFill>
                <a:latin typeface="Segoe UI"/>
              </a:rPr>
              <a:t>(The form screenshot is from the earlier scripted test, same screen.)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6 · COLLECT</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Numbers the organization already has: entered by staff</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6</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4289679"/>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22_program_numbers.jpg"/>
          <p:cNvPicPr>
            <a:picLocks noChangeAspect="1"/>
          </p:cNvPicPr>
          <p:nvPr/>
        </p:nvPicPr>
        <p:blipFill>
          <a:blip r:embed="rId2"/>
          <a:srcRect/>
          <a:stretch>
            <a:fillRect/>
          </a:stretch>
        </p:blipFill>
        <p:spPr>
          <a:xfrm>
            <a:off x="548640" y="1371600"/>
            <a:ext cx="6400800" cy="4216527"/>
          </a:xfrm>
          <a:prstGeom prst="rect">
            <a:avLst/>
          </a:prstGeom>
        </p:spPr>
      </p:pic>
      <p:sp>
        <p:nvSpPr>
          <p:cNvPr id="12" name="TextBox 11"/>
          <p:cNvSpPr txBox="1"/>
          <p:nvPr/>
        </p:nvSpPr>
        <p:spPr>
          <a:xfrm>
            <a:off x="7315200" y="1371600"/>
            <a:ext cx="4389120" cy="4846320"/>
          </a:xfrm>
          <a:prstGeom prst="rect">
            <a:avLst/>
          </a:prstGeom>
          <a:noFill/>
        </p:spPr>
        <p:txBody>
          <a:bodyPr wrap="square">
            <a:spAutoFit/>
          </a:bodyPr>
          <a:lstStyle/>
          <a:p>
            <a:pPr>
              <a:spcAft>
                <a:spcPts val="800"/>
              </a:spcAft>
            </a:pPr>
            <a:r>
              <a:rPr sz="1300" b="1">
                <a:solidFill>
                  <a:srgbClr val="6F6A63"/>
                </a:solidFill>
                <a:latin typeface="Segoe UI"/>
              </a:rPr>
              <a:t>•  </a:t>
            </a:r>
            <a:r>
              <a:rPr sz="1300" b="0">
                <a:solidFill>
                  <a:srgbClr val="2B2B2B"/>
                </a:solidFill>
                <a:latin typeface="Segoe UI"/>
              </a:rPr>
              <a:t>No survey needed for things like move-ins, follow-ups, dollars spent or volunteers' work</a:t>
            </a:r>
          </a:p>
          <a:p>
            <a:pPr>
              <a:spcAft>
                <a:spcPts val="800"/>
              </a:spcAft>
            </a:pPr>
            <a:r>
              <a:rPr sz="1300" b="1">
                <a:solidFill>
                  <a:srgbClr val="6F6A63"/>
                </a:solidFill>
                <a:latin typeface="Segoe UI"/>
              </a:rPr>
              <a:t>•  </a:t>
            </a:r>
            <a:r>
              <a:rPr sz="1300" b="0">
                <a:solidFill>
                  <a:srgbClr val="2B2B2B"/>
                </a:solidFill>
                <a:latin typeface="Segoe UI"/>
              </a:rPr>
              <a:t>8 numbers came from the plan; 3 custom ones were added (rental assistance $, apartments furnished, landlord partners)</a:t>
            </a:r>
          </a:p>
          <a:p>
            <a:pPr>
              <a:spcAft>
                <a:spcPts val="800"/>
              </a:spcAft>
            </a:pPr>
            <a:r>
              <a:rPr sz="1300" b="1">
                <a:solidFill>
                  <a:srgbClr val="6F6A63"/>
                </a:solidFill>
                <a:latin typeface="Segoe UI"/>
              </a:rPr>
              <a:t>•  </a:t>
            </a:r>
            <a:r>
              <a:rPr sz="1300" b="0">
                <a:solidFill>
                  <a:srgbClr val="2B2B2B"/>
                </a:solidFill>
                <a:latin typeface="Segoe UI"/>
              </a:rPr>
              <a:t>Entered by month; totals and history shown; each appears as a dashboard chart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7 · DASHBOARD</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The dashboard fills itself as data comes in</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7</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6473952" cy="4289679"/>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23_dashboard_top.jpg"/>
          <p:cNvPicPr>
            <a:picLocks noChangeAspect="1"/>
          </p:cNvPicPr>
          <p:nvPr/>
        </p:nvPicPr>
        <p:blipFill>
          <a:blip r:embed="rId2"/>
          <a:srcRect/>
          <a:stretch>
            <a:fillRect/>
          </a:stretch>
        </p:blipFill>
        <p:spPr>
          <a:xfrm>
            <a:off x="548640" y="1371600"/>
            <a:ext cx="6400800" cy="4216527"/>
          </a:xfrm>
          <a:prstGeom prst="rect">
            <a:avLst/>
          </a:prstGeom>
        </p:spPr>
      </p:pic>
      <p:sp>
        <p:nvSpPr>
          <p:cNvPr id="12" name="TextBox 11"/>
          <p:cNvSpPr txBox="1"/>
          <p:nvPr/>
        </p:nvSpPr>
        <p:spPr>
          <a:xfrm>
            <a:off x="7315200" y="1371600"/>
            <a:ext cx="4389120" cy="4846320"/>
          </a:xfrm>
          <a:prstGeom prst="rect">
            <a:avLst/>
          </a:prstGeom>
          <a:noFill/>
        </p:spPr>
        <p:txBody>
          <a:bodyPr wrap="square">
            <a:spAutoFit/>
          </a:bodyPr>
          <a:lstStyle/>
          <a:p>
            <a:pPr>
              <a:spcAft>
                <a:spcPts val="800"/>
              </a:spcAft>
            </a:pPr>
            <a:r>
              <a:rPr sz="1300" b="1">
                <a:solidFill>
                  <a:srgbClr val="6F6A63"/>
                </a:solidFill>
                <a:latin typeface="Segoe UI"/>
              </a:rPr>
              <a:t>•  </a:t>
            </a:r>
            <a:r>
              <a:rPr sz="1300" b="0">
                <a:solidFill>
                  <a:srgbClr val="2B2B2B"/>
                </a:solidFill>
                <a:latin typeface="Segoe UI"/>
              </a:rPr>
              <a:t>24 participants · 24 pre / 20 post · 20 matched</a:t>
            </a:r>
          </a:p>
          <a:p>
            <a:pPr>
              <a:spcAft>
                <a:spcPts val="800"/>
              </a:spcAft>
            </a:pPr>
            <a:r>
              <a:rPr sz="1300" b="1">
                <a:solidFill>
                  <a:srgbClr val="6F6A63"/>
                </a:solidFill>
                <a:latin typeface="Segoe UI"/>
              </a:rPr>
              <a:t>•  </a:t>
            </a:r>
            <a:r>
              <a:rPr sz="1300" b="0">
                <a:solidFill>
                  <a:srgbClr val="2B2B2B"/>
                </a:solidFill>
                <a:latin typeface="Segoe UI"/>
              </a:rPr>
              <a:t>Top result: 85% improved on confidence addressing a rent or landlord issue</a:t>
            </a:r>
          </a:p>
          <a:p>
            <a:pPr>
              <a:spcAft>
                <a:spcPts val="800"/>
              </a:spcAft>
            </a:pPr>
            <a:r>
              <a:rPr sz="1300" b="1">
                <a:solidFill>
                  <a:srgbClr val="6F6A63"/>
                </a:solidFill>
                <a:latin typeface="Segoe UI"/>
              </a:rPr>
              <a:t>•  </a:t>
            </a:r>
            <a:r>
              <a:rPr sz="1300" b="0">
                <a:solidFill>
                  <a:srgbClr val="2B2B2B"/>
                </a:solidFill>
                <a:latin typeface="Segoe UI"/>
              </a:rPr>
              <a:t>Change is measured only for people who answered both pre and post</a:t>
            </a:r>
          </a:p>
          <a:p>
            <a:pPr>
              <a:spcAft>
                <a:spcPts val="800"/>
              </a:spcAft>
            </a:pPr>
            <a:r>
              <a:rPr sz="1300" b="1">
                <a:solidFill>
                  <a:srgbClr val="6F6A63"/>
                </a:solidFill>
                <a:latin typeface="Segoe UI"/>
              </a:rPr>
              <a:t>•  </a:t>
            </a:r>
            <a:r>
              <a:rPr sz="1300" b="0">
                <a:solidFill>
                  <a:srgbClr val="2B2B2B"/>
                </a:solidFill>
                <a:latin typeface="Segoe UI"/>
              </a:rPr>
              <a:t>Every chart has a table view and its own Excel download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7 · DASHBOARD</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Results from the synthetic data (native, editable charts)</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7</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Chart 9"/>
          <p:cNvGraphicFramePr>
            <a:graphicFrameLocks noGrp="1"/>
          </p:cNvGraphicFramePr>
          <p:nvPr/>
        </p:nvGraphicFramePr>
        <p:xfrm>
          <a:off x="548640" y="1325880"/>
          <a:ext cx="5577840" cy="2377440"/>
        </p:xfrm>
        <a:graphic>
          <a:graphicData uri="http://schemas.openxmlformats.org/drawingml/2006/chart">
            <c:chart xmlns:c="http://schemas.openxmlformats.org/drawingml/2006/chart" r:id="rId2"/>
          </a:graphicData>
        </a:graphic>
      </p:graphicFrame>
      <p:graphicFrame>
        <p:nvGraphicFramePr>
          <p:cNvPr id="11" name="Chart 10"/>
          <p:cNvGraphicFramePr>
            <a:graphicFrameLocks noGrp="1"/>
          </p:cNvGraphicFramePr>
          <p:nvPr/>
        </p:nvGraphicFramePr>
        <p:xfrm>
          <a:off x="548640" y="3840480"/>
          <a:ext cx="5486400" cy="2377440"/>
        </p:xfrm>
        <a:graphic>
          <a:graphicData uri="http://schemas.openxmlformats.org/drawingml/2006/chart">
            <c:chart xmlns:c="http://schemas.openxmlformats.org/drawingml/2006/chart" r:id="rId3"/>
          </a:graphicData>
        </a:graphic>
      </p:graphicFrame>
      <p:graphicFrame>
        <p:nvGraphicFramePr>
          <p:cNvPr id="12" name="Chart 11"/>
          <p:cNvGraphicFramePr>
            <a:graphicFrameLocks noGrp="1"/>
          </p:cNvGraphicFramePr>
          <p:nvPr/>
        </p:nvGraphicFramePr>
        <p:xfrm>
          <a:off x="6217920" y="3840480"/>
          <a:ext cx="5486400" cy="2377440"/>
        </p:xfrm>
        <a:graphic>
          <a:graphicData uri="http://schemas.openxmlformats.org/drawingml/2006/chart">
            <c:chart xmlns:c="http://schemas.openxmlformats.org/drawingml/2006/chart" r:id="rId4"/>
          </a:graphicData>
        </a:graphic>
      </p:graphicFrame>
      <p:graphicFrame>
        <p:nvGraphicFramePr>
          <p:cNvPr id="13" name="Chart 12"/>
          <p:cNvGraphicFramePr>
            <a:graphicFrameLocks noGrp="1"/>
          </p:cNvGraphicFramePr>
          <p:nvPr/>
        </p:nvGraphicFramePr>
        <p:xfrm>
          <a:off x="6217920" y="1325880"/>
          <a:ext cx="5486400" cy="2377440"/>
        </p:xfrm>
        <a:graphic>
          <a:graphicData uri="http://schemas.openxmlformats.org/drawingml/2006/chart">
            <c:chart xmlns:c="http://schemas.openxmlformats.org/drawingml/2006/chart" r:id="rId5"/>
          </a:graphicData>
        </a:graphic>
      </p:graphicFrame>
      <p:sp>
        <p:nvSpPr>
          <p:cNvPr id="14" name="TextBox 13"/>
          <p:cNvSpPr txBox="1"/>
          <p:nvPr/>
        </p:nvSpPr>
        <p:spPr>
          <a:xfrm>
            <a:off x="548640" y="6217920"/>
            <a:ext cx="10972800" cy="274320"/>
          </a:xfrm>
          <a:prstGeom prst="rect">
            <a:avLst/>
          </a:prstGeom>
          <a:noFill/>
        </p:spPr>
        <p:txBody>
          <a:bodyPr wrap="square">
            <a:spAutoFit/>
          </a:bodyPr>
          <a:lstStyle/>
          <a:p>
            <a:pPr>
              <a:spcAft>
                <a:spcPts val="600"/>
              </a:spcAft>
            </a:pPr>
            <a:r>
              <a:rPr sz="1000" b="0">
                <a:solidFill>
                  <a:srgbClr val="6F6A63"/>
                </a:solidFill>
                <a:latin typeface="Segoe UI"/>
              </a:rPr>
              <a:t>Matched participants only. The stress items are reverse-scored, so a higher average means less stress.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7 · DASHBOARD</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Who we serve, with privacy built in, and program activity</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7</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3" y="1335024"/>
            <a:ext cx="4279392" cy="2196672"/>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24_dashboard_demographics_CROP.jpg"/>
          <p:cNvPicPr>
            <a:picLocks noChangeAspect="1"/>
          </p:cNvPicPr>
          <p:nvPr/>
        </p:nvPicPr>
        <p:blipFill>
          <a:blip r:embed="rId2"/>
          <a:srcRect t="77000"/>
          <a:stretch>
            <a:fillRect/>
          </a:stretch>
        </p:blipFill>
        <p:spPr>
          <a:xfrm>
            <a:off x="548640" y="1371600"/>
            <a:ext cx="4206240" cy="2123520"/>
          </a:xfrm>
          <a:prstGeom prst="rect">
            <a:avLst/>
          </a:prstGeom>
        </p:spPr>
      </p:pic>
      <p:sp>
        <p:nvSpPr>
          <p:cNvPr id="12" name="TextBox 11"/>
          <p:cNvSpPr txBox="1"/>
          <p:nvPr/>
        </p:nvSpPr>
        <p:spPr>
          <a:xfrm>
            <a:off x="4892040" y="1371600"/>
            <a:ext cx="1051560" cy="2194560"/>
          </a:xfrm>
          <a:prstGeom prst="rect">
            <a:avLst/>
          </a:prstGeom>
          <a:noFill/>
        </p:spPr>
        <p:txBody>
          <a:bodyPr wrap="square">
            <a:spAutoFit/>
          </a:bodyPr>
          <a:lstStyle/>
          <a:p>
            <a:pPr>
              <a:spcAft>
                <a:spcPts val="600"/>
              </a:spcAft>
            </a:pPr>
            <a:r>
              <a:rPr sz="1050" b="0">
                <a:solidFill>
                  <a:srgbClr val="6F6A63"/>
                </a:solidFill>
                <a:latin typeface="Segoe UI"/>
              </a:rPr>
              <a:t>Groups under 5 people are combined, so no one can be identified.</a:t>
            </a:r>
          </a:p>
        </p:txBody>
      </p:sp>
      <p:graphicFrame>
        <p:nvGraphicFramePr>
          <p:cNvPr id="13" name="Chart 12"/>
          <p:cNvGraphicFramePr>
            <a:graphicFrameLocks noGrp="1"/>
          </p:cNvGraphicFramePr>
          <p:nvPr/>
        </p:nvGraphicFramePr>
        <p:xfrm>
          <a:off x="6035040" y="1325880"/>
          <a:ext cx="5577840" cy="2377440"/>
        </p:xfrm>
        <a:graphic>
          <a:graphicData uri="http://schemas.openxmlformats.org/drawingml/2006/chart">
            <c:chart xmlns:c="http://schemas.openxmlformats.org/drawingml/2006/chart" r:id="rId3"/>
          </a:graphicData>
        </a:graphic>
      </p:graphicFrame>
      <p:graphicFrame>
        <p:nvGraphicFramePr>
          <p:cNvPr id="14" name="Chart 13"/>
          <p:cNvGraphicFramePr>
            <a:graphicFrameLocks noGrp="1"/>
          </p:cNvGraphicFramePr>
          <p:nvPr/>
        </p:nvGraphicFramePr>
        <p:xfrm>
          <a:off x="548640" y="3977639"/>
          <a:ext cx="11064240" cy="2194560"/>
        </p:xfrm>
        <a:graphic>
          <a:graphicData uri="http://schemas.openxmlformats.org/drawingml/2006/chart">
            <c:chart xmlns:c="http://schemas.openxmlformats.org/drawingml/2006/chart" r:id="rId4"/>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STEP 7 · DOWNLOADS</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Everything downloads, in formats nonprofits already use</a:t>
            </a:r>
          </a:p>
        </p:txBody>
      </p:sp>
      <p:sp>
        <p:nvSpPr>
          <p:cNvPr id="5" name="Rounded Rectangle 4"/>
          <p:cNvSpPr/>
          <p:nvPr/>
        </p:nvSpPr>
        <p:spPr>
          <a:xfrm>
            <a:off x="10012680" y="292608"/>
            <a:ext cx="1645920" cy="347472"/>
          </a:xfrm>
          <a:prstGeom prst="round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B2B2B"/>
                </a:solidFill>
                <a:latin typeface="Segoe UI"/>
              </a:rPr>
              <a:t>Step 7</a:t>
            </a:r>
          </a:p>
        </p:txBody>
      </p:sp>
      <p:sp>
        <p:nvSpPr>
          <p:cNvPr id="6" name="TextBox 5"/>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7" name="Oval 6"/>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371600"/>
            <a:ext cx="5486400" cy="4754880"/>
          </a:xfrm>
          <a:prstGeom prst="rect">
            <a:avLst/>
          </a:prstGeom>
          <a:noFill/>
        </p:spPr>
        <p:txBody>
          <a:bodyPr wrap="square">
            <a:spAutoFit/>
          </a:bodyPr>
          <a:lstStyle/>
          <a:p>
            <a:pPr>
              <a:spcAft>
                <a:spcPts val="800"/>
              </a:spcAft>
            </a:pPr>
            <a:r>
              <a:rPr sz="1350" b="1">
                <a:solidFill>
                  <a:srgbClr val="2B2B2B"/>
                </a:solidFill>
                <a:latin typeface="Segoe UI"/>
              </a:rPr>
              <a:t>Each chart as Excel: </a:t>
            </a:r>
            <a:r>
              <a:rPr sz="1350" b="0">
                <a:solidFill>
                  <a:srgbClr val="2B2B2B"/>
                </a:solidFill>
                <a:latin typeface="Segoe UI"/>
              </a:rPr>
              <a:t>its data plus a native Excel chart</a:t>
            </a:r>
          </a:p>
          <a:p>
            <a:pPr>
              <a:spcAft>
                <a:spcPts val="800"/>
              </a:spcAft>
            </a:pPr>
            <a:r>
              <a:rPr sz="1350" b="1">
                <a:solidFill>
                  <a:srgbClr val="2B2B2B"/>
                </a:solidFill>
                <a:latin typeface="Segoe UI"/>
              </a:rPr>
              <a:t>All data as Excel: </a:t>
            </a:r>
            <a:r>
              <a:rPr sz="1350" b="0">
                <a:solidFill>
                  <a:srgbClr val="2B2B2B"/>
                </a:solidFill>
                <a:latin typeface="Segoe UI"/>
              </a:rPr>
              <a:t>codebook, one sheet per tool (participant code × wave), program numbers</a:t>
            </a:r>
          </a:p>
          <a:p>
            <a:pPr>
              <a:spcAft>
                <a:spcPts val="800"/>
              </a:spcAft>
            </a:pPr>
            <a:r>
              <a:rPr sz="1350" b="1">
                <a:solidFill>
                  <a:srgbClr val="2B2B2B"/>
                </a:solidFill>
                <a:latin typeface="Segoe UI"/>
              </a:rPr>
              <a:t>Impact report as PowerPoint: </a:t>
            </a:r>
            <a:r>
              <a:rPr sz="1350" b="0">
                <a:solidFill>
                  <a:srgbClr val="2B2B2B"/>
                </a:solidFill>
                <a:latin typeface="Segoe UI"/>
              </a:rPr>
              <a:t>theory of change, headline numbers, every chart (editable), quotes, method</a:t>
            </a:r>
          </a:p>
          <a:p>
            <a:pPr>
              <a:spcAft>
                <a:spcPts val="800"/>
              </a:spcAft>
            </a:pPr>
            <a:r>
              <a:rPr sz="1350" b="1">
                <a:solidFill>
                  <a:srgbClr val="2B2B2B"/>
                </a:solidFill>
                <a:latin typeface="Segoe UI"/>
              </a:rPr>
              <a:t>Studio PowerPoint: </a:t>
            </a:r>
            <a:r>
              <a:rPr sz="1350" b="0">
                <a:solidFill>
                  <a:srgbClr val="2B2B2B"/>
                </a:solidFill>
                <a:latin typeface="Segoe UI"/>
              </a:rPr>
              <a:t>logic model, measurement plan, tool question lists, funder alignment, sources</a:t>
            </a:r>
          </a:p>
          <a:p>
            <a:pPr>
              <a:spcAft>
                <a:spcPts val="800"/>
              </a:spcAft>
            </a:pPr>
            <a:r>
              <a:rPr sz="1350" b="1">
                <a:solidFill>
                  <a:srgbClr val="6F6A63"/>
                </a:solidFill>
                <a:latin typeface="Segoe UI"/>
              </a:rPr>
              <a:t>•  </a:t>
            </a:r>
            <a:r>
              <a:rPr sz="1350" b="0">
                <a:solidFill>
                  <a:srgbClr val="2B2B2B"/>
                </a:solidFill>
                <a:latin typeface="Segoe UI"/>
              </a:rPr>
              <a:t>Text that starts with = + - @ is escaped so it can't run as a spreadsheet formula</a:t>
            </a:r>
          </a:p>
        </p:txBody>
      </p:sp>
      <p:sp>
        <p:nvSpPr>
          <p:cNvPr id="11" name="Rectangle 10"/>
          <p:cNvSpPr/>
          <p:nvPr/>
        </p:nvSpPr>
        <p:spPr>
          <a:xfrm>
            <a:off x="6400800" y="1371600"/>
            <a:ext cx="64008" cy="2377440"/>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64808" y="1371600"/>
            <a:ext cx="5148072" cy="2377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629400" y="1463040"/>
            <a:ext cx="4846320" cy="2194560"/>
          </a:xfrm>
          <a:prstGeom prst="rect">
            <a:avLst/>
          </a:prstGeom>
          <a:noFill/>
        </p:spPr>
        <p:txBody>
          <a:bodyPr wrap="square">
            <a:spAutoFit/>
          </a:bodyPr>
          <a:lstStyle/>
          <a:p>
            <a:pPr>
              <a:spcAft>
                <a:spcPts val="400"/>
              </a:spcAft>
            </a:pPr>
            <a:r>
              <a:rPr sz="1200" b="1">
                <a:solidFill>
                  <a:srgbClr val="2B2B2B"/>
                </a:solidFill>
                <a:latin typeface="Segoe UI"/>
              </a:rPr>
              <a:t>From this run (in runs/2026-10-20_live_demo/)</a:t>
            </a:r>
          </a:p>
          <a:p>
            <a:pPr>
              <a:spcAft>
                <a:spcPts val="400"/>
              </a:spcAft>
            </a:pPr>
            <a:r>
              <a:rPr sz="1200" b="0">
                <a:solidFill>
                  <a:srgbClr val="2B2B2B"/>
                </a:solidFill>
                <a:latin typeface="Segoe UI"/>
              </a:rPr>
              <a:t>impact_report.pptx · survey_data.xlsx · dashboard.json · studio.json (full transcript, logic model, plan, sources) · run_log_tools_collect.json · participant_codes.json</a:t>
            </a:r>
          </a:p>
        </p:txBody>
      </p:sp>
      <p:sp>
        <p:nvSpPr>
          <p:cNvPr id="14" name="Rectangle 13"/>
          <p:cNvSpPr/>
          <p:nvPr/>
        </p:nvSpPr>
        <p:spPr>
          <a:xfrm>
            <a:off x="6400800" y="3977639"/>
            <a:ext cx="64008" cy="2148840"/>
          </a:xfrm>
          <a:prstGeom prst="rect">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64808" y="3977639"/>
            <a:ext cx="5148072" cy="2148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629400" y="4069079"/>
            <a:ext cx="4846320" cy="1965960"/>
          </a:xfrm>
          <a:prstGeom prst="rect">
            <a:avLst/>
          </a:prstGeom>
          <a:noFill/>
        </p:spPr>
        <p:txBody>
          <a:bodyPr wrap="square">
            <a:spAutoFit/>
          </a:bodyPr>
          <a:lstStyle/>
          <a:p>
            <a:pPr>
              <a:spcAft>
                <a:spcPts val="400"/>
              </a:spcAft>
            </a:pPr>
            <a:r>
              <a:rPr sz="1150" b="1">
                <a:solidFill>
                  <a:srgbClr val="2B2B2B"/>
                </a:solidFill>
                <a:latin typeface="Segoe UI"/>
              </a:rPr>
              <a:t>"In their words" (synthetic reflections)</a:t>
            </a:r>
          </a:p>
          <a:p>
            <a:pPr>
              <a:spcAft>
                <a:spcPts val="400"/>
              </a:spcAft>
            </a:pPr>
            <a:r>
              <a:rPr sz="1150" b="0">
                <a:solidFill>
                  <a:srgbClr val="2B2B2B"/>
                </a:solidFill>
                <a:latin typeface="Segoe UI"/>
              </a:rPr>
              <a:t>“When the landlord tried to raise the rent, my case manager helped me talk to him.”
“I learned to put rent first and plan the rest around it.”
“My kids have their own beds now. They sleep through the night.”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BEHIND THE SCENES</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Under the hood: cost, time and accountability</a:t>
            </a:r>
          </a:p>
        </p:txBody>
      </p:sp>
      <p:sp>
        <p:nvSpPr>
          <p:cNvPr id="5" name="TextBox 4"/>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6" name="Oval 5"/>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sosceles Triangle 7"/>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520440" cy="1280160"/>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54480"/>
            <a:ext cx="3200400" cy="548640"/>
          </a:xfrm>
          <a:prstGeom prst="rect">
            <a:avLst/>
          </a:prstGeom>
          <a:noFill/>
        </p:spPr>
        <p:txBody>
          <a:bodyPr wrap="square">
            <a:spAutoFit/>
          </a:bodyPr>
          <a:lstStyle/>
          <a:p>
            <a:pPr>
              <a:spcAft>
                <a:spcPts val="600"/>
              </a:spcAft>
            </a:pPr>
            <a:r>
              <a:rPr sz="2600" b="1">
                <a:solidFill>
                  <a:srgbClr val="3E63B0"/>
                </a:solidFill>
                <a:latin typeface="Century Gothic"/>
              </a:rPr>
              <a:t>28</a:t>
            </a:r>
          </a:p>
        </p:txBody>
      </p:sp>
      <p:sp>
        <p:nvSpPr>
          <p:cNvPr id="11" name="TextBox 10"/>
          <p:cNvSpPr txBox="1"/>
          <p:nvPr/>
        </p:nvSpPr>
        <p:spPr>
          <a:xfrm>
            <a:off x="731520" y="2167128"/>
            <a:ext cx="3200400" cy="457200"/>
          </a:xfrm>
          <a:prstGeom prst="rect">
            <a:avLst/>
          </a:prstGeom>
          <a:noFill/>
        </p:spPr>
        <p:txBody>
          <a:bodyPr wrap="square">
            <a:spAutoFit/>
          </a:bodyPr>
          <a:lstStyle/>
          <a:p>
            <a:pPr>
              <a:spcAft>
                <a:spcPts val="600"/>
              </a:spcAft>
            </a:pPr>
            <a:r>
              <a:rPr sz="1200" b="0">
                <a:solidFill>
                  <a:srgbClr val="6F6A63"/>
                </a:solidFill>
                <a:latin typeface="Segoe UI"/>
              </a:rPr>
              <a:t>agent runs</a:t>
            </a:r>
          </a:p>
        </p:txBody>
      </p:sp>
      <p:sp>
        <p:nvSpPr>
          <p:cNvPr id="12" name="Rectangle 11"/>
          <p:cNvSpPr/>
          <p:nvPr/>
        </p:nvSpPr>
        <p:spPr>
          <a:xfrm>
            <a:off x="4297679" y="1417320"/>
            <a:ext cx="3520440" cy="1280160"/>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1554480"/>
            <a:ext cx="3200400" cy="548640"/>
          </a:xfrm>
          <a:prstGeom prst="rect">
            <a:avLst/>
          </a:prstGeom>
          <a:noFill/>
        </p:spPr>
        <p:txBody>
          <a:bodyPr wrap="square">
            <a:spAutoFit/>
          </a:bodyPr>
          <a:lstStyle/>
          <a:p>
            <a:pPr>
              <a:spcAft>
                <a:spcPts val="600"/>
              </a:spcAft>
            </a:pPr>
            <a:r>
              <a:rPr sz="2600" b="1">
                <a:solidFill>
                  <a:srgbClr val="D96C4F"/>
                </a:solidFill>
                <a:latin typeface="Century Gothic"/>
              </a:rPr>
              <a:t>56</a:t>
            </a:r>
          </a:p>
        </p:txBody>
      </p:sp>
      <p:sp>
        <p:nvSpPr>
          <p:cNvPr id="14" name="TextBox 13"/>
          <p:cNvSpPr txBox="1"/>
          <p:nvPr/>
        </p:nvSpPr>
        <p:spPr>
          <a:xfrm>
            <a:off x="4480559" y="2167128"/>
            <a:ext cx="3200400" cy="457200"/>
          </a:xfrm>
          <a:prstGeom prst="rect">
            <a:avLst/>
          </a:prstGeom>
          <a:noFill/>
        </p:spPr>
        <p:txBody>
          <a:bodyPr wrap="square">
            <a:spAutoFit/>
          </a:bodyPr>
          <a:lstStyle/>
          <a:p>
            <a:pPr>
              <a:spcAft>
                <a:spcPts val="600"/>
              </a:spcAft>
            </a:pPr>
            <a:r>
              <a:rPr sz="1200" b="0">
                <a:solidFill>
                  <a:srgbClr val="6F6A63"/>
                </a:solidFill>
                <a:latin typeface="Segoe UI"/>
              </a:rPr>
              <a:t>model requests</a:t>
            </a:r>
          </a:p>
        </p:txBody>
      </p:sp>
      <p:sp>
        <p:nvSpPr>
          <p:cNvPr id="15" name="Rectangle 14"/>
          <p:cNvSpPr/>
          <p:nvPr/>
        </p:nvSpPr>
        <p:spPr>
          <a:xfrm>
            <a:off x="8046719" y="1417320"/>
            <a:ext cx="3520440" cy="1280160"/>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9" y="1554480"/>
            <a:ext cx="3200400" cy="548640"/>
          </a:xfrm>
          <a:prstGeom prst="rect">
            <a:avLst/>
          </a:prstGeom>
          <a:noFill/>
        </p:spPr>
        <p:txBody>
          <a:bodyPr wrap="square">
            <a:spAutoFit/>
          </a:bodyPr>
          <a:lstStyle/>
          <a:p>
            <a:pPr>
              <a:spcAft>
                <a:spcPts val="600"/>
              </a:spcAft>
            </a:pPr>
            <a:r>
              <a:rPr sz="2600" b="1">
                <a:solidFill>
                  <a:srgbClr val="4E8C7A"/>
                </a:solidFill>
                <a:latin typeface="Century Gothic"/>
              </a:rPr>
              <a:t>298K / 40K</a:t>
            </a:r>
          </a:p>
        </p:txBody>
      </p:sp>
      <p:sp>
        <p:nvSpPr>
          <p:cNvPr id="17" name="TextBox 16"/>
          <p:cNvSpPr txBox="1"/>
          <p:nvPr/>
        </p:nvSpPr>
        <p:spPr>
          <a:xfrm>
            <a:off x="8229599" y="2167128"/>
            <a:ext cx="3200400" cy="457200"/>
          </a:xfrm>
          <a:prstGeom prst="rect">
            <a:avLst/>
          </a:prstGeom>
          <a:noFill/>
        </p:spPr>
        <p:txBody>
          <a:bodyPr wrap="square">
            <a:spAutoFit/>
          </a:bodyPr>
          <a:lstStyle/>
          <a:p>
            <a:pPr>
              <a:spcAft>
                <a:spcPts val="600"/>
              </a:spcAft>
            </a:pPr>
            <a:r>
              <a:rPr sz="1200" b="0">
                <a:solidFill>
                  <a:srgbClr val="6F6A63"/>
                </a:solidFill>
                <a:latin typeface="Segoe UI"/>
              </a:rPr>
              <a:t>input / output tokens</a:t>
            </a:r>
          </a:p>
        </p:txBody>
      </p:sp>
      <p:sp>
        <p:nvSpPr>
          <p:cNvPr id="18" name="Rectangle 17"/>
          <p:cNvSpPr/>
          <p:nvPr/>
        </p:nvSpPr>
        <p:spPr>
          <a:xfrm>
            <a:off x="548640" y="2926080"/>
            <a:ext cx="3520440" cy="1280160"/>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063240"/>
            <a:ext cx="3200400" cy="548640"/>
          </a:xfrm>
          <a:prstGeom prst="rect">
            <a:avLst/>
          </a:prstGeom>
          <a:noFill/>
        </p:spPr>
        <p:txBody>
          <a:bodyPr wrap="square">
            <a:spAutoFit/>
          </a:bodyPr>
          <a:lstStyle/>
          <a:p>
            <a:pPr>
              <a:spcAft>
                <a:spcPts val="600"/>
              </a:spcAft>
            </a:pPr>
            <a:r>
              <a:rPr sz="2600" b="1">
                <a:solidFill>
                  <a:srgbClr val="E8B84A"/>
                </a:solidFill>
                <a:latin typeface="Century Gothic"/>
              </a:rPr>
              <a:t>~18 min</a:t>
            </a:r>
          </a:p>
        </p:txBody>
      </p:sp>
      <p:sp>
        <p:nvSpPr>
          <p:cNvPr id="20" name="TextBox 19"/>
          <p:cNvSpPr txBox="1"/>
          <p:nvPr/>
        </p:nvSpPr>
        <p:spPr>
          <a:xfrm>
            <a:off x="731520" y="3675888"/>
            <a:ext cx="3200400" cy="457200"/>
          </a:xfrm>
          <a:prstGeom prst="rect">
            <a:avLst/>
          </a:prstGeom>
          <a:noFill/>
        </p:spPr>
        <p:txBody>
          <a:bodyPr wrap="square">
            <a:spAutoFit/>
          </a:bodyPr>
          <a:lstStyle/>
          <a:p>
            <a:pPr>
              <a:spcAft>
                <a:spcPts val="600"/>
              </a:spcAft>
            </a:pPr>
            <a:r>
              <a:rPr sz="1200" b="0">
                <a:solidFill>
                  <a:srgbClr val="6F6A63"/>
                </a:solidFill>
                <a:latin typeface="Segoe UI"/>
              </a:rPr>
              <a:t>whole live test</a:t>
            </a:r>
          </a:p>
        </p:txBody>
      </p:sp>
      <p:sp>
        <p:nvSpPr>
          <p:cNvPr id="21" name="Rectangle 20"/>
          <p:cNvSpPr/>
          <p:nvPr/>
        </p:nvSpPr>
        <p:spPr>
          <a:xfrm>
            <a:off x="4297679" y="2926080"/>
            <a:ext cx="3520440" cy="1280160"/>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59" y="3063240"/>
            <a:ext cx="3200400" cy="548640"/>
          </a:xfrm>
          <a:prstGeom prst="rect">
            <a:avLst/>
          </a:prstGeom>
          <a:noFill/>
        </p:spPr>
        <p:txBody>
          <a:bodyPr wrap="square">
            <a:spAutoFit/>
          </a:bodyPr>
          <a:lstStyle/>
          <a:p>
            <a:pPr>
              <a:spcAft>
                <a:spcPts val="600"/>
              </a:spcAft>
            </a:pPr>
            <a:r>
              <a:rPr sz="2600" b="1">
                <a:solidFill>
                  <a:srgbClr val="8A6FB0"/>
                </a:solidFill>
                <a:latin typeface="Century Gothic"/>
              </a:rPr>
              <a:t>3</a:t>
            </a:r>
          </a:p>
        </p:txBody>
      </p:sp>
      <p:sp>
        <p:nvSpPr>
          <p:cNvPr id="23" name="TextBox 22"/>
          <p:cNvSpPr txBox="1"/>
          <p:nvPr/>
        </p:nvSpPr>
        <p:spPr>
          <a:xfrm>
            <a:off x="4480559" y="3675888"/>
            <a:ext cx="3200400" cy="457200"/>
          </a:xfrm>
          <a:prstGeom prst="rect">
            <a:avLst/>
          </a:prstGeom>
          <a:noFill/>
        </p:spPr>
        <p:txBody>
          <a:bodyPr wrap="square">
            <a:spAutoFit/>
          </a:bodyPr>
          <a:lstStyle/>
          <a:p>
            <a:pPr>
              <a:spcAft>
                <a:spcPts val="600"/>
              </a:spcAft>
            </a:pPr>
            <a:r>
              <a:rPr sz="1200" b="0">
                <a:solidFill>
                  <a:srgbClr val="6F6A63"/>
                </a:solidFill>
                <a:latin typeface="Segoe UI"/>
              </a:rPr>
              <a:t>extra consults refused by budget</a:t>
            </a:r>
          </a:p>
        </p:txBody>
      </p:sp>
      <p:sp>
        <p:nvSpPr>
          <p:cNvPr id="24" name="Rectangle 23"/>
          <p:cNvSpPr/>
          <p:nvPr/>
        </p:nvSpPr>
        <p:spPr>
          <a:xfrm>
            <a:off x="8046719" y="2926080"/>
            <a:ext cx="3520440" cy="1280160"/>
          </a:xfrm>
          <a:prstGeom prst="rect">
            <a:avLst/>
          </a:prstGeom>
          <a:solidFill>
            <a:srgbClr val="FFFFFF"/>
          </a:solidFill>
          <a:ln w="9525">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599" y="3063240"/>
            <a:ext cx="3200400" cy="548640"/>
          </a:xfrm>
          <a:prstGeom prst="rect">
            <a:avLst/>
          </a:prstGeom>
          <a:noFill/>
        </p:spPr>
        <p:txBody>
          <a:bodyPr wrap="square">
            <a:spAutoFit/>
          </a:bodyPr>
          <a:lstStyle/>
          <a:p>
            <a:pPr>
              <a:spcAft>
                <a:spcPts val="600"/>
              </a:spcAft>
            </a:pPr>
            <a:r>
              <a:rPr sz="2600" b="1">
                <a:solidFill>
                  <a:srgbClr val="2B2B2B"/>
                </a:solidFill>
                <a:latin typeface="Century Gothic"/>
              </a:rPr>
              <a:t>170</a:t>
            </a:r>
          </a:p>
        </p:txBody>
      </p:sp>
      <p:sp>
        <p:nvSpPr>
          <p:cNvPr id="26" name="TextBox 25"/>
          <p:cNvSpPr txBox="1"/>
          <p:nvPr/>
        </p:nvSpPr>
        <p:spPr>
          <a:xfrm>
            <a:off x="8229599" y="3675888"/>
            <a:ext cx="3200400" cy="457200"/>
          </a:xfrm>
          <a:prstGeom prst="rect">
            <a:avLst/>
          </a:prstGeom>
          <a:noFill/>
        </p:spPr>
        <p:txBody>
          <a:bodyPr wrap="square">
            <a:spAutoFit/>
          </a:bodyPr>
          <a:lstStyle/>
          <a:p>
            <a:pPr>
              <a:spcAft>
                <a:spcPts val="600"/>
              </a:spcAft>
            </a:pPr>
            <a:r>
              <a:rPr sz="1200" b="0">
                <a:solidFill>
                  <a:srgbClr val="6F6A63"/>
                </a:solidFill>
                <a:latin typeface="Segoe UI"/>
              </a:rPr>
              <a:t>audit entries, hash chain intact</a:t>
            </a:r>
          </a:p>
        </p:txBody>
      </p:sp>
      <p:sp>
        <p:nvSpPr>
          <p:cNvPr id="27" name="TextBox 26"/>
          <p:cNvSpPr txBox="1"/>
          <p:nvPr/>
        </p:nvSpPr>
        <p:spPr>
          <a:xfrm>
            <a:off x="548640" y="4617720"/>
            <a:ext cx="11064240" cy="1645920"/>
          </a:xfrm>
          <a:prstGeom prst="rect">
            <a:avLst/>
          </a:prstGeom>
          <a:noFill/>
        </p:spPr>
        <p:txBody>
          <a:bodyPr wrap="square">
            <a:spAutoFit/>
          </a:bodyPr>
          <a:lstStyle/>
          <a:p>
            <a:pPr>
              <a:spcAft>
                <a:spcPts val="800"/>
              </a:spcAft>
            </a:pPr>
            <a:r>
              <a:rPr sz="1250" b="1">
                <a:solidFill>
                  <a:srgbClr val="6F6A63"/>
                </a:solidFill>
                <a:latin typeface="Segoe UI"/>
              </a:rPr>
              <a:t>•  </a:t>
            </a:r>
            <a:r>
              <a:rPr sz="1250" b="0">
                <a:solidFill>
                  <a:srgbClr val="2B2B2B"/>
                </a:solidFill>
                <a:latin typeface="Segoe UI"/>
              </a:rPr>
              <a:t>Most tokens went to the Team Lead (≈155K in) and the Funder Researcher's web research (≈81K in); the Survey Review Bot used ≈4K</a:t>
            </a:r>
          </a:p>
          <a:p>
            <a:pPr>
              <a:spcAft>
                <a:spcPts val="800"/>
              </a:spcAft>
            </a:pPr>
            <a:r>
              <a:rPr sz="1250" b="1">
                <a:solidFill>
                  <a:srgbClr val="6F6A63"/>
                </a:solidFill>
                <a:latin typeface="Segoe UI"/>
              </a:rPr>
              <a:t>•  </a:t>
            </a:r>
            <a:r>
              <a:rPr sz="1250" b="0">
                <a:solidFill>
                  <a:srgbClr val="2B2B2B"/>
                </a:solidFill>
                <a:latin typeface="Segoe UI"/>
              </a:rPr>
              <a:t>Every agent step, hand-off, approval, download and sign-in is in output/audit_log.json; no passwords, PINs or uploaded text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FINDINGS</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What the test taught us, and what I fixed on the spot</a:t>
            </a:r>
          </a:p>
        </p:txBody>
      </p:sp>
      <p:sp>
        <p:nvSpPr>
          <p:cNvPr id="5" name="TextBox 4"/>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6" name="Oval 5"/>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sosceles Triangle 7"/>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71600"/>
            <a:ext cx="5486400" cy="4846320"/>
          </a:xfrm>
          <a:prstGeom prst="rect">
            <a:avLst/>
          </a:prstGeom>
          <a:noFill/>
        </p:spPr>
        <p:txBody>
          <a:bodyPr wrap="square">
            <a:spAutoFit/>
          </a:bodyPr>
          <a:lstStyle/>
          <a:p>
            <a:pPr>
              <a:spcAft>
                <a:spcPts val="800"/>
              </a:spcAft>
            </a:pPr>
            <a:r>
              <a:rPr sz="1300" b="1">
                <a:solidFill>
                  <a:srgbClr val="4E8C7A"/>
                </a:solidFill>
                <a:latin typeface="Segoe UI"/>
              </a:rPr>
              <a:t>Working well: </a:t>
            </a:r>
            <a:r>
              <a:rPr sz="1300" b="0">
                <a:solidFill>
                  <a:srgbClr val="2B2B2B"/>
                </a:solidFill>
                <a:latin typeface="Segoe UI"/>
              </a:rPr>
              <a:t>live web research with verified local funders; real peer review; metrics that respect licensing and privacy</a:t>
            </a:r>
          </a:p>
          <a:p>
            <a:pPr>
              <a:spcAft>
                <a:spcPts val="800"/>
              </a:spcAft>
            </a:pPr>
            <a:r>
              <a:rPr sz="1300" b="1">
                <a:solidFill>
                  <a:srgbClr val="4E8C7A"/>
                </a:solidFill>
                <a:latin typeface="Segoe UI"/>
              </a:rPr>
              <a:t>Working well: </a:t>
            </a:r>
            <a:r>
              <a:rPr sz="1300" b="0">
                <a:solidFill>
                  <a:srgbClr val="2B2B2B"/>
                </a:solidFill>
                <a:latin typeface="Segoe UI"/>
              </a:rPr>
              <a:t>the Survey Review Bot caught reverse-scoring and a missing open question</a:t>
            </a:r>
          </a:p>
          <a:p>
            <a:pPr>
              <a:spcAft>
                <a:spcPts val="800"/>
              </a:spcAft>
            </a:pPr>
            <a:r>
              <a:rPr sz="1300" b="1">
                <a:solidFill>
                  <a:srgbClr val="4E8C7A"/>
                </a:solidFill>
                <a:latin typeface="Segoe UI"/>
              </a:rPr>
              <a:t>Working well: </a:t>
            </a:r>
            <a:r>
              <a:rPr sz="1300" b="0">
                <a:solidFill>
                  <a:srgbClr val="2B2B2B"/>
                </a:solidFill>
                <a:latin typeface="Segoe UI"/>
              </a:rPr>
              <a:t>pre/post matching, suppression of small groups, all downloads</a:t>
            </a:r>
          </a:p>
          <a:p>
            <a:pPr>
              <a:spcAft>
                <a:spcPts val="800"/>
              </a:spcAft>
            </a:pPr>
            <a:r>
              <a:rPr sz="1300" b="1">
                <a:solidFill>
                  <a:srgbClr val="E8B84A"/>
                </a:solidFill>
                <a:latin typeface="Segoe UI"/>
              </a:rPr>
              <a:t>To watch: </a:t>
            </a:r>
            <a:r>
              <a:rPr sz="1300" b="0">
                <a:solidFill>
                  <a:srgbClr val="2B2B2B"/>
                </a:solidFill>
                <a:latin typeface="Segoe UI"/>
              </a:rPr>
              <a:t>intake is fast (~15 s); drafting and metrics take 1–4 minutes each</a:t>
            </a:r>
          </a:p>
        </p:txBody>
      </p:sp>
      <p:sp>
        <p:nvSpPr>
          <p:cNvPr id="10" name="TextBox 9"/>
          <p:cNvSpPr txBox="1"/>
          <p:nvPr/>
        </p:nvSpPr>
        <p:spPr>
          <a:xfrm>
            <a:off x="6309360" y="1371600"/>
            <a:ext cx="5303520" cy="4846320"/>
          </a:xfrm>
          <a:prstGeom prst="rect">
            <a:avLst/>
          </a:prstGeom>
          <a:noFill/>
        </p:spPr>
        <p:txBody>
          <a:bodyPr wrap="square">
            <a:spAutoFit/>
          </a:bodyPr>
          <a:lstStyle/>
          <a:p>
            <a:pPr>
              <a:spcAft>
                <a:spcPts val="800"/>
              </a:spcAft>
            </a:pPr>
            <a:r>
              <a:rPr sz="1300" b="1">
                <a:solidFill>
                  <a:srgbClr val="3E63B0"/>
                </a:solidFill>
                <a:latin typeface="Segoe UI"/>
              </a:rPr>
              <a:t>Fixed: </a:t>
            </a:r>
            <a:r>
              <a:rPr sz="1300" b="0">
                <a:solidFill>
                  <a:srgbClr val="2B2B2B"/>
                </a:solidFill>
                <a:latin typeface="Segoe UI"/>
              </a:rPr>
              <a:t>test answer matching now uses whole words (it mis-sent one answer)</a:t>
            </a:r>
          </a:p>
          <a:p>
            <a:pPr>
              <a:spcAft>
                <a:spcPts val="800"/>
              </a:spcAft>
            </a:pPr>
            <a:r>
              <a:rPr sz="1300" b="1">
                <a:solidFill>
                  <a:srgbClr val="3E63B0"/>
                </a:solidFill>
                <a:latin typeface="Segoe UI"/>
              </a:rPr>
              <a:t>Fixed: </a:t>
            </a:r>
            <a:r>
              <a:rPr sz="1300" b="0">
                <a:solidFill>
                  <a:srgbClr val="2B2B2B"/>
                </a:solidFill>
                <a:latin typeface="Segoe UI"/>
              </a:rPr>
              <a:t>program numbers matched to the AI's indicator names, with realistic values; re-runs replace, not duplicate</a:t>
            </a:r>
          </a:p>
          <a:p>
            <a:pPr>
              <a:spcAft>
                <a:spcPts val="800"/>
              </a:spcAft>
            </a:pPr>
            <a:r>
              <a:rPr sz="1300" b="1">
                <a:solidFill>
                  <a:srgbClr val="3E63B0"/>
                </a:solidFill>
                <a:latin typeface="Segoe UI"/>
              </a:rPr>
              <a:t>Fixed: </a:t>
            </a:r>
            <a:r>
              <a:rPr sz="1300" b="0">
                <a:solidFill>
                  <a:srgbClr val="2B2B2B"/>
                </a:solidFill>
                <a:latin typeface="Segoe UI"/>
              </a:rPr>
              <a:t>charts now say 'higher = better' for reverse-scored metrics</a:t>
            </a:r>
          </a:p>
          <a:p>
            <a:pPr>
              <a:spcAft>
                <a:spcPts val="800"/>
              </a:spcAft>
            </a:pPr>
            <a:r>
              <a:rPr sz="1300" b="1">
                <a:solidFill>
                  <a:srgbClr val="3E63B0"/>
                </a:solidFill>
                <a:latin typeface="Segoe UI"/>
              </a:rPr>
              <a:t>Fixed: </a:t>
            </a:r>
            <a:r>
              <a:rPr sz="1300" b="0">
                <a:solidFill>
                  <a:srgbClr val="2B2B2B"/>
                </a:solidFill>
                <a:latin typeface="Segoe UI"/>
              </a:rPr>
              <a:t>squished 'Send to team' button; long tool descriptions clamped</a:t>
            </a:r>
          </a:p>
          <a:p>
            <a:pPr>
              <a:spcAft>
                <a:spcPts val="800"/>
              </a:spcAft>
            </a:pPr>
            <a:r>
              <a:rPr sz="1300" b="1">
                <a:solidFill>
                  <a:srgbClr val="D96C4F"/>
                </a:solidFill>
                <a:latin typeface="Segoe UI"/>
              </a:rPr>
              <a:t>Next: </a:t>
            </a:r>
            <a:r>
              <a:rPr sz="1300" b="0">
                <a:solidFill>
                  <a:srgbClr val="2B2B2B"/>
                </a:solidFill>
                <a:latin typeface="Segoe UI"/>
              </a:rPr>
              <a:t>Privacy Guard for quotes, password reset, PDF report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320040"/>
          </a:xfrm>
          <a:prstGeom prst="rect">
            <a:avLst/>
          </a:prstGeom>
          <a:noFill/>
        </p:spPr>
        <p:txBody>
          <a:bodyPr wrap="square">
            <a:spAutoFit/>
          </a:bodyPr>
          <a:lstStyle/>
          <a:p>
            <a:pPr>
              <a:spcAft>
                <a:spcPts val="600"/>
              </a:spcAft>
            </a:pPr>
            <a:r>
              <a:rPr sz="1050" b="1">
                <a:solidFill>
                  <a:srgbClr val="6F6A63"/>
                </a:solidFill>
                <a:latin typeface="Segoe UI"/>
              </a:rPr>
              <a:t>NEXT</a:t>
            </a:r>
          </a:p>
        </p:txBody>
      </p:sp>
      <p:sp>
        <p:nvSpPr>
          <p:cNvPr id="4" name="TextBox 3"/>
          <p:cNvSpPr txBox="1"/>
          <p:nvPr/>
        </p:nvSpPr>
        <p:spPr>
          <a:xfrm>
            <a:off x="548640" y="530352"/>
            <a:ext cx="9692640" cy="731520"/>
          </a:xfrm>
          <a:prstGeom prst="rect">
            <a:avLst/>
          </a:prstGeom>
          <a:noFill/>
        </p:spPr>
        <p:txBody>
          <a:bodyPr wrap="square">
            <a:spAutoFit/>
          </a:bodyPr>
          <a:lstStyle/>
          <a:p>
            <a:pPr>
              <a:spcAft>
                <a:spcPts val="600"/>
              </a:spcAft>
            </a:pPr>
            <a:r>
              <a:rPr sz="2600" b="1">
                <a:solidFill>
                  <a:srgbClr val="2B2B2B"/>
                </a:solidFill>
                <a:latin typeface="Century Gothic"/>
              </a:rPr>
              <a:t>Try it yourself</a:t>
            </a:r>
          </a:p>
        </p:txBody>
      </p:sp>
      <p:sp>
        <p:nvSpPr>
          <p:cNvPr id="5" name="TextBox 4"/>
          <p:cNvSpPr txBox="1"/>
          <p:nvPr/>
        </p:nvSpPr>
        <p:spPr>
          <a:xfrm>
            <a:off x="548640" y="6473952"/>
            <a:ext cx="10972800" cy="274320"/>
          </a:xfrm>
          <a:prstGeom prst="rect">
            <a:avLst/>
          </a:prstGeom>
          <a:noFill/>
        </p:spPr>
        <p:txBody>
          <a:bodyPr wrap="square">
            <a:spAutoFit/>
          </a:bodyPr>
          <a:lstStyle/>
          <a:p>
            <a:pPr>
              <a:spcAft>
                <a:spcPts val="600"/>
              </a:spcAft>
            </a:pPr>
            <a:r>
              <a:rPr sz="900" b="0">
                <a:solidFill>
                  <a:srgbClr val="6F6A63"/>
                </a:solidFill>
                <a:latin typeface="Segoe UI"/>
              </a:rPr>
              <a:t>Live test · Keystone Family Housing Partners (fictional) · gpt-6-luna via Portkey · 2026-10-20</a:t>
            </a:r>
          </a:p>
        </p:txBody>
      </p:sp>
      <p:sp>
        <p:nvSpPr>
          <p:cNvPr id="6" name="Oval 5"/>
          <p:cNvSpPr/>
          <p:nvPr/>
        </p:nvSpPr>
        <p:spPr>
          <a:xfrm>
            <a:off x="11247120" y="6510528"/>
            <a:ext cx="128016" cy="128016"/>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07140" y="6510528"/>
            <a:ext cx="128016" cy="128016"/>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sosceles Triangle 7"/>
          <p:cNvSpPr/>
          <p:nvPr/>
        </p:nvSpPr>
        <p:spPr>
          <a:xfrm>
            <a:off x="11567160" y="6510528"/>
            <a:ext cx="128016" cy="128016"/>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10972800" cy="4114800"/>
          </a:xfrm>
          <a:prstGeom prst="rect">
            <a:avLst/>
          </a:prstGeom>
          <a:noFill/>
        </p:spPr>
        <p:txBody>
          <a:bodyPr wrap="square">
            <a:spAutoFit/>
          </a:bodyPr>
          <a:lstStyle/>
          <a:p>
            <a:pPr>
              <a:spcAft>
                <a:spcPts val="800"/>
              </a:spcAft>
            </a:pPr>
            <a:r>
              <a:rPr sz="1500" b="1">
                <a:solidFill>
                  <a:srgbClr val="6F6A63"/>
                </a:solidFill>
                <a:latin typeface="Segoe UI"/>
              </a:rPr>
              <a:t>•  </a:t>
            </a:r>
            <a:r>
              <a:rPr sz="1500" b="0">
                <a:solidFill>
                  <a:srgbClr val="2B2B2B"/>
                </a:solidFill>
                <a:latin typeface="Segoe UI"/>
              </a:rPr>
              <a:t>Sign in as keystone.test (password in profile.json) to explore Keystone's real results</a:t>
            </a:r>
          </a:p>
          <a:p>
            <a:pPr>
              <a:spcAft>
                <a:spcPts val="800"/>
              </a:spcAft>
            </a:pPr>
            <a:r>
              <a:rPr sz="1500" b="1">
                <a:solidFill>
                  <a:srgbClr val="6F6A63"/>
                </a:solidFill>
                <a:latin typeface="Segoe UI"/>
              </a:rPr>
              <a:t>•  </a:t>
            </a:r>
            <a:r>
              <a:rPr sz="1500" b="0">
                <a:solidFill>
                  <a:srgbClr val="2B2B2B"/>
                </a:solidFill>
                <a:latin typeface="Segoe UI"/>
              </a:rPr>
              <a:t>Participant portal: /participant, using any code + PIN from participant_codes.json</a:t>
            </a:r>
          </a:p>
          <a:p>
            <a:pPr>
              <a:spcAft>
                <a:spcPts val="800"/>
              </a:spcAft>
            </a:pPr>
            <a:r>
              <a:rPr sz="1500" b="1">
                <a:solidFill>
                  <a:srgbClr val="6F6A63"/>
                </a:solidFill>
                <a:latin typeface="Segoe UI"/>
              </a:rPr>
              <a:t>•  </a:t>
            </a:r>
            <a:r>
              <a:rPr sz="1500" b="0">
                <a:solidFill>
                  <a:srgbClr val="2B2B2B"/>
                </a:solidFill>
                <a:latin typeface="Segoe UI"/>
              </a:rPr>
              <a:t>Re-run everything: .venv/Scripts/python scripts/run_test_profile.py data/test_profiles/keystone_family_housing</a:t>
            </a:r>
          </a:p>
          <a:p>
            <a:pPr>
              <a:spcAft>
                <a:spcPts val="800"/>
              </a:spcAft>
            </a:pPr>
            <a:r>
              <a:rPr sz="1500" b="1">
                <a:solidFill>
                  <a:srgbClr val="6F6A63"/>
                </a:solidFill>
                <a:latin typeface="Segoe UI"/>
              </a:rPr>
              <a:t>•  </a:t>
            </a:r>
            <a:r>
              <a:rPr sz="1500" b="0">
                <a:solidFill>
                  <a:srgbClr val="2B2B2B"/>
                </a:solidFill>
                <a:latin typeface="Segoe UI"/>
              </a:rPr>
              <a:t>Rebuild this deck: .venv/Scripts/python scripts/build_demo_deck.py data/test_profiles/keystone_family_housing 2026-10-20_live_demo</a:t>
            </a:r>
          </a:p>
        </p:txBody>
      </p:sp>
      <p:sp>
        <p:nvSpPr>
          <p:cNvPr id="10" name="Oval 9"/>
          <p:cNvSpPr/>
          <p:nvPr/>
        </p:nvSpPr>
        <p:spPr>
          <a:xfrm>
            <a:off x="548640" y="5669280"/>
            <a:ext cx="320040" cy="320040"/>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8690" y="5669280"/>
            <a:ext cx="320040" cy="320040"/>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sosceles Triangle 11"/>
          <p:cNvSpPr/>
          <p:nvPr/>
        </p:nvSpPr>
        <p:spPr>
          <a:xfrm>
            <a:off x="1348740" y="5669280"/>
            <a:ext cx="320040" cy="320040"/>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