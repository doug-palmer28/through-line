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 improved</c:v>
                </c:pt>
              </c:strCache>
            </c:strRef>
          </c:tx>
          <c:spPr>
            <a:solidFill>
              <a:srgbClr val="3E63B0"/>
            </a:solidFill>
          </c:spPr>
          <c:cat>
            <c:strRef>
              <c:f>Sheet1!$A$2:$A$4</c:f>
              <c:strCache>
                <c:ptCount val="3"/>
                <c:pt idx="0">
                  <c:v>Confidence addressing a rent or landlord issue</c:v>
                </c:pt>
                <c:pt idx="1">
                  <c:v>Knowing where to seek help for a chosen need</c:v>
                </c:pt>
                <c:pt idx="2">
                  <c:v>Parent-reported stress</c:v>
                </c:pt>
              </c:strCache>
            </c:strRef>
          </c:cat>
          <c:val>
            <c:numRef>
              <c:f>Sheet1!$B$2:$B$4</c:f>
              <c:numCache>
                <c:formatCode>General</c:formatCode>
                <c:ptCount val="3"/>
                <c:pt idx="0">
                  <c:v>85</c:v>
                </c:pt>
                <c:pt idx="1">
                  <c:v>60</c:v>
                </c:pt>
                <c:pt idx="2">
                  <c:v>70</c:v>
                </c:pt>
              </c:numCache>
            </c:numRef>
          </c:val>
        </c:ser>
        <c:dLbls>
          <c:txPr>
            <a:bodyPr/>
            <a:lstStyle/>
            <a:p>
              <a:pPr>
                <a:defRPr sz="11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latin typeface="Century Gothic"/>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Average</c:v>
                </c:pt>
              </c:strCache>
            </c:strRef>
          </c:tx>
          <c:spPr>
            <a:solidFill>
              <a:srgbClr val="3E63B0"/>
            </a:solidFill>
          </c:spPr>
          <c:cat>
            <c:strRef>
              <c:f>Sheet1!$A$2:$A$3</c:f>
              <c:strCache>
                <c:ptCount val="2"/>
                <c:pt idx="0">
                  <c:v>Before (pre)</c:v>
                </c:pt>
                <c:pt idx="1">
                  <c:v>After (post)</c:v>
                </c:pt>
              </c:strCache>
            </c:strRef>
          </c:cat>
          <c:val>
            <c:numRef>
              <c:f>Sheet1!$B$2:$B$3</c:f>
              <c:numCache>
                <c:formatCode>General</c:formatCode>
                <c:ptCount val="2"/>
                <c:pt idx="0">
                  <c:v>3.35</c:v>
                </c:pt>
                <c:pt idx="1">
                  <c:v>6.6</c:v>
                </c:pt>
              </c:numCache>
            </c:numRef>
          </c:val>
        </c:ser>
        <c:dLbls>
          <c:txPr>
            <a:bodyPr/>
            <a:lstStyle/>
            <a:p>
              <a:pPr>
                <a:defRPr sz="11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latin typeface="Century Gothic"/>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 yes</c:v>
                </c:pt>
              </c:strCache>
            </c:strRef>
          </c:tx>
          <c:spPr>
            <a:solidFill>
              <a:srgbClr val="3E63B0"/>
            </a:solidFill>
          </c:spPr>
          <c:cat>
            <c:strRef>
              <c:f>Sheet1!$A$2:$A$3</c:f>
              <c:strCache>
                <c:ptCount val="2"/>
                <c:pt idx="0">
                  <c:v>Before (pre)</c:v>
                </c:pt>
                <c:pt idx="1">
                  <c:v>After (post)</c:v>
                </c:pt>
              </c:strCache>
            </c:strRef>
          </c:cat>
          <c:val>
            <c:numRef>
              <c:f>Sheet1!$B$2:$B$3</c:f>
              <c:numCache>
                <c:formatCode>General</c:formatCode>
                <c:ptCount val="2"/>
                <c:pt idx="0">
                  <c:v>20</c:v>
                </c:pt>
                <c:pt idx="1">
                  <c:v>70</c:v>
                </c:pt>
              </c:numCache>
            </c:numRef>
          </c:val>
        </c:ser>
        <c:dLbls>
          <c:txPr>
            <a:bodyPr/>
            <a:lstStyle/>
            <a:p>
              <a:pPr>
                <a:defRPr sz="11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latin typeface="Century Gothic"/>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Average</c:v>
                </c:pt>
              </c:strCache>
            </c:strRef>
          </c:tx>
          <c:spPr>
            <a:solidFill>
              <a:srgbClr val="3E63B0"/>
            </a:solidFill>
          </c:spPr>
          <c:cat>
            <c:strRef>
              <c:f>Sheet1!$A$2:$A$3</c:f>
              <c:strCache>
                <c:ptCount val="2"/>
                <c:pt idx="0">
                  <c:v>Before (pre)</c:v>
                </c:pt>
                <c:pt idx="1">
                  <c:v>After (post)</c:v>
                </c:pt>
              </c:strCache>
            </c:strRef>
          </c:cat>
          <c:val>
            <c:numRef>
              <c:f>Sheet1!$B$2:$B$3</c:f>
              <c:numCache>
                <c:formatCode>General</c:formatCode>
                <c:ptCount val="2"/>
                <c:pt idx="0">
                  <c:v>2.55</c:v>
                </c:pt>
                <c:pt idx="1">
                  <c:v>3.6</c:v>
                </c:pt>
              </c:numCache>
            </c:numRef>
          </c:val>
        </c:ser>
        <c:dLbls>
          <c:txPr>
            <a:bodyPr/>
            <a:lstStyle/>
            <a:p>
              <a:pPr>
                <a:defRPr sz="11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latin typeface="Century Gothic"/>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Pre</c:v>
                </c:pt>
              </c:strCache>
            </c:strRef>
          </c:tx>
          <c:spPr>
            <a:solidFill>
              <a:srgbClr val="3E63B0"/>
            </a:solidFill>
          </c:spPr>
          <c:cat>
            <c:strRef>
              <c:f>Sheet1!$A$2:$A$2</c:f>
              <c:strCache>
                <c:ptCount val="1"/>
                <c:pt idx="0">
                  <c:v>Brief participant check-in</c:v>
                </c:pt>
              </c:strCache>
            </c:strRef>
          </c:cat>
          <c:val>
            <c:numRef>
              <c:f>Sheet1!$B$2:$B$2</c:f>
              <c:numCache>
                <c:formatCode>General</c:formatCode>
                <c:ptCount val="1"/>
                <c:pt idx="0">
                  <c:v>24</c:v>
                </c:pt>
              </c:numCache>
            </c:numRef>
          </c:val>
        </c:ser>
        <c:ser>
          <c:idx val="1"/>
          <c:order val="1"/>
          <c:tx>
            <c:strRef>
              <c:f>Sheet1!$C$1</c:f>
              <c:strCache>
                <c:ptCount val="1"/>
                <c:pt idx="0">
                  <c:v>Post</c:v>
                </c:pt>
              </c:strCache>
            </c:strRef>
          </c:tx>
          <c:spPr>
            <a:solidFill>
              <a:srgbClr val="D96C4F"/>
            </a:solidFill>
          </c:spPr>
          <c:cat>
            <c:strRef>
              <c:f>Sheet1!$A$2:$A$2</c:f>
              <c:strCache>
                <c:ptCount val="1"/>
                <c:pt idx="0">
                  <c:v>Brief participant check-in</c:v>
                </c:pt>
              </c:strCache>
            </c:strRef>
          </c:cat>
          <c:val>
            <c:numRef>
              <c:f>Sheet1!$C$2:$C$2</c:f>
              <c:numCache>
                <c:formatCode>General</c:formatCode>
                <c:ptCount val="1"/>
                <c:pt idx="0">
                  <c:v>20</c:v>
                </c:pt>
              </c:numCache>
            </c:numRef>
          </c:val>
        </c:ser>
        <c:dLbls>
          <c:txPr>
            <a:bodyPr/>
            <a:lstStyle/>
            <a:p>
              <a:pPr>
                <a:defRPr sz="11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200">
          <a:latin typeface="Century Gothic"/>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Participants</c:v>
                </c:pt>
              </c:strCache>
            </c:strRef>
          </c:tx>
          <c:spPr>
            <a:solidFill>
              <a:srgbClr val="3E63B0"/>
            </a:solidFill>
          </c:spPr>
          <c:cat>
            <c:strRef>
              <c:f>Sheet1!$A$2:$A$5</c:f>
              <c:strCache>
                <c:ptCount val="4"/>
                <c:pt idx="0">
                  <c:v>18–24</c:v>
                </c:pt>
                <c:pt idx="1">
                  <c:v>25–34</c:v>
                </c:pt>
                <c:pt idx="2">
                  <c:v>35–44</c:v>
                </c:pt>
                <c:pt idx="3">
                  <c:v>Groups under 5 (hidden)</c:v>
                </c:pt>
              </c:strCache>
            </c:strRef>
          </c:cat>
          <c:val>
            <c:numRef>
              <c:f>Sheet1!$B$2:$B$5</c:f>
              <c:numCache>
                <c:formatCode>General</c:formatCode>
                <c:ptCount val="4"/>
                <c:pt idx="0">
                  <c:v>5</c:v>
                </c:pt>
                <c:pt idx="1">
                  <c:v>11</c:v>
                </c:pt>
                <c:pt idx="2">
                  <c:v>6</c:v>
                </c:pt>
                <c:pt idx="3">
                  <c:v>2</c:v>
                </c:pt>
              </c:numCache>
            </c:numRef>
          </c:val>
        </c:ser>
        <c:dLbls>
          <c:txPr>
            <a:bodyPr/>
            <a:lstStyle/>
            <a:p>
              <a:pPr>
                <a:defRPr sz="11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latin typeface="Century Gothic"/>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Participants</c:v>
                </c:pt>
              </c:strCache>
            </c:strRef>
          </c:tx>
          <c:spPr>
            <a:solidFill>
              <a:srgbClr val="3E63B0"/>
            </a:solidFill>
          </c:spPr>
          <c:cat>
            <c:strRef>
              <c:f>Sheet1!$A$2:$A$3</c:f>
              <c:strCache>
                <c:ptCount val="2"/>
                <c:pt idx="0">
                  <c:v>Woman</c:v>
                </c:pt>
                <c:pt idx="1">
                  <c:v>Groups under 5 (hidden)</c:v>
                </c:pt>
              </c:strCache>
            </c:strRef>
          </c:cat>
          <c:val>
            <c:numRef>
              <c:f>Sheet1!$B$2:$B$3</c:f>
              <c:numCache>
                <c:formatCode>General</c:formatCode>
                <c:ptCount val="2"/>
                <c:pt idx="0">
                  <c:v>20</c:v>
                </c:pt>
                <c:pt idx="1">
                  <c:v>4</c:v>
                </c:pt>
              </c:numCache>
            </c:numRef>
          </c:val>
        </c:ser>
        <c:dLbls>
          <c:txPr>
            <a:bodyPr/>
            <a:lstStyle/>
            <a:p>
              <a:pPr>
                <a:defRPr sz="11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latin typeface="Century Gothic"/>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Participants</c:v>
                </c:pt>
              </c:strCache>
            </c:strRef>
          </c:tx>
          <c:spPr>
            <a:solidFill>
              <a:srgbClr val="3E63B0"/>
            </a:solidFill>
          </c:spPr>
          <c:cat>
            <c:strRef>
              <c:f>Sheet1!$A$2:$A$4</c:f>
              <c:strCache>
                <c:ptCount val="3"/>
                <c:pt idx="0">
                  <c:v>Black or African American</c:v>
                </c:pt>
                <c:pt idx="1">
                  <c:v>Hispanic or Latino/a/e</c:v>
                </c:pt>
                <c:pt idx="2">
                  <c:v>Groups under 5 (hidden)</c:v>
                </c:pt>
              </c:strCache>
            </c:strRef>
          </c:cat>
          <c:val>
            <c:numRef>
              <c:f>Sheet1!$B$2:$B$4</c:f>
              <c:numCache>
                <c:formatCode>General</c:formatCode>
                <c:ptCount val="3"/>
                <c:pt idx="0">
                  <c:v>10</c:v>
                </c:pt>
                <c:pt idx="1">
                  <c:v>8</c:v>
                </c:pt>
                <c:pt idx="2">
                  <c:v>6</c:v>
                </c:pt>
              </c:numCache>
            </c:numRef>
          </c:val>
        </c:ser>
        <c:dLbls>
          <c:txPr>
            <a:bodyPr/>
            <a:lstStyle/>
            <a:p>
              <a:pPr>
                <a:defRPr sz="11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latin typeface="Century Gothic"/>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Participants</c:v>
                </c:pt>
              </c:strCache>
            </c:strRef>
          </c:tx>
          <c:spPr>
            <a:solidFill>
              <a:srgbClr val="3E63B0"/>
            </a:solidFill>
          </c:spPr>
          <c:cat>
            <c:strRef>
              <c:f>Sheet1!$A$2:$A$4</c:f>
              <c:strCache>
                <c:ptCount val="3"/>
                <c:pt idx="0">
                  <c:v>English</c:v>
                </c:pt>
                <c:pt idx="1">
                  <c:v>Spanish</c:v>
                </c:pt>
                <c:pt idx="2">
                  <c:v>Groups under 5 (hidden)</c:v>
                </c:pt>
              </c:strCache>
            </c:strRef>
          </c:cat>
          <c:val>
            <c:numRef>
              <c:f>Sheet1!$B$2:$B$4</c:f>
              <c:numCache>
                <c:formatCode>General</c:formatCode>
                <c:ptCount val="3"/>
                <c:pt idx="0">
                  <c:v>15</c:v>
                </c:pt>
                <c:pt idx="1">
                  <c:v>8</c:v>
                </c:pt>
                <c:pt idx="2">
                  <c:v>1</c:v>
                </c:pt>
              </c:numCache>
            </c:numRef>
          </c:val>
        </c:ser>
        <c:dLbls>
          <c:txPr>
            <a:bodyPr/>
            <a:lstStyle/>
            <a:p>
              <a:pPr>
                <a:defRPr sz="11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latin typeface="Century Gothic"/>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Participants</c:v>
                </c:pt>
              </c:strCache>
            </c:strRef>
          </c:tx>
          <c:spPr>
            <a:solidFill>
              <a:srgbClr val="3E63B0"/>
            </a:solidFill>
          </c:spPr>
          <c:cat>
            <c:strRef>
              <c:f>Sheet1!$A$2:$A$4</c:f>
              <c:strCache>
                <c:ptCount val="3"/>
                <c:pt idx="0">
                  <c:v>New Haven</c:v>
                </c:pt>
                <c:pt idx="1">
                  <c:v>West Haven</c:v>
                </c:pt>
                <c:pt idx="2">
                  <c:v>Groups under 5 (hidden)</c:v>
                </c:pt>
              </c:strCache>
            </c:strRef>
          </c:cat>
          <c:val>
            <c:numRef>
              <c:f>Sheet1!$B$2:$B$4</c:f>
              <c:numCache>
                <c:formatCode>General</c:formatCode>
                <c:ptCount val="3"/>
                <c:pt idx="0">
                  <c:v>14</c:v>
                </c:pt>
                <c:pt idx="1">
                  <c:v>7</c:v>
                </c:pt>
                <c:pt idx="2">
                  <c:v>3</c:v>
                </c:pt>
              </c:numCache>
            </c:numRef>
          </c:val>
        </c:ser>
        <c:dLbls>
          <c:txPr>
            <a:bodyPr/>
            <a:lstStyle/>
            <a:p>
              <a:pPr>
                <a:defRPr sz="11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latin typeface="Century Gothic"/>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Participants</c:v>
                </c:pt>
              </c:strCache>
            </c:strRef>
          </c:tx>
          <c:spPr>
            <a:solidFill>
              <a:srgbClr val="3E63B0"/>
            </a:solidFill>
          </c:spPr>
          <c:cat>
            <c:strRef>
              <c:f>Sheet1!$A$2:$A$2</c:f>
              <c:strCache>
                <c:ptCount val="1"/>
                <c:pt idx="0">
                  <c:v>Yes</c:v>
                </c:pt>
              </c:strCache>
            </c:strRef>
          </c:cat>
          <c:val>
            <c:numRef>
              <c:f>Sheet1!$B$2:$B$2</c:f>
              <c:numCache>
                <c:formatCode>General</c:formatCode>
                <c:ptCount val="1"/>
                <c:pt idx="0">
                  <c:v>24</c:v>
                </c:pt>
              </c:numCache>
            </c:numRef>
          </c:val>
        </c:ser>
        <c:dLbls>
          <c:txPr>
            <a:bodyPr/>
            <a:lstStyle/>
            <a:p>
              <a:pPr>
                <a:defRPr sz="11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latin typeface="Century Gothic"/>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How many families in the reporting cohort have had the full, comparable observation period to move into housing</c:v>
                </c:pt>
              </c:strCache>
            </c:strRef>
          </c:tx>
          <c:spPr>
            <a:ln>
              <a:solidFill>
                <a:srgbClr val="3E63B0"/>
              </a:solidFill>
            </a:ln>
          </c:spPr>
          <c:cat>
            <c:strRef>
              <c:f>Sheet1!$A$2:$A$7</c:f>
              <c:strCache>
                <c:ptCount val="6"/>
                <c:pt idx="0">
                  <c:v>2026-04</c:v>
                </c:pt>
                <c:pt idx="1">
                  <c:v>2026-05</c:v>
                </c:pt>
                <c:pt idx="2">
                  <c:v>2026-06</c:v>
                </c:pt>
                <c:pt idx="3">
                  <c:v>2026-07</c:v>
                </c:pt>
                <c:pt idx="4">
                  <c:v>2026-08</c:v>
                </c:pt>
                <c:pt idx="5">
                  <c:v>2026-09</c:v>
                </c:pt>
              </c:strCache>
            </c:strRef>
          </c:cat>
          <c:val>
            <c:numRef>
              <c:f>Sheet1!$B$2:$B$7</c:f>
              <c:numCache>
                <c:formatCode>General</c:formatCode>
                <c:ptCount val="6"/>
                <c:pt idx="0">
                  <c:v>8.0</c:v>
                </c:pt>
                <c:pt idx="1">
                  <c:v>9.0</c:v>
                </c:pt>
                <c:pt idx="2">
                  <c:v>10.0</c:v>
                </c:pt>
                <c:pt idx="3">
                  <c:v>9.0</c:v>
                </c:pt>
                <c:pt idx="4">
                  <c:v>10.0</c:v>
                </c:pt>
                <c:pt idx="5">
                  <c:v>11.0</c:v>
                </c:pt>
              </c:numCache>
            </c:numRef>
          </c:val>
          <c:smooth val="0"/>
        </c:ser>
        <c:dLbls>
          <c:txPr>
            <a:bodyPr/>
            <a:lstStyle/>
            <a:p>
              <a:pPr>
                <a:defRPr sz="11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plotVisOnly val="1"/>
    <c:dispBlanksAs val="gap"/>
    <c:showDLblsOverMax val="0"/>
  </c:chart>
  <c:txPr>
    <a:bodyPr/>
    <a:lstStyle/>
    <a:p>
      <a:pPr>
        <a:defRPr sz="1200">
          <a:latin typeface="Century Gothic"/>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How many families in that cohort moved into permanent housing during the observation period</c:v>
                </c:pt>
              </c:strCache>
            </c:strRef>
          </c:tx>
          <c:spPr>
            <a:ln>
              <a:solidFill>
                <a:srgbClr val="3E63B0"/>
              </a:solidFill>
            </a:ln>
          </c:spPr>
          <c:cat>
            <c:strRef>
              <c:f>Sheet1!$A$2:$A$7</c:f>
              <c:strCache>
                <c:ptCount val="6"/>
                <c:pt idx="0">
                  <c:v>2026-04</c:v>
                </c:pt>
                <c:pt idx="1">
                  <c:v>2026-05</c:v>
                </c:pt>
                <c:pt idx="2">
                  <c:v>2026-06</c:v>
                </c:pt>
                <c:pt idx="3">
                  <c:v>2026-07</c:v>
                </c:pt>
                <c:pt idx="4">
                  <c:v>2026-08</c:v>
                </c:pt>
                <c:pt idx="5">
                  <c:v>2026-09</c:v>
                </c:pt>
              </c:strCache>
            </c:strRef>
          </c:cat>
          <c:val>
            <c:numRef>
              <c:f>Sheet1!$B$2:$B$7</c:f>
              <c:numCache>
                <c:formatCode>General</c:formatCode>
                <c:ptCount val="6"/>
                <c:pt idx="0">
                  <c:v>6.0</c:v>
                </c:pt>
                <c:pt idx="1">
                  <c:v>7.0</c:v>
                </c:pt>
                <c:pt idx="2">
                  <c:v>8.0</c:v>
                </c:pt>
                <c:pt idx="3">
                  <c:v>7.0</c:v>
                </c:pt>
                <c:pt idx="4">
                  <c:v>8.0</c:v>
                </c:pt>
                <c:pt idx="5">
                  <c:v>9.0</c:v>
                </c:pt>
              </c:numCache>
            </c:numRef>
          </c:val>
          <c:smooth val="0"/>
        </c:ser>
        <c:dLbls>
          <c:txPr>
            <a:bodyPr/>
            <a:lstStyle/>
            <a:p>
              <a:pPr>
                <a:defRPr sz="11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plotVisOnly val="1"/>
    <c:dispBlanksAs val="gap"/>
    <c:showDLblsOverMax val="0"/>
  </c:chart>
  <c:txPr>
    <a:bodyPr/>
    <a:lstStyle/>
    <a:p>
      <a:pPr>
        <a:defRPr sz="1200">
          <a:latin typeface="Century Gothic"/>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Among families who moved in, what was the median number of days from enrollment to move-in</c:v>
                </c:pt>
              </c:strCache>
            </c:strRef>
          </c:tx>
          <c:spPr>
            <a:ln>
              <a:solidFill>
                <a:srgbClr val="3E63B0"/>
              </a:solidFill>
            </a:ln>
          </c:spPr>
          <c:cat>
            <c:strRef>
              <c:f>Sheet1!$A$2:$A$7</c:f>
              <c:strCache>
                <c:ptCount val="6"/>
                <c:pt idx="0">
                  <c:v>2026-04</c:v>
                </c:pt>
                <c:pt idx="1">
                  <c:v>2026-05</c:v>
                </c:pt>
                <c:pt idx="2">
                  <c:v>2026-06</c:v>
                </c:pt>
                <c:pt idx="3">
                  <c:v>2026-07</c:v>
                </c:pt>
                <c:pt idx="4">
                  <c:v>2026-08</c:v>
                </c:pt>
                <c:pt idx="5">
                  <c:v>2026-09</c:v>
                </c:pt>
              </c:strCache>
            </c:strRef>
          </c:cat>
          <c:val>
            <c:numRef>
              <c:f>Sheet1!$B$2:$B$7</c:f>
              <c:numCache>
                <c:formatCode>General</c:formatCode>
                <c:ptCount val="6"/>
                <c:pt idx="0">
                  <c:v>44.0</c:v>
                </c:pt>
                <c:pt idx="1">
                  <c:v>41.0</c:v>
                </c:pt>
                <c:pt idx="2">
                  <c:v>39.0</c:v>
                </c:pt>
                <c:pt idx="3">
                  <c:v>42.0</c:v>
                </c:pt>
                <c:pt idx="4">
                  <c:v>38.0</c:v>
                </c:pt>
                <c:pt idx="5">
                  <c:v>36.0</c:v>
                </c:pt>
              </c:numCache>
            </c:numRef>
          </c:val>
          <c:smooth val="0"/>
        </c:ser>
        <c:dLbls>
          <c:txPr>
            <a:bodyPr/>
            <a:lstStyle/>
            <a:p>
              <a:pPr>
                <a:defRPr sz="11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plotVisOnly val="1"/>
    <c:dispBlanksAs val="gap"/>
    <c:showDLblsOverMax val="0"/>
  </c:chart>
  <c:txPr>
    <a:bodyPr/>
    <a:lstStyle/>
    <a:p>
      <a:pPr>
        <a:defRPr sz="1200">
          <a:latin typeface="Century Gothic"/>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How many families are due for a 12-month housing-status follow-up after move-in</c:v>
                </c:pt>
              </c:strCache>
            </c:strRef>
          </c:tx>
          <c:spPr>
            <a:ln>
              <a:solidFill>
                <a:srgbClr val="3E63B0"/>
              </a:solidFill>
            </a:ln>
          </c:spPr>
          <c:cat>
            <c:strRef>
              <c:f>Sheet1!$A$2:$A$7</c:f>
              <c:strCache>
                <c:ptCount val="6"/>
                <c:pt idx="0">
                  <c:v>2026-04</c:v>
                </c:pt>
                <c:pt idx="1">
                  <c:v>2026-05</c:v>
                </c:pt>
                <c:pt idx="2">
                  <c:v>2026-06</c:v>
                </c:pt>
                <c:pt idx="3">
                  <c:v>2026-07</c:v>
                </c:pt>
                <c:pt idx="4">
                  <c:v>2026-08</c:v>
                </c:pt>
                <c:pt idx="5">
                  <c:v>2026-09</c:v>
                </c:pt>
              </c:strCache>
            </c:strRef>
          </c:cat>
          <c:val>
            <c:numRef>
              <c:f>Sheet1!$B$2:$B$7</c:f>
              <c:numCache>
                <c:formatCode>General</c:formatCode>
                <c:ptCount val="6"/>
                <c:pt idx="0">
                  <c:v>5.0</c:v>
                </c:pt>
                <c:pt idx="1">
                  <c:v>6.0</c:v>
                </c:pt>
                <c:pt idx="2">
                  <c:v>6.0</c:v>
                </c:pt>
                <c:pt idx="3">
                  <c:v>7.0</c:v>
                </c:pt>
                <c:pt idx="4">
                  <c:v>6.0</c:v>
                </c:pt>
                <c:pt idx="5">
                  <c:v>7.0</c:v>
                </c:pt>
              </c:numCache>
            </c:numRef>
          </c:val>
          <c:smooth val="0"/>
        </c:ser>
        <c:dLbls>
          <c:txPr>
            <a:bodyPr/>
            <a:lstStyle/>
            <a:p>
              <a:pPr>
                <a:defRPr sz="11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plotVisOnly val="1"/>
    <c:dispBlanksAs val="gap"/>
    <c:showDLblsOverMax val="0"/>
  </c:chart>
  <c:txPr>
    <a:bodyPr/>
    <a:lstStyle/>
    <a:p>
      <a:pPr>
        <a:defRPr sz="1200">
          <a:latin typeface="Century Gothic"/>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How many families due for follow-up were contacted, and how many had a known housing status</c:v>
                </c:pt>
              </c:strCache>
            </c:strRef>
          </c:tx>
          <c:spPr>
            <a:ln>
              <a:solidFill>
                <a:srgbClr val="3E63B0"/>
              </a:solidFill>
            </a:ln>
          </c:spPr>
          <c:cat>
            <c:strRef>
              <c:f>Sheet1!$A$2:$A$7</c:f>
              <c:strCache>
                <c:ptCount val="6"/>
                <c:pt idx="0">
                  <c:v>2026-04</c:v>
                </c:pt>
                <c:pt idx="1">
                  <c:v>2026-05</c:v>
                </c:pt>
                <c:pt idx="2">
                  <c:v>2026-06</c:v>
                </c:pt>
                <c:pt idx="3">
                  <c:v>2026-07</c:v>
                </c:pt>
                <c:pt idx="4">
                  <c:v>2026-08</c:v>
                </c:pt>
                <c:pt idx="5">
                  <c:v>2026-09</c:v>
                </c:pt>
              </c:strCache>
            </c:strRef>
          </c:cat>
          <c:val>
            <c:numRef>
              <c:f>Sheet1!$B$2:$B$7</c:f>
              <c:numCache>
                <c:formatCode>General</c:formatCode>
                <c:ptCount val="6"/>
                <c:pt idx="0">
                  <c:v>5.0</c:v>
                </c:pt>
                <c:pt idx="1">
                  <c:v>6.0</c:v>
                </c:pt>
                <c:pt idx="2">
                  <c:v>6.0</c:v>
                </c:pt>
                <c:pt idx="3">
                  <c:v>7.0</c:v>
                </c:pt>
                <c:pt idx="4">
                  <c:v>6.0</c:v>
                </c:pt>
                <c:pt idx="5">
                  <c:v>7.0</c:v>
                </c:pt>
              </c:numCache>
            </c:numRef>
          </c:val>
          <c:smooth val="0"/>
        </c:ser>
        <c:dLbls>
          <c:txPr>
            <a:bodyPr/>
            <a:lstStyle/>
            <a:p>
              <a:pPr>
                <a:defRPr sz="11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plotVisOnly val="1"/>
    <c:dispBlanksAs val="gap"/>
    <c:showDLblsOverMax val="0"/>
  </c:chart>
  <c:txPr>
    <a:bodyPr/>
    <a:lstStyle/>
    <a:p>
      <a:pPr>
        <a:defRPr sz="1200">
          <a:latin typeface="Century Gothic"/>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How many families with a known status were in permanent housing at follow-up</c:v>
                </c:pt>
              </c:strCache>
            </c:strRef>
          </c:tx>
          <c:spPr>
            <a:ln>
              <a:solidFill>
                <a:srgbClr val="3E63B0"/>
              </a:solidFill>
            </a:ln>
          </c:spPr>
          <c:cat>
            <c:strRef>
              <c:f>Sheet1!$A$2:$A$7</c:f>
              <c:strCache>
                <c:ptCount val="6"/>
                <c:pt idx="0">
                  <c:v>2026-04</c:v>
                </c:pt>
                <c:pt idx="1">
                  <c:v>2026-05</c:v>
                </c:pt>
                <c:pt idx="2">
                  <c:v>2026-06</c:v>
                </c:pt>
                <c:pt idx="3">
                  <c:v>2026-07</c:v>
                </c:pt>
                <c:pt idx="4">
                  <c:v>2026-08</c:v>
                </c:pt>
                <c:pt idx="5">
                  <c:v>2026-09</c:v>
                </c:pt>
              </c:strCache>
            </c:strRef>
          </c:cat>
          <c:val>
            <c:numRef>
              <c:f>Sheet1!$B$2:$B$7</c:f>
              <c:numCache>
                <c:formatCode>General</c:formatCode>
                <c:ptCount val="6"/>
                <c:pt idx="0">
                  <c:v>3.0</c:v>
                </c:pt>
                <c:pt idx="1">
                  <c:v>4.0</c:v>
                </c:pt>
                <c:pt idx="2">
                  <c:v>4.0</c:v>
                </c:pt>
                <c:pt idx="3">
                  <c:v>5.0</c:v>
                </c:pt>
                <c:pt idx="4">
                  <c:v>4.0</c:v>
                </c:pt>
                <c:pt idx="5">
                  <c:v>5.0</c:v>
                </c:pt>
              </c:numCache>
            </c:numRef>
          </c:val>
          <c:smooth val="0"/>
        </c:ser>
        <c:dLbls>
          <c:txPr>
            <a:bodyPr/>
            <a:lstStyle/>
            <a:p>
              <a:pPr>
                <a:defRPr sz="11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plotVisOnly val="1"/>
    <c:dispBlanksAs val="gap"/>
    <c:showDLblsOverMax val="0"/>
  </c:chart>
  <c:txPr>
    <a:bodyPr/>
    <a:lstStyle/>
    <a:p>
      <a:pPr>
        <a:defRPr sz="1200">
          <a:latin typeface="Century Gothic"/>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How many families with a known status were staying in shelter, outside, or another place not meant for housing</c:v>
                </c:pt>
              </c:strCache>
            </c:strRef>
          </c:tx>
          <c:spPr>
            <a:ln>
              <a:solidFill>
                <a:srgbClr val="3E63B0"/>
              </a:solidFill>
            </a:ln>
          </c:spPr>
          <c:cat>
            <c:strRef>
              <c:f>Sheet1!$A$2:$A$7</c:f>
              <c:strCache>
                <c:ptCount val="6"/>
                <c:pt idx="0">
                  <c:v>2026-04</c:v>
                </c:pt>
                <c:pt idx="1">
                  <c:v>2026-05</c:v>
                </c:pt>
                <c:pt idx="2">
                  <c:v>2026-06</c:v>
                </c:pt>
                <c:pt idx="3">
                  <c:v>2026-07</c:v>
                </c:pt>
                <c:pt idx="4">
                  <c:v>2026-08</c:v>
                </c:pt>
                <c:pt idx="5">
                  <c:v>2026-09</c:v>
                </c:pt>
              </c:strCache>
            </c:strRef>
          </c:cat>
          <c:val>
            <c:numRef>
              <c:f>Sheet1!$B$2:$B$7</c:f>
              <c:numCache>
                <c:formatCode>General</c:formatCode>
                <c:ptCount val="6"/>
                <c:pt idx="0">
                  <c:v>1.0</c:v>
                </c:pt>
                <c:pt idx="1">
                  <c:v>0.0</c:v>
                </c:pt>
                <c:pt idx="2">
                  <c:v>1.0</c:v>
                </c:pt>
                <c:pt idx="3">
                  <c:v>0.0</c:v>
                </c:pt>
                <c:pt idx="4">
                  <c:v>1.0</c:v>
                </c:pt>
                <c:pt idx="5">
                  <c:v>0.0</c:v>
                </c:pt>
              </c:numCache>
            </c:numRef>
          </c:val>
          <c:smooth val="0"/>
        </c:ser>
        <c:dLbls>
          <c:txPr>
            <a:bodyPr/>
            <a:lstStyle/>
            <a:p>
              <a:pPr>
                <a:defRPr sz="11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plotVisOnly val="1"/>
    <c:dispBlanksAs val="gap"/>
    <c:showDLblsOverMax val="0"/>
  </c:chart>
  <c:txPr>
    <a:bodyPr/>
    <a:lstStyle/>
    <a:p>
      <a:pPr>
        <a:defRPr sz="1200">
          <a:latin typeface="Century Gothic"/>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How many families with a known status were in another or unstable housing situation</c:v>
                </c:pt>
              </c:strCache>
            </c:strRef>
          </c:tx>
          <c:spPr>
            <a:ln>
              <a:solidFill>
                <a:srgbClr val="3E63B0"/>
              </a:solidFill>
            </a:ln>
          </c:spPr>
          <c:cat>
            <c:strRef>
              <c:f>Sheet1!$A$2:$A$7</c:f>
              <c:strCache>
                <c:ptCount val="6"/>
                <c:pt idx="0">
                  <c:v>2026-04</c:v>
                </c:pt>
                <c:pt idx="1">
                  <c:v>2026-05</c:v>
                </c:pt>
                <c:pt idx="2">
                  <c:v>2026-06</c:v>
                </c:pt>
                <c:pt idx="3">
                  <c:v>2026-07</c:v>
                </c:pt>
                <c:pt idx="4">
                  <c:v>2026-08</c:v>
                </c:pt>
                <c:pt idx="5">
                  <c:v>2026-09</c:v>
                </c:pt>
              </c:strCache>
            </c:strRef>
          </c:cat>
          <c:val>
            <c:numRef>
              <c:f>Sheet1!$B$2:$B$7</c:f>
              <c:numCache>
                <c:formatCode>General</c:formatCode>
                <c:ptCount val="6"/>
                <c:pt idx="0">
                  <c:v>0.0</c:v>
                </c:pt>
                <c:pt idx="1">
                  <c:v>1.0</c:v>
                </c:pt>
                <c:pt idx="2">
                  <c:v>0.0</c:v>
                </c:pt>
                <c:pt idx="3">
                  <c:v>1.0</c:v>
                </c:pt>
                <c:pt idx="4">
                  <c:v>0.0</c:v>
                </c:pt>
                <c:pt idx="5">
                  <c:v>1.0</c:v>
                </c:pt>
              </c:numCache>
            </c:numRef>
          </c:val>
          <c:smooth val="0"/>
        </c:ser>
        <c:dLbls>
          <c:txPr>
            <a:bodyPr/>
            <a:lstStyle/>
            <a:p>
              <a:pPr>
                <a:defRPr sz="11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plotVisOnly val="1"/>
    <c:dispBlanksAs val="gap"/>
    <c:showDLblsOverMax val="0"/>
  </c:chart>
  <c:txPr>
    <a:bodyPr/>
    <a:lstStyle/>
    <a:p>
      <a:pPr>
        <a:defRPr sz="1200">
          <a:latin typeface="Century Gothic"/>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Rental assistance paid to landlords</c:v>
                </c:pt>
              </c:strCache>
            </c:strRef>
          </c:tx>
          <c:spPr>
            <a:ln>
              <a:solidFill>
                <a:srgbClr val="3E63B0"/>
              </a:solidFill>
            </a:ln>
          </c:spPr>
          <c:cat>
            <c:strRef>
              <c:f>Sheet1!$A$2:$A$7</c:f>
              <c:strCache>
                <c:ptCount val="6"/>
                <c:pt idx="0">
                  <c:v>2026-04</c:v>
                </c:pt>
                <c:pt idx="1">
                  <c:v>2026-05</c:v>
                </c:pt>
                <c:pt idx="2">
                  <c:v>2026-06</c:v>
                </c:pt>
                <c:pt idx="3">
                  <c:v>2026-07</c:v>
                </c:pt>
                <c:pt idx="4">
                  <c:v>2026-08</c:v>
                </c:pt>
                <c:pt idx="5">
                  <c:v>2026-09</c:v>
                </c:pt>
              </c:strCache>
            </c:strRef>
          </c:cat>
          <c:val>
            <c:numRef>
              <c:f>Sheet1!$B$2:$B$7</c:f>
              <c:numCache>
                <c:formatCode>General</c:formatCode>
                <c:ptCount val="6"/>
                <c:pt idx="0">
                  <c:v>31500.0</c:v>
                </c:pt>
                <c:pt idx="1">
                  <c:v>34200.0</c:v>
                </c:pt>
                <c:pt idx="2">
                  <c:v>36800.0</c:v>
                </c:pt>
                <c:pt idx="3">
                  <c:v>33900.0</c:v>
                </c:pt>
                <c:pt idx="4">
                  <c:v>35400.0</c:v>
                </c:pt>
                <c:pt idx="5">
                  <c:v>38100.0</c:v>
                </c:pt>
              </c:numCache>
            </c:numRef>
          </c:val>
          <c:smooth val="0"/>
        </c:ser>
        <c:dLbls>
          <c:txPr>
            <a:bodyPr/>
            <a:lstStyle/>
            <a:p>
              <a:pPr>
                <a:defRPr sz="11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plotVisOnly val="1"/>
    <c:dispBlanksAs val="gap"/>
    <c:showDLblsOverMax val="0"/>
  </c:chart>
  <c:txPr>
    <a:bodyPr/>
    <a:lstStyle/>
    <a:p>
      <a:pPr>
        <a:defRPr sz="1200">
          <a:latin typeface="Century Gothic"/>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Apartments furnished by volunteers</c:v>
                </c:pt>
              </c:strCache>
            </c:strRef>
          </c:tx>
          <c:spPr>
            <a:ln>
              <a:solidFill>
                <a:srgbClr val="3E63B0"/>
              </a:solidFill>
            </a:ln>
          </c:spPr>
          <c:cat>
            <c:strRef>
              <c:f>Sheet1!$A$2:$A$7</c:f>
              <c:strCache>
                <c:ptCount val="6"/>
                <c:pt idx="0">
                  <c:v>2026-04</c:v>
                </c:pt>
                <c:pt idx="1">
                  <c:v>2026-05</c:v>
                </c:pt>
                <c:pt idx="2">
                  <c:v>2026-06</c:v>
                </c:pt>
                <c:pt idx="3">
                  <c:v>2026-07</c:v>
                </c:pt>
                <c:pt idx="4">
                  <c:v>2026-08</c:v>
                </c:pt>
                <c:pt idx="5">
                  <c:v>2026-09</c:v>
                </c:pt>
              </c:strCache>
            </c:strRef>
          </c:cat>
          <c:val>
            <c:numRef>
              <c:f>Sheet1!$B$2:$B$7</c:f>
              <c:numCache>
                <c:formatCode>General</c:formatCode>
                <c:ptCount val="6"/>
                <c:pt idx="0">
                  <c:v>4.0</c:v>
                </c:pt>
                <c:pt idx="1">
                  <c:v>6.0</c:v>
                </c:pt>
                <c:pt idx="2">
                  <c:v>6.0</c:v>
                </c:pt>
                <c:pt idx="3">
                  <c:v>5.0</c:v>
                </c:pt>
                <c:pt idx="4">
                  <c:v>5.0</c:v>
                </c:pt>
                <c:pt idx="5">
                  <c:v>7.0</c:v>
                </c:pt>
              </c:numCache>
            </c:numRef>
          </c:val>
          <c:smooth val="0"/>
        </c:ser>
        <c:dLbls>
          <c:txPr>
            <a:bodyPr/>
            <a:lstStyle/>
            <a:p>
              <a:pPr>
                <a:defRPr sz="11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plotVisOnly val="1"/>
    <c:dispBlanksAs val="gap"/>
    <c:showDLblsOverMax val="0"/>
  </c:chart>
  <c:txPr>
    <a:bodyPr/>
    <a:lstStyle/>
    <a:p>
      <a:pPr>
        <a:defRPr sz="1200">
          <a:latin typeface="Century Gothic"/>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Active landlord partners</c:v>
                </c:pt>
              </c:strCache>
            </c:strRef>
          </c:tx>
          <c:spPr>
            <a:ln>
              <a:solidFill>
                <a:srgbClr val="3E63B0"/>
              </a:solidFill>
            </a:ln>
          </c:spPr>
          <c:cat>
            <c:strRef>
              <c:f>Sheet1!$A$2:$A$7</c:f>
              <c:strCache>
                <c:ptCount val="6"/>
                <c:pt idx="0">
                  <c:v>2026-04</c:v>
                </c:pt>
                <c:pt idx="1">
                  <c:v>2026-05</c:v>
                </c:pt>
                <c:pt idx="2">
                  <c:v>2026-06</c:v>
                </c:pt>
                <c:pt idx="3">
                  <c:v>2026-07</c:v>
                </c:pt>
                <c:pt idx="4">
                  <c:v>2026-08</c:v>
                </c:pt>
                <c:pt idx="5">
                  <c:v>2026-09</c:v>
                </c:pt>
              </c:strCache>
            </c:strRef>
          </c:cat>
          <c:val>
            <c:numRef>
              <c:f>Sheet1!$B$2:$B$7</c:f>
              <c:numCache>
                <c:formatCode>General</c:formatCode>
                <c:ptCount val="6"/>
                <c:pt idx="0">
                  <c:v>31.0</c:v>
                </c:pt>
                <c:pt idx="1">
                  <c:v>32.0</c:v>
                </c:pt>
                <c:pt idx="2">
                  <c:v>33.0</c:v>
                </c:pt>
                <c:pt idx="3">
                  <c:v>33.0</c:v>
                </c:pt>
                <c:pt idx="4">
                  <c:v>34.0</c:v>
                </c:pt>
                <c:pt idx="5">
                  <c:v>35.0</c:v>
                </c:pt>
              </c:numCache>
            </c:numRef>
          </c:val>
          <c:smooth val="0"/>
        </c:ser>
        <c:dLbls>
          <c:txPr>
            <a:bodyPr/>
            <a:lstStyle/>
            <a:p>
              <a:pPr>
                <a:defRPr sz="11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plotVisOnly val="1"/>
    <c:dispBlanksAs val="gap"/>
    <c:showDLblsOverMax val="0"/>
  </c:chart>
  <c:txPr>
    <a:bodyPr/>
    <a:lstStyle/>
    <a:p>
      <a:pPr>
        <a:defRPr sz="1200">
          <a:latin typeface="Century Gothic"/>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spAutoFit/>
          </a:bodyPr>
          <a:lstStyle/>
          <a:p>
            <a:pPr>
              <a:spcAft>
                <a:spcPts val="600"/>
              </a:spcAft>
            </a:pPr>
            <a:r>
              <a:rPr sz="1100" b="1">
                <a:solidFill>
                  <a:srgbClr val="6F6A63"/>
                </a:solidFill>
                <a:latin typeface="Century Gothic"/>
              </a:rPr>
              <a:t>THROUGH LINE</a:t>
            </a:r>
          </a:p>
        </p:txBody>
      </p:sp>
      <p:sp>
        <p:nvSpPr>
          <p:cNvPr id="3" name="TextBox 2"/>
          <p:cNvSpPr txBox="1"/>
          <p:nvPr/>
        </p:nvSpPr>
        <p:spPr>
          <a:xfrm>
            <a:off x="640080" y="594360"/>
            <a:ext cx="10972800" cy="822960"/>
          </a:xfrm>
          <a:prstGeom prst="rect">
            <a:avLst/>
          </a:prstGeom>
          <a:noFill/>
        </p:spPr>
        <p:txBody>
          <a:bodyPr wrap="square">
            <a:spAutoFit/>
          </a:bodyPr>
          <a:lstStyle/>
          <a:p>
            <a:pPr>
              <a:spcAft>
                <a:spcPts val="600"/>
              </a:spcAft>
            </a:pPr>
            <a:r>
              <a:rPr sz="2600" b="1">
                <a:solidFill>
                  <a:srgbClr val="2B2B2B"/>
                </a:solidFill>
                <a:latin typeface="Century Gothic"/>
              </a:rPr>
              <a:t>Keystone Family Housing Partners: Impact Report</a:t>
            </a:r>
          </a:p>
        </p:txBody>
      </p:sp>
      <p:sp>
        <p:nvSpPr>
          <p:cNvPr id="4" name="TextBox 3"/>
          <p:cNvSpPr txBox="1"/>
          <p:nvPr/>
        </p:nvSpPr>
        <p:spPr>
          <a:xfrm>
            <a:off x="640080" y="1828800"/>
            <a:ext cx="10789920" cy="2743200"/>
          </a:xfrm>
          <a:prstGeom prst="rect">
            <a:avLst/>
          </a:prstGeom>
          <a:noFill/>
        </p:spPr>
        <p:txBody>
          <a:bodyPr wrap="square">
            <a:spAutoFit/>
          </a:bodyPr>
          <a:lstStyle/>
          <a:p>
            <a:pPr>
              <a:spcAft>
                <a:spcPts val="600"/>
              </a:spcAft>
            </a:pPr>
            <a:r>
              <a:rPr sz="2000" b="0">
                <a:solidFill>
                  <a:srgbClr val="2B2B2B"/>
                </a:solidFill>
                <a:latin typeface="Century Gothic"/>
              </a:rPr>
              <a:t>If Keystone helps families move quickly into permanent housing with time-limited rent assistance, move-in essentials, and voluntary, individualized case management, then families can settle into housing and address barriers that threaten stability. This support is intended to help families remain housed after assistance ends, though housing stability also depends on factors outside Keystone’s control.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spAutoFit/>
          </a:bodyPr>
          <a:lstStyle/>
          <a:p>
            <a:pPr>
              <a:spcAft>
                <a:spcPts val="600"/>
              </a:spcAft>
            </a:pPr>
            <a:r>
              <a:rPr sz="1100" b="1">
                <a:solidFill>
                  <a:srgbClr val="6F6A63"/>
                </a:solidFill>
                <a:latin typeface="Century Gothic"/>
              </a:rPr>
              <a:t>HEADLINE NUMBERS</a:t>
            </a:r>
          </a:p>
        </p:txBody>
      </p:sp>
      <p:sp>
        <p:nvSpPr>
          <p:cNvPr id="3" name="TextBox 2"/>
          <p:cNvSpPr txBox="1"/>
          <p:nvPr/>
        </p:nvSpPr>
        <p:spPr>
          <a:xfrm>
            <a:off x="640080" y="594360"/>
            <a:ext cx="10972800" cy="822960"/>
          </a:xfrm>
          <a:prstGeom prst="rect">
            <a:avLst/>
          </a:prstGeom>
          <a:noFill/>
        </p:spPr>
        <p:txBody>
          <a:bodyPr wrap="square">
            <a:spAutoFit/>
          </a:bodyPr>
          <a:lstStyle/>
          <a:p>
            <a:pPr>
              <a:spcAft>
                <a:spcPts val="600"/>
              </a:spcAft>
            </a:pPr>
            <a:r>
              <a:rPr sz="2600" b="1">
                <a:solidFill>
                  <a:srgbClr val="2B2B2B"/>
                </a:solidFill>
                <a:latin typeface="Century Gothic"/>
              </a:rPr>
              <a:t>At a glance</a:t>
            </a:r>
          </a:p>
        </p:txBody>
      </p:sp>
      <p:sp>
        <p:nvSpPr>
          <p:cNvPr id="4" name="TextBox 3"/>
          <p:cNvSpPr txBox="1"/>
          <p:nvPr/>
        </p:nvSpPr>
        <p:spPr>
          <a:xfrm>
            <a:off x="640080" y="2103120"/>
            <a:ext cx="2651760" cy="914400"/>
          </a:xfrm>
          <a:prstGeom prst="rect">
            <a:avLst/>
          </a:prstGeom>
          <a:noFill/>
        </p:spPr>
        <p:txBody>
          <a:bodyPr wrap="square">
            <a:spAutoFit/>
          </a:bodyPr>
          <a:lstStyle/>
          <a:p>
            <a:pPr>
              <a:spcAft>
                <a:spcPts val="600"/>
              </a:spcAft>
            </a:pPr>
            <a:r>
              <a:rPr sz="4000" b="1">
                <a:solidFill>
                  <a:srgbClr val="3E63B0"/>
                </a:solidFill>
                <a:latin typeface="Century Gothic"/>
              </a:rPr>
              <a:t>24</a:t>
            </a:r>
          </a:p>
        </p:txBody>
      </p:sp>
      <p:sp>
        <p:nvSpPr>
          <p:cNvPr id="5" name="TextBox 4"/>
          <p:cNvSpPr txBox="1"/>
          <p:nvPr/>
        </p:nvSpPr>
        <p:spPr>
          <a:xfrm>
            <a:off x="640080" y="3108960"/>
            <a:ext cx="2651760" cy="914400"/>
          </a:xfrm>
          <a:prstGeom prst="rect">
            <a:avLst/>
          </a:prstGeom>
          <a:noFill/>
        </p:spPr>
        <p:txBody>
          <a:bodyPr wrap="square">
            <a:spAutoFit/>
          </a:bodyPr>
          <a:lstStyle/>
          <a:p>
            <a:pPr>
              <a:spcAft>
                <a:spcPts val="600"/>
              </a:spcAft>
            </a:pPr>
            <a:r>
              <a:rPr sz="1400" b="0">
                <a:solidFill>
                  <a:srgbClr val="6F6A63"/>
                </a:solidFill>
                <a:latin typeface="Century Gothic"/>
              </a:rPr>
              <a:t>participants enrolled</a:t>
            </a:r>
          </a:p>
        </p:txBody>
      </p:sp>
      <p:sp>
        <p:nvSpPr>
          <p:cNvPr id="6" name="TextBox 5"/>
          <p:cNvSpPr txBox="1"/>
          <p:nvPr/>
        </p:nvSpPr>
        <p:spPr>
          <a:xfrm>
            <a:off x="3474720" y="2103120"/>
            <a:ext cx="2651760" cy="914400"/>
          </a:xfrm>
          <a:prstGeom prst="rect">
            <a:avLst/>
          </a:prstGeom>
          <a:noFill/>
        </p:spPr>
        <p:txBody>
          <a:bodyPr wrap="square">
            <a:spAutoFit/>
          </a:bodyPr>
          <a:lstStyle/>
          <a:p>
            <a:pPr>
              <a:spcAft>
                <a:spcPts val="600"/>
              </a:spcAft>
            </a:pPr>
            <a:r>
              <a:rPr sz="4000" b="1">
                <a:solidFill>
                  <a:srgbClr val="D96C4F"/>
                </a:solidFill>
                <a:latin typeface="Century Gothic"/>
              </a:rPr>
              <a:t>24 / 20</a:t>
            </a:r>
          </a:p>
        </p:txBody>
      </p:sp>
      <p:sp>
        <p:nvSpPr>
          <p:cNvPr id="7" name="TextBox 6"/>
          <p:cNvSpPr txBox="1"/>
          <p:nvPr/>
        </p:nvSpPr>
        <p:spPr>
          <a:xfrm>
            <a:off x="3474720" y="3108960"/>
            <a:ext cx="2651760" cy="914400"/>
          </a:xfrm>
          <a:prstGeom prst="rect">
            <a:avLst/>
          </a:prstGeom>
          <a:noFill/>
        </p:spPr>
        <p:txBody>
          <a:bodyPr wrap="square">
            <a:spAutoFit/>
          </a:bodyPr>
          <a:lstStyle/>
          <a:p>
            <a:pPr>
              <a:spcAft>
                <a:spcPts val="600"/>
              </a:spcAft>
            </a:pPr>
            <a:r>
              <a:rPr sz="1400" b="0">
                <a:solidFill>
                  <a:srgbClr val="6F6A63"/>
                </a:solidFill>
                <a:latin typeface="Century Gothic"/>
              </a:rPr>
              <a:t>pre / post surveys</a:t>
            </a:r>
          </a:p>
        </p:txBody>
      </p:sp>
      <p:sp>
        <p:nvSpPr>
          <p:cNvPr id="8" name="TextBox 7"/>
          <p:cNvSpPr txBox="1"/>
          <p:nvPr/>
        </p:nvSpPr>
        <p:spPr>
          <a:xfrm>
            <a:off x="6309360" y="2103120"/>
            <a:ext cx="2651760" cy="914400"/>
          </a:xfrm>
          <a:prstGeom prst="rect">
            <a:avLst/>
          </a:prstGeom>
          <a:noFill/>
        </p:spPr>
        <p:txBody>
          <a:bodyPr wrap="square">
            <a:spAutoFit/>
          </a:bodyPr>
          <a:lstStyle/>
          <a:p>
            <a:pPr>
              <a:spcAft>
                <a:spcPts val="600"/>
              </a:spcAft>
            </a:pPr>
            <a:r>
              <a:rPr sz="4000" b="1">
                <a:solidFill>
                  <a:srgbClr val="4E8C7A"/>
                </a:solidFill>
                <a:latin typeface="Century Gothic"/>
              </a:rPr>
              <a:t>20</a:t>
            </a:r>
          </a:p>
        </p:txBody>
      </p:sp>
      <p:sp>
        <p:nvSpPr>
          <p:cNvPr id="9" name="TextBox 8"/>
          <p:cNvSpPr txBox="1"/>
          <p:nvPr/>
        </p:nvSpPr>
        <p:spPr>
          <a:xfrm>
            <a:off x="6309360" y="3108960"/>
            <a:ext cx="2651760" cy="914400"/>
          </a:xfrm>
          <a:prstGeom prst="rect">
            <a:avLst/>
          </a:prstGeom>
          <a:noFill/>
        </p:spPr>
        <p:txBody>
          <a:bodyPr wrap="square">
            <a:spAutoFit/>
          </a:bodyPr>
          <a:lstStyle/>
          <a:p>
            <a:pPr>
              <a:spcAft>
                <a:spcPts val="600"/>
              </a:spcAft>
            </a:pPr>
            <a:r>
              <a:rPr sz="1400" b="0">
                <a:solidFill>
                  <a:srgbClr val="6F6A63"/>
                </a:solidFill>
                <a:latin typeface="Century Gothic"/>
              </a:rPr>
              <a:t>matched pre and post</a:t>
            </a:r>
          </a:p>
        </p:txBody>
      </p:sp>
      <p:sp>
        <p:nvSpPr>
          <p:cNvPr id="10" name="TextBox 9"/>
          <p:cNvSpPr txBox="1"/>
          <p:nvPr/>
        </p:nvSpPr>
        <p:spPr>
          <a:xfrm>
            <a:off x="9144000" y="2103120"/>
            <a:ext cx="2651760" cy="914400"/>
          </a:xfrm>
          <a:prstGeom prst="rect">
            <a:avLst/>
          </a:prstGeom>
          <a:noFill/>
        </p:spPr>
        <p:txBody>
          <a:bodyPr wrap="square">
            <a:spAutoFit/>
          </a:bodyPr>
          <a:lstStyle/>
          <a:p>
            <a:pPr>
              <a:spcAft>
                <a:spcPts val="600"/>
              </a:spcAft>
            </a:pPr>
            <a:r>
              <a:rPr sz="4000" b="1">
                <a:solidFill>
                  <a:srgbClr val="E8B84A"/>
                </a:solidFill>
                <a:latin typeface="Century Gothic"/>
              </a:rPr>
              <a:t>85%</a:t>
            </a:r>
          </a:p>
        </p:txBody>
      </p:sp>
      <p:sp>
        <p:nvSpPr>
          <p:cNvPr id="11" name="TextBox 10"/>
          <p:cNvSpPr txBox="1"/>
          <p:nvPr/>
        </p:nvSpPr>
        <p:spPr>
          <a:xfrm>
            <a:off x="9144000" y="3108960"/>
            <a:ext cx="2651760" cy="914400"/>
          </a:xfrm>
          <a:prstGeom prst="rect">
            <a:avLst/>
          </a:prstGeom>
          <a:noFill/>
        </p:spPr>
        <p:txBody>
          <a:bodyPr wrap="square">
            <a:spAutoFit/>
          </a:bodyPr>
          <a:lstStyle/>
          <a:p>
            <a:pPr>
              <a:spcAft>
                <a:spcPts val="600"/>
              </a:spcAft>
            </a:pPr>
            <a:r>
              <a:rPr sz="1400" b="0">
                <a:solidFill>
                  <a:srgbClr val="6F6A63"/>
                </a:solidFill>
                <a:latin typeface="Century Gothic"/>
              </a:rPr>
              <a:t>improved: Confidence addressing a rent or landlord issue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spAutoFit/>
          </a:bodyPr>
          <a:lstStyle/>
          <a:p>
            <a:pPr>
              <a:spcAft>
                <a:spcPts val="600"/>
              </a:spcAft>
            </a:pPr>
            <a:r>
              <a:rPr sz="1100" b="1">
                <a:solidFill>
                  <a:srgbClr val="6F6A63"/>
                </a:solidFill>
                <a:latin typeface="Century Gothic"/>
              </a:rPr>
              <a:t>RESULTS</a:t>
            </a:r>
          </a:p>
        </p:txBody>
      </p:sp>
      <p:sp>
        <p:nvSpPr>
          <p:cNvPr id="3" name="TextBox 2"/>
          <p:cNvSpPr txBox="1"/>
          <p:nvPr/>
        </p:nvSpPr>
        <p:spPr>
          <a:xfrm>
            <a:off x="640080" y="594360"/>
            <a:ext cx="10972800" cy="822960"/>
          </a:xfrm>
          <a:prstGeom prst="rect">
            <a:avLst/>
          </a:prstGeom>
          <a:noFill/>
        </p:spPr>
        <p:txBody>
          <a:bodyPr wrap="square">
            <a:spAutoFit/>
          </a:bodyPr>
          <a:lstStyle/>
          <a:p>
            <a:pPr>
              <a:spcAft>
                <a:spcPts val="600"/>
              </a:spcAft>
            </a:pPr>
            <a:r>
              <a:rPr sz="2600" b="1">
                <a:solidFill>
                  <a:srgbClr val="2B2B2B"/>
                </a:solidFill>
                <a:latin typeface="Century Gothic"/>
              </a:rPr>
              <a:t>Share of participants who improved</a:t>
            </a:r>
          </a:p>
        </p:txBody>
      </p:sp>
      <p:graphicFrame>
        <p:nvGraphicFramePr>
          <p:cNvPr id="4" name="Chart 3"/>
          <p:cNvGraphicFramePr>
            <a:graphicFrameLocks noGrp="1"/>
          </p:cNvGraphicFramePr>
          <p:nvPr/>
        </p:nvGraphicFramePr>
        <p:xfrm>
          <a:off x="640080" y="1463040"/>
          <a:ext cx="10881360" cy="4480560"/>
        </p:xfrm>
        <a:graphic>
          <a:graphicData uri="http://schemas.openxmlformats.org/drawingml/2006/chart">
            <c:chart xmlns:c="http://schemas.openxmlformats.org/drawingml/2006/chart" r:id="rId2"/>
          </a:graphicData>
        </a:graphic>
      </p:graphicFrame>
      <p:sp>
        <p:nvSpPr>
          <p:cNvPr id="5" name="TextBox 4"/>
          <p:cNvSpPr txBox="1"/>
          <p:nvPr/>
        </p:nvSpPr>
        <p:spPr>
          <a:xfrm>
            <a:off x="640080" y="6035040"/>
            <a:ext cx="10881360" cy="548640"/>
          </a:xfrm>
          <a:prstGeom prst="rect">
            <a:avLst/>
          </a:prstGeom>
          <a:noFill/>
        </p:spPr>
        <p:txBody>
          <a:bodyPr wrap="square">
            <a:spAutoFit/>
          </a:bodyPr>
          <a:lstStyle/>
          <a:p>
            <a:pPr>
              <a:spcAft>
                <a:spcPts val="600"/>
              </a:spcAft>
            </a:pPr>
            <a:r>
              <a:rPr sz="1100" b="0">
                <a:solidFill>
                  <a:srgbClr val="6F6A63"/>
                </a:solidFill>
                <a:latin typeface="Century Gothic"/>
              </a:rPr>
              <a:t>Among participants with both a pre and a post answer. 'Improved' means at least 1 point higher on rating scales, or moving from no to yes.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spAutoFit/>
          </a:bodyPr>
          <a:lstStyle/>
          <a:p>
            <a:pPr>
              <a:spcAft>
                <a:spcPts val="600"/>
              </a:spcAft>
            </a:pPr>
            <a:r>
              <a:rPr sz="1100" b="1">
                <a:solidFill>
                  <a:srgbClr val="6F6A63"/>
                </a:solidFill>
                <a:latin typeface="Century Gothic"/>
              </a:rPr>
              <a:t>RESULTS</a:t>
            </a:r>
          </a:p>
        </p:txBody>
      </p:sp>
      <p:sp>
        <p:nvSpPr>
          <p:cNvPr id="3" name="TextBox 2"/>
          <p:cNvSpPr txBox="1"/>
          <p:nvPr/>
        </p:nvSpPr>
        <p:spPr>
          <a:xfrm>
            <a:off x="640080" y="594360"/>
            <a:ext cx="10972800" cy="822960"/>
          </a:xfrm>
          <a:prstGeom prst="rect">
            <a:avLst/>
          </a:prstGeom>
          <a:noFill/>
        </p:spPr>
        <p:txBody>
          <a:bodyPr wrap="square">
            <a:spAutoFit/>
          </a:bodyPr>
          <a:lstStyle/>
          <a:p>
            <a:pPr>
              <a:spcAft>
                <a:spcPts val="600"/>
              </a:spcAft>
            </a:pPr>
            <a:r>
              <a:rPr sz="2600" b="1">
                <a:solidFill>
                  <a:srgbClr val="2B2B2B"/>
                </a:solidFill>
                <a:latin typeface="Century Gothic"/>
              </a:rPr>
              <a:t>Confidence addressing a rent or landlord issue: average, before and after</a:t>
            </a:r>
          </a:p>
        </p:txBody>
      </p:sp>
      <p:graphicFrame>
        <p:nvGraphicFramePr>
          <p:cNvPr id="4" name="Chart 3"/>
          <p:cNvGraphicFramePr>
            <a:graphicFrameLocks noGrp="1"/>
          </p:cNvGraphicFramePr>
          <p:nvPr/>
        </p:nvGraphicFramePr>
        <p:xfrm>
          <a:off x="640080" y="1463040"/>
          <a:ext cx="10881360" cy="4480560"/>
        </p:xfrm>
        <a:graphic>
          <a:graphicData uri="http://schemas.openxmlformats.org/drawingml/2006/chart">
            <c:chart xmlns:c="http://schemas.openxmlformats.org/drawingml/2006/chart" r:id="rId2"/>
          </a:graphicData>
        </a:graphic>
      </p:graphicFrame>
      <p:sp>
        <p:nvSpPr>
          <p:cNvPr id="5" name="TextBox 4"/>
          <p:cNvSpPr txBox="1"/>
          <p:nvPr/>
        </p:nvSpPr>
        <p:spPr>
          <a:xfrm>
            <a:off x="640080" y="6035040"/>
            <a:ext cx="10881360" cy="548640"/>
          </a:xfrm>
          <a:prstGeom prst="rect">
            <a:avLst/>
          </a:prstGeom>
          <a:noFill/>
        </p:spPr>
        <p:txBody>
          <a:bodyPr wrap="square">
            <a:spAutoFit/>
          </a:bodyPr>
          <a:lstStyle/>
          <a:p>
            <a:pPr>
              <a:spcAft>
                <a:spcPts val="600"/>
              </a:spcAft>
            </a:pPr>
            <a:r>
              <a:rPr sz="1100" b="0">
                <a:solidFill>
                  <a:srgbClr val="6F6A63"/>
                </a:solidFill>
                <a:latin typeface="Century Gothic"/>
              </a:rPr>
              <a:t>20 participants answered both pre and post.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spAutoFit/>
          </a:bodyPr>
          <a:lstStyle/>
          <a:p>
            <a:pPr>
              <a:spcAft>
                <a:spcPts val="600"/>
              </a:spcAft>
            </a:pPr>
            <a:r>
              <a:rPr sz="1100" b="1">
                <a:solidFill>
                  <a:srgbClr val="6F6A63"/>
                </a:solidFill>
                <a:latin typeface="Century Gothic"/>
              </a:rPr>
              <a:t>RESULTS</a:t>
            </a:r>
          </a:p>
        </p:txBody>
      </p:sp>
      <p:sp>
        <p:nvSpPr>
          <p:cNvPr id="3" name="TextBox 2"/>
          <p:cNvSpPr txBox="1"/>
          <p:nvPr/>
        </p:nvSpPr>
        <p:spPr>
          <a:xfrm>
            <a:off x="640080" y="594360"/>
            <a:ext cx="10972800" cy="822960"/>
          </a:xfrm>
          <a:prstGeom prst="rect">
            <a:avLst/>
          </a:prstGeom>
          <a:noFill/>
        </p:spPr>
        <p:txBody>
          <a:bodyPr wrap="square">
            <a:spAutoFit/>
          </a:bodyPr>
          <a:lstStyle/>
          <a:p>
            <a:pPr>
              <a:spcAft>
                <a:spcPts val="600"/>
              </a:spcAft>
            </a:pPr>
            <a:r>
              <a:rPr sz="2600" b="1">
                <a:solidFill>
                  <a:srgbClr val="2B2B2B"/>
                </a:solidFill>
                <a:latin typeface="Century Gothic"/>
              </a:rPr>
              <a:t>Knowing where to seek help for a chosen need: share answering yes, before and after</a:t>
            </a:r>
          </a:p>
        </p:txBody>
      </p:sp>
      <p:graphicFrame>
        <p:nvGraphicFramePr>
          <p:cNvPr id="4" name="Chart 3"/>
          <p:cNvGraphicFramePr>
            <a:graphicFrameLocks noGrp="1"/>
          </p:cNvGraphicFramePr>
          <p:nvPr/>
        </p:nvGraphicFramePr>
        <p:xfrm>
          <a:off x="640080" y="1463040"/>
          <a:ext cx="10881360" cy="4480560"/>
        </p:xfrm>
        <a:graphic>
          <a:graphicData uri="http://schemas.openxmlformats.org/drawingml/2006/chart">
            <c:chart xmlns:c="http://schemas.openxmlformats.org/drawingml/2006/chart" r:id="rId2"/>
          </a:graphicData>
        </a:graphic>
      </p:graphicFrame>
      <p:sp>
        <p:nvSpPr>
          <p:cNvPr id="5" name="TextBox 4"/>
          <p:cNvSpPr txBox="1"/>
          <p:nvPr/>
        </p:nvSpPr>
        <p:spPr>
          <a:xfrm>
            <a:off x="640080" y="6035040"/>
            <a:ext cx="10881360" cy="548640"/>
          </a:xfrm>
          <a:prstGeom prst="rect">
            <a:avLst/>
          </a:prstGeom>
          <a:noFill/>
        </p:spPr>
        <p:txBody>
          <a:bodyPr wrap="square">
            <a:spAutoFit/>
          </a:bodyPr>
          <a:lstStyle/>
          <a:p>
            <a:pPr>
              <a:spcAft>
                <a:spcPts val="600"/>
              </a:spcAft>
            </a:pPr>
            <a:r>
              <a:rPr sz="1100" b="0">
                <a:solidFill>
                  <a:srgbClr val="6F6A63"/>
                </a:solidFill>
                <a:latin typeface="Century Gothic"/>
              </a:rPr>
              <a:t>20 participants answered both pre and post.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spAutoFit/>
          </a:bodyPr>
          <a:lstStyle/>
          <a:p>
            <a:pPr>
              <a:spcAft>
                <a:spcPts val="600"/>
              </a:spcAft>
            </a:pPr>
            <a:r>
              <a:rPr sz="1100" b="1">
                <a:solidFill>
                  <a:srgbClr val="6F6A63"/>
                </a:solidFill>
                <a:latin typeface="Century Gothic"/>
              </a:rPr>
              <a:t>RESULTS</a:t>
            </a:r>
          </a:p>
        </p:txBody>
      </p:sp>
      <p:sp>
        <p:nvSpPr>
          <p:cNvPr id="3" name="TextBox 2"/>
          <p:cNvSpPr txBox="1"/>
          <p:nvPr/>
        </p:nvSpPr>
        <p:spPr>
          <a:xfrm>
            <a:off x="640080" y="594360"/>
            <a:ext cx="10972800" cy="822960"/>
          </a:xfrm>
          <a:prstGeom prst="rect">
            <a:avLst/>
          </a:prstGeom>
          <a:noFill/>
        </p:spPr>
        <p:txBody>
          <a:bodyPr wrap="square">
            <a:spAutoFit/>
          </a:bodyPr>
          <a:lstStyle/>
          <a:p>
            <a:pPr>
              <a:spcAft>
                <a:spcPts val="600"/>
              </a:spcAft>
            </a:pPr>
            <a:r>
              <a:rPr sz="2600" b="1">
                <a:solidFill>
                  <a:srgbClr val="2B2B2B"/>
                </a:solidFill>
                <a:latin typeface="Century Gothic"/>
              </a:rPr>
              <a:t>Parent-reported stress: average, before and after</a:t>
            </a:r>
          </a:p>
        </p:txBody>
      </p:sp>
      <p:graphicFrame>
        <p:nvGraphicFramePr>
          <p:cNvPr id="4" name="Chart 3"/>
          <p:cNvGraphicFramePr>
            <a:graphicFrameLocks noGrp="1"/>
          </p:cNvGraphicFramePr>
          <p:nvPr/>
        </p:nvGraphicFramePr>
        <p:xfrm>
          <a:off x="640080" y="1463040"/>
          <a:ext cx="10881360" cy="4480560"/>
        </p:xfrm>
        <a:graphic>
          <a:graphicData uri="http://schemas.openxmlformats.org/drawingml/2006/chart">
            <c:chart xmlns:c="http://schemas.openxmlformats.org/drawingml/2006/chart" r:id="rId2"/>
          </a:graphicData>
        </a:graphic>
      </p:graphicFrame>
      <p:sp>
        <p:nvSpPr>
          <p:cNvPr id="5" name="TextBox 4"/>
          <p:cNvSpPr txBox="1"/>
          <p:nvPr/>
        </p:nvSpPr>
        <p:spPr>
          <a:xfrm>
            <a:off x="640080" y="6035040"/>
            <a:ext cx="10881360" cy="548640"/>
          </a:xfrm>
          <a:prstGeom prst="rect">
            <a:avLst/>
          </a:prstGeom>
          <a:noFill/>
        </p:spPr>
        <p:txBody>
          <a:bodyPr wrap="square">
            <a:spAutoFit/>
          </a:bodyPr>
          <a:lstStyle/>
          <a:p>
            <a:pPr>
              <a:spcAft>
                <a:spcPts val="600"/>
              </a:spcAft>
            </a:pPr>
            <a:r>
              <a:rPr sz="1100" b="0">
                <a:solidFill>
                  <a:srgbClr val="6F6A63"/>
                </a:solidFill>
                <a:latin typeface="Century Gothic"/>
              </a:rPr>
              <a:t>20 participants answered both pre and post.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spAutoFit/>
          </a:bodyPr>
          <a:lstStyle/>
          <a:p>
            <a:pPr>
              <a:spcAft>
                <a:spcPts val="600"/>
              </a:spcAft>
            </a:pPr>
            <a:r>
              <a:rPr sz="1100" b="1">
                <a:solidFill>
                  <a:srgbClr val="6F6A63"/>
                </a:solidFill>
                <a:latin typeface="Century Gothic"/>
              </a:rPr>
              <a:t>RESULTS</a:t>
            </a:r>
          </a:p>
        </p:txBody>
      </p:sp>
      <p:sp>
        <p:nvSpPr>
          <p:cNvPr id="3" name="TextBox 2"/>
          <p:cNvSpPr txBox="1"/>
          <p:nvPr/>
        </p:nvSpPr>
        <p:spPr>
          <a:xfrm>
            <a:off x="640080" y="594360"/>
            <a:ext cx="10972800" cy="822960"/>
          </a:xfrm>
          <a:prstGeom prst="rect">
            <a:avLst/>
          </a:prstGeom>
          <a:noFill/>
        </p:spPr>
        <p:txBody>
          <a:bodyPr wrap="square">
            <a:spAutoFit/>
          </a:bodyPr>
          <a:lstStyle/>
          <a:p>
            <a:pPr>
              <a:spcAft>
                <a:spcPts val="600"/>
              </a:spcAft>
            </a:pPr>
            <a:r>
              <a:rPr sz="2600" b="1">
                <a:solidFill>
                  <a:srgbClr val="2B2B2B"/>
                </a:solidFill>
                <a:latin typeface="Century Gothic"/>
              </a:rPr>
              <a:t>Surveys completed</a:t>
            </a:r>
          </a:p>
        </p:txBody>
      </p:sp>
      <p:graphicFrame>
        <p:nvGraphicFramePr>
          <p:cNvPr id="4" name="Chart 3"/>
          <p:cNvGraphicFramePr>
            <a:graphicFrameLocks noGrp="1"/>
          </p:cNvGraphicFramePr>
          <p:nvPr/>
        </p:nvGraphicFramePr>
        <p:xfrm>
          <a:off x="640080" y="1463040"/>
          <a:ext cx="10881360" cy="4480560"/>
        </p:xfrm>
        <a:graphic>
          <a:graphicData uri="http://schemas.openxmlformats.org/drawingml/2006/chart">
            <c:chart xmlns:c="http://schemas.openxmlformats.org/drawingml/2006/chart" r:id="rId2"/>
          </a:graphicData>
        </a:graphic>
      </p:graphicFrame>
      <p:sp>
        <p:nvSpPr>
          <p:cNvPr id="5" name="TextBox 4"/>
          <p:cNvSpPr txBox="1"/>
          <p:nvPr/>
        </p:nvSpPr>
        <p:spPr>
          <a:xfrm>
            <a:off x="640080" y="6035040"/>
            <a:ext cx="10881360" cy="548640"/>
          </a:xfrm>
          <a:prstGeom prst="rect">
            <a:avLst/>
          </a:prstGeom>
          <a:noFill/>
        </p:spPr>
        <p:txBody>
          <a:bodyPr wrap="square">
            <a:spAutoFit/>
          </a:bodyPr>
          <a:lstStyle/>
          <a:p>
            <a:pPr>
              <a:spcAft>
                <a:spcPts val="600"/>
              </a:spcAft>
            </a:pPr>
            <a:r>
              <a:rPr sz="1100" b="0">
                <a:solidFill>
                  <a:srgbClr val="6F6A63"/>
                </a:solidFill>
                <a:latin typeface="Century Gothic"/>
              </a:rPr>
              <a:t>Pre and post responses received for each survey tool.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spAutoFit/>
          </a:bodyPr>
          <a:lstStyle/>
          <a:p>
            <a:pPr>
              <a:spcAft>
                <a:spcPts val="600"/>
              </a:spcAft>
            </a:pPr>
            <a:r>
              <a:rPr sz="1100" b="1">
                <a:solidFill>
                  <a:srgbClr val="6F6A63"/>
                </a:solidFill>
                <a:latin typeface="Century Gothic"/>
              </a:rPr>
              <a:t>RESULTS</a:t>
            </a:r>
          </a:p>
        </p:txBody>
      </p:sp>
      <p:sp>
        <p:nvSpPr>
          <p:cNvPr id="3" name="TextBox 2"/>
          <p:cNvSpPr txBox="1"/>
          <p:nvPr/>
        </p:nvSpPr>
        <p:spPr>
          <a:xfrm>
            <a:off x="640080" y="594360"/>
            <a:ext cx="10972800" cy="822960"/>
          </a:xfrm>
          <a:prstGeom prst="rect">
            <a:avLst/>
          </a:prstGeom>
          <a:noFill/>
        </p:spPr>
        <p:txBody>
          <a:bodyPr wrap="square">
            <a:spAutoFit/>
          </a:bodyPr>
          <a:lstStyle/>
          <a:p>
            <a:pPr>
              <a:spcAft>
                <a:spcPts val="600"/>
              </a:spcAft>
            </a:pPr>
            <a:r>
              <a:rPr sz="2600" b="1">
                <a:solidFill>
                  <a:srgbClr val="2B2B2B"/>
                </a:solidFill>
                <a:latin typeface="Century Gothic"/>
              </a:rPr>
              <a:t>Who we serve: What is your age</a:t>
            </a:r>
          </a:p>
        </p:txBody>
      </p:sp>
      <p:graphicFrame>
        <p:nvGraphicFramePr>
          <p:cNvPr id="4" name="Chart 3"/>
          <p:cNvGraphicFramePr>
            <a:graphicFrameLocks noGrp="1"/>
          </p:cNvGraphicFramePr>
          <p:nvPr/>
        </p:nvGraphicFramePr>
        <p:xfrm>
          <a:off x="640080" y="1463040"/>
          <a:ext cx="10881360" cy="4480560"/>
        </p:xfrm>
        <a:graphic>
          <a:graphicData uri="http://schemas.openxmlformats.org/drawingml/2006/chart">
            <c:chart xmlns:c="http://schemas.openxmlformats.org/drawingml/2006/chart" r:id="rId2"/>
          </a:graphicData>
        </a:graphic>
      </p:graphicFrame>
      <p:sp>
        <p:nvSpPr>
          <p:cNvPr id="5" name="TextBox 4"/>
          <p:cNvSpPr txBox="1"/>
          <p:nvPr/>
        </p:nvSpPr>
        <p:spPr>
          <a:xfrm>
            <a:off x="640080" y="6035040"/>
            <a:ext cx="10881360" cy="548640"/>
          </a:xfrm>
          <a:prstGeom prst="rect">
            <a:avLst/>
          </a:prstGeom>
          <a:noFill/>
        </p:spPr>
        <p:txBody>
          <a:bodyPr wrap="square">
            <a:spAutoFit/>
          </a:bodyPr>
          <a:lstStyle/>
          <a:p>
            <a:pPr>
              <a:spcAft>
                <a:spcPts val="600"/>
              </a:spcAft>
            </a:pPr>
            <a:r>
              <a:rPr sz="1100" b="0">
                <a:solidFill>
                  <a:srgbClr val="6F6A63"/>
                </a:solidFill>
                <a:latin typeface="Century Gothic"/>
              </a:rPr>
              <a:t>24 participants answered. Groups with fewer than 5 people are combined to protect privacy.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spAutoFit/>
          </a:bodyPr>
          <a:lstStyle/>
          <a:p>
            <a:pPr>
              <a:spcAft>
                <a:spcPts val="600"/>
              </a:spcAft>
            </a:pPr>
            <a:r>
              <a:rPr sz="1100" b="1">
                <a:solidFill>
                  <a:srgbClr val="6F6A63"/>
                </a:solidFill>
                <a:latin typeface="Century Gothic"/>
              </a:rPr>
              <a:t>RESULTS</a:t>
            </a:r>
          </a:p>
        </p:txBody>
      </p:sp>
      <p:sp>
        <p:nvSpPr>
          <p:cNvPr id="3" name="TextBox 2"/>
          <p:cNvSpPr txBox="1"/>
          <p:nvPr/>
        </p:nvSpPr>
        <p:spPr>
          <a:xfrm>
            <a:off x="640080" y="594360"/>
            <a:ext cx="10972800" cy="822960"/>
          </a:xfrm>
          <a:prstGeom prst="rect">
            <a:avLst/>
          </a:prstGeom>
          <a:noFill/>
        </p:spPr>
        <p:txBody>
          <a:bodyPr wrap="square">
            <a:spAutoFit/>
          </a:bodyPr>
          <a:lstStyle/>
          <a:p>
            <a:pPr>
              <a:spcAft>
                <a:spcPts val="600"/>
              </a:spcAft>
            </a:pPr>
            <a:r>
              <a:rPr sz="2600" b="1">
                <a:solidFill>
                  <a:srgbClr val="2B2B2B"/>
                </a:solidFill>
                <a:latin typeface="Century Gothic"/>
              </a:rPr>
              <a:t>Who we serve: What is your gender</a:t>
            </a:r>
          </a:p>
        </p:txBody>
      </p:sp>
      <p:graphicFrame>
        <p:nvGraphicFramePr>
          <p:cNvPr id="4" name="Chart 3"/>
          <p:cNvGraphicFramePr>
            <a:graphicFrameLocks noGrp="1"/>
          </p:cNvGraphicFramePr>
          <p:nvPr/>
        </p:nvGraphicFramePr>
        <p:xfrm>
          <a:off x="640080" y="1463040"/>
          <a:ext cx="10881360" cy="4480560"/>
        </p:xfrm>
        <a:graphic>
          <a:graphicData uri="http://schemas.openxmlformats.org/drawingml/2006/chart">
            <c:chart xmlns:c="http://schemas.openxmlformats.org/drawingml/2006/chart" r:id="rId2"/>
          </a:graphicData>
        </a:graphic>
      </p:graphicFrame>
      <p:sp>
        <p:nvSpPr>
          <p:cNvPr id="5" name="TextBox 4"/>
          <p:cNvSpPr txBox="1"/>
          <p:nvPr/>
        </p:nvSpPr>
        <p:spPr>
          <a:xfrm>
            <a:off x="640080" y="6035040"/>
            <a:ext cx="10881360" cy="548640"/>
          </a:xfrm>
          <a:prstGeom prst="rect">
            <a:avLst/>
          </a:prstGeom>
          <a:noFill/>
        </p:spPr>
        <p:txBody>
          <a:bodyPr wrap="square">
            <a:spAutoFit/>
          </a:bodyPr>
          <a:lstStyle/>
          <a:p>
            <a:pPr>
              <a:spcAft>
                <a:spcPts val="600"/>
              </a:spcAft>
            </a:pPr>
            <a:r>
              <a:rPr sz="1100" b="0">
                <a:solidFill>
                  <a:srgbClr val="6F6A63"/>
                </a:solidFill>
                <a:latin typeface="Century Gothic"/>
              </a:rPr>
              <a:t>24 participants answered. Groups with fewer than 5 people are combined to protect privacy.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spAutoFit/>
          </a:bodyPr>
          <a:lstStyle/>
          <a:p>
            <a:pPr>
              <a:spcAft>
                <a:spcPts val="600"/>
              </a:spcAft>
            </a:pPr>
            <a:r>
              <a:rPr sz="1100" b="1">
                <a:solidFill>
                  <a:srgbClr val="6F6A63"/>
                </a:solidFill>
                <a:latin typeface="Century Gothic"/>
              </a:rPr>
              <a:t>RESULTS</a:t>
            </a:r>
          </a:p>
        </p:txBody>
      </p:sp>
      <p:sp>
        <p:nvSpPr>
          <p:cNvPr id="3" name="TextBox 2"/>
          <p:cNvSpPr txBox="1"/>
          <p:nvPr/>
        </p:nvSpPr>
        <p:spPr>
          <a:xfrm>
            <a:off x="640080" y="594360"/>
            <a:ext cx="10972800" cy="822960"/>
          </a:xfrm>
          <a:prstGeom prst="rect">
            <a:avLst/>
          </a:prstGeom>
          <a:noFill/>
        </p:spPr>
        <p:txBody>
          <a:bodyPr wrap="square">
            <a:spAutoFit/>
          </a:bodyPr>
          <a:lstStyle/>
          <a:p>
            <a:pPr>
              <a:spcAft>
                <a:spcPts val="600"/>
              </a:spcAft>
            </a:pPr>
            <a:r>
              <a:rPr sz="2600" b="1">
                <a:solidFill>
                  <a:srgbClr val="2B2B2B"/>
                </a:solidFill>
                <a:latin typeface="Century Gothic"/>
              </a:rPr>
              <a:t>Who we serve: How do you describe your race or ethnicity? (choose all that apply)</a:t>
            </a:r>
          </a:p>
        </p:txBody>
      </p:sp>
      <p:graphicFrame>
        <p:nvGraphicFramePr>
          <p:cNvPr id="4" name="Chart 3"/>
          <p:cNvGraphicFramePr>
            <a:graphicFrameLocks noGrp="1"/>
          </p:cNvGraphicFramePr>
          <p:nvPr/>
        </p:nvGraphicFramePr>
        <p:xfrm>
          <a:off x="640080" y="1463040"/>
          <a:ext cx="10881360" cy="4480560"/>
        </p:xfrm>
        <a:graphic>
          <a:graphicData uri="http://schemas.openxmlformats.org/drawingml/2006/chart">
            <c:chart xmlns:c="http://schemas.openxmlformats.org/drawingml/2006/chart" r:id="rId2"/>
          </a:graphicData>
        </a:graphic>
      </p:graphicFrame>
      <p:sp>
        <p:nvSpPr>
          <p:cNvPr id="5" name="TextBox 4"/>
          <p:cNvSpPr txBox="1"/>
          <p:nvPr/>
        </p:nvSpPr>
        <p:spPr>
          <a:xfrm>
            <a:off x="640080" y="6035040"/>
            <a:ext cx="10881360" cy="548640"/>
          </a:xfrm>
          <a:prstGeom prst="rect">
            <a:avLst/>
          </a:prstGeom>
          <a:noFill/>
        </p:spPr>
        <p:txBody>
          <a:bodyPr wrap="square">
            <a:spAutoFit/>
          </a:bodyPr>
          <a:lstStyle/>
          <a:p>
            <a:pPr>
              <a:spcAft>
                <a:spcPts val="600"/>
              </a:spcAft>
            </a:pPr>
            <a:r>
              <a:rPr sz="1100" b="0">
                <a:solidFill>
                  <a:srgbClr val="6F6A63"/>
                </a:solidFill>
                <a:latin typeface="Century Gothic"/>
              </a:rPr>
              <a:t>24 participants answered. Groups with fewer than 5 people are combined to protect privacy.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spAutoFit/>
          </a:bodyPr>
          <a:lstStyle/>
          <a:p>
            <a:pPr>
              <a:spcAft>
                <a:spcPts val="600"/>
              </a:spcAft>
            </a:pPr>
            <a:r>
              <a:rPr sz="1100" b="1">
                <a:solidFill>
                  <a:srgbClr val="6F6A63"/>
                </a:solidFill>
                <a:latin typeface="Century Gothic"/>
              </a:rPr>
              <a:t>RESULTS</a:t>
            </a:r>
          </a:p>
        </p:txBody>
      </p:sp>
      <p:sp>
        <p:nvSpPr>
          <p:cNvPr id="3" name="TextBox 2"/>
          <p:cNvSpPr txBox="1"/>
          <p:nvPr/>
        </p:nvSpPr>
        <p:spPr>
          <a:xfrm>
            <a:off x="640080" y="594360"/>
            <a:ext cx="10972800" cy="822960"/>
          </a:xfrm>
          <a:prstGeom prst="rect">
            <a:avLst/>
          </a:prstGeom>
          <a:noFill/>
        </p:spPr>
        <p:txBody>
          <a:bodyPr wrap="square">
            <a:spAutoFit/>
          </a:bodyPr>
          <a:lstStyle/>
          <a:p>
            <a:pPr>
              <a:spcAft>
                <a:spcPts val="600"/>
              </a:spcAft>
            </a:pPr>
            <a:r>
              <a:rPr sz="2600" b="1">
                <a:solidFill>
                  <a:srgbClr val="2B2B2B"/>
                </a:solidFill>
                <a:latin typeface="Century Gothic"/>
              </a:rPr>
              <a:t>Who we serve: What language do you speak most at home</a:t>
            </a:r>
          </a:p>
        </p:txBody>
      </p:sp>
      <p:graphicFrame>
        <p:nvGraphicFramePr>
          <p:cNvPr id="4" name="Chart 3"/>
          <p:cNvGraphicFramePr>
            <a:graphicFrameLocks noGrp="1"/>
          </p:cNvGraphicFramePr>
          <p:nvPr/>
        </p:nvGraphicFramePr>
        <p:xfrm>
          <a:off x="640080" y="1463040"/>
          <a:ext cx="10881360" cy="4480560"/>
        </p:xfrm>
        <a:graphic>
          <a:graphicData uri="http://schemas.openxmlformats.org/drawingml/2006/chart">
            <c:chart xmlns:c="http://schemas.openxmlformats.org/drawingml/2006/chart" r:id="rId2"/>
          </a:graphicData>
        </a:graphic>
      </p:graphicFrame>
      <p:sp>
        <p:nvSpPr>
          <p:cNvPr id="5" name="TextBox 4"/>
          <p:cNvSpPr txBox="1"/>
          <p:nvPr/>
        </p:nvSpPr>
        <p:spPr>
          <a:xfrm>
            <a:off x="640080" y="6035040"/>
            <a:ext cx="10881360" cy="548640"/>
          </a:xfrm>
          <a:prstGeom prst="rect">
            <a:avLst/>
          </a:prstGeom>
          <a:noFill/>
        </p:spPr>
        <p:txBody>
          <a:bodyPr wrap="square">
            <a:spAutoFit/>
          </a:bodyPr>
          <a:lstStyle/>
          <a:p>
            <a:pPr>
              <a:spcAft>
                <a:spcPts val="600"/>
              </a:spcAft>
            </a:pPr>
            <a:r>
              <a:rPr sz="1100" b="0">
                <a:solidFill>
                  <a:srgbClr val="6F6A63"/>
                </a:solidFill>
                <a:latin typeface="Century Gothic"/>
              </a:rPr>
              <a:t>24 participants answered. Groups with fewer than 5 people are combined to protect privacy.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spAutoFit/>
          </a:bodyPr>
          <a:lstStyle/>
          <a:p>
            <a:pPr>
              <a:spcAft>
                <a:spcPts val="600"/>
              </a:spcAft>
            </a:pPr>
            <a:r>
              <a:rPr sz="1100" b="1">
                <a:solidFill>
                  <a:srgbClr val="6F6A63"/>
                </a:solidFill>
                <a:latin typeface="Century Gothic"/>
              </a:rPr>
              <a:t>RESULTS</a:t>
            </a:r>
          </a:p>
        </p:txBody>
      </p:sp>
      <p:sp>
        <p:nvSpPr>
          <p:cNvPr id="3" name="TextBox 2"/>
          <p:cNvSpPr txBox="1"/>
          <p:nvPr/>
        </p:nvSpPr>
        <p:spPr>
          <a:xfrm>
            <a:off x="640080" y="594360"/>
            <a:ext cx="10972800" cy="822960"/>
          </a:xfrm>
          <a:prstGeom prst="rect">
            <a:avLst/>
          </a:prstGeom>
          <a:noFill/>
        </p:spPr>
        <p:txBody>
          <a:bodyPr wrap="square">
            <a:spAutoFit/>
          </a:bodyPr>
          <a:lstStyle/>
          <a:p>
            <a:pPr>
              <a:spcAft>
                <a:spcPts val="600"/>
              </a:spcAft>
            </a:pPr>
            <a:r>
              <a:rPr sz="2600" b="1">
                <a:solidFill>
                  <a:srgbClr val="2B2B2B"/>
                </a:solidFill>
                <a:latin typeface="Century Gothic"/>
              </a:rPr>
              <a:t>Who we serve: Which town do you live in</a:t>
            </a:r>
          </a:p>
        </p:txBody>
      </p:sp>
      <p:graphicFrame>
        <p:nvGraphicFramePr>
          <p:cNvPr id="4" name="Chart 3"/>
          <p:cNvGraphicFramePr>
            <a:graphicFrameLocks noGrp="1"/>
          </p:cNvGraphicFramePr>
          <p:nvPr/>
        </p:nvGraphicFramePr>
        <p:xfrm>
          <a:off x="640080" y="1463040"/>
          <a:ext cx="10881360" cy="4480560"/>
        </p:xfrm>
        <a:graphic>
          <a:graphicData uri="http://schemas.openxmlformats.org/drawingml/2006/chart">
            <c:chart xmlns:c="http://schemas.openxmlformats.org/drawingml/2006/chart" r:id="rId2"/>
          </a:graphicData>
        </a:graphic>
      </p:graphicFrame>
      <p:sp>
        <p:nvSpPr>
          <p:cNvPr id="5" name="TextBox 4"/>
          <p:cNvSpPr txBox="1"/>
          <p:nvPr/>
        </p:nvSpPr>
        <p:spPr>
          <a:xfrm>
            <a:off x="640080" y="6035040"/>
            <a:ext cx="10881360" cy="548640"/>
          </a:xfrm>
          <a:prstGeom prst="rect">
            <a:avLst/>
          </a:prstGeom>
          <a:noFill/>
        </p:spPr>
        <p:txBody>
          <a:bodyPr wrap="square">
            <a:spAutoFit/>
          </a:bodyPr>
          <a:lstStyle/>
          <a:p>
            <a:pPr>
              <a:spcAft>
                <a:spcPts val="600"/>
              </a:spcAft>
            </a:pPr>
            <a:r>
              <a:rPr sz="1100" b="0">
                <a:solidFill>
                  <a:srgbClr val="6F6A63"/>
                </a:solidFill>
                <a:latin typeface="Century Gothic"/>
              </a:rPr>
              <a:t>24 participants answered. Groups with fewer than 5 people are combined to protect privacy.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spAutoFit/>
          </a:bodyPr>
          <a:lstStyle/>
          <a:p>
            <a:pPr>
              <a:spcAft>
                <a:spcPts val="600"/>
              </a:spcAft>
            </a:pPr>
            <a:r>
              <a:rPr sz="1100" b="1">
                <a:solidFill>
                  <a:srgbClr val="6F6A63"/>
                </a:solidFill>
                <a:latin typeface="Century Gothic"/>
              </a:rPr>
              <a:t>RESULTS</a:t>
            </a:r>
          </a:p>
        </p:txBody>
      </p:sp>
      <p:sp>
        <p:nvSpPr>
          <p:cNvPr id="3" name="TextBox 2"/>
          <p:cNvSpPr txBox="1"/>
          <p:nvPr/>
        </p:nvSpPr>
        <p:spPr>
          <a:xfrm>
            <a:off x="640080" y="594360"/>
            <a:ext cx="10972800" cy="822960"/>
          </a:xfrm>
          <a:prstGeom prst="rect">
            <a:avLst/>
          </a:prstGeom>
          <a:noFill/>
        </p:spPr>
        <p:txBody>
          <a:bodyPr wrap="square">
            <a:spAutoFit/>
          </a:bodyPr>
          <a:lstStyle/>
          <a:p>
            <a:pPr>
              <a:spcAft>
                <a:spcPts val="600"/>
              </a:spcAft>
            </a:pPr>
            <a:r>
              <a:rPr sz="2600" b="1">
                <a:solidFill>
                  <a:srgbClr val="2B2B2B"/>
                </a:solidFill>
                <a:latin typeface="Century Gothic"/>
              </a:rPr>
              <a:t>Who we serve: Do you have children under 18 living with you</a:t>
            </a:r>
          </a:p>
        </p:txBody>
      </p:sp>
      <p:graphicFrame>
        <p:nvGraphicFramePr>
          <p:cNvPr id="4" name="Chart 3"/>
          <p:cNvGraphicFramePr>
            <a:graphicFrameLocks noGrp="1"/>
          </p:cNvGraphicFramePr>
          <p:nvPr/>
        </p:nvGraphicFramePr>
        <p:xfrm>
          <a:off x="640080" y="1463040"/>
          <a:ext cx="10881360" cy="4480560"/>
        </p:xfrm>
        <a:graphic>
          <a:graphicData uri="http://schemas.openxmlformats.org/drawingml/2006/chart">
            <c:chart xmlns:c="http://schemas.openxmlformats.org/drawingml/2006/chart" r:id="rId2"/>
          </a:graphicData>
        </a:graphic>
      </p:graphicFrame>
      <p:sp>
        <p:nvSpPr>
          <p:cNvPr id="5" name="TextBox 4"/>
          <p:cNvSpPr txBox="1"/>
          <p:nvPr/>
        </p:nvSpPr>
        <p:spPr>
          <a:xfrm>
            <a:off x="640080" y="6035040"/>
            <a:ext cx="10881360" cy="548640"/>
          </a:xfrm>
          <a:prstGeom prst="rect">
            <a:avLst/>
          </a:prstGeom>
          <a:noFill/>
        </p:spPr>
        <p:txBody>
          <a:bodyPr wrap="square">
            <a:spAutoFit/>
          </a:bodyPr>
          <a:lstStyle/>
          <a:p>
            <a:pPr>
              <a:spcAft>
                <a:spcPts val="600"/>
              </a:spcAft>
            </a:pPr>
            <a:r>
              <a:rPr sz="1100" b="0">
                <a:solidFill>
                  <a:srgbClr val="6F6A63"/>
                </a:solidFill>
                <a:latin typeface="Century Gothic"/>
              </a:rPr>
              <a:t>24 participants answered. Groups with fewer than 5 people are combined to protect privacy.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spAutoFit/>
          </a:bodyPr>
          <a:lstStyle/>
          <a:p>
            <a:pPr>
              <a:spcAft>
                <a:spcPts val="600"/>
              </a:spcAft>
            </a:pPr>
            <a:r>
              <a:rPr sz="1100" b="1">
                <a:solidFill>
                  <a:srgbClr val="6F6A63"/>
                </a:solidFill>
                <a:latin typeface="Century Gothic"/>
              </a:rPr>
              <a:t>RESULTS</a:t>
            </a:r>
          </a:p>
        </p:txBody>
      </p:sp>
      <p:sp>
        <p:nvSpPr>
          <p:cNvPr id="3" name="TextBox 2"/>
          <p:cNvSpPr txBox="1"/>
          <p:nvPr/>
        </p:nvSpPr>
        <p:spPr>
          <a:xfrm>
            <a:off x="640080" y="594360"/>
            <a:ext cx="10972800" cy="822960"/>
          </a:xfrm>
          <a:prstGeom prst="rect">
            <a:avLst/>
          </a:prstGeom>
          <a:noFill/>
        </p:spPr>
        <p:txBody>
          <a:bodyPr wrap="square">
            <a:spAutoFit/>
          </a:bodyPr>
          <a:lstStyle/>
          <a:p>
            <a:pPr>
              <a:spcAft>
                <a:spcPts val="600"/>
              </a:spcAft>
            </a:pPr>
            <a:r>
              <a:rPr sz="2600" b="1">
                <a:solidFill>
                  <a:srgbClr val="2B2B2B"/>
                </a:solidFill>
                <a:latin typeface="Century Gothic"/>
              </a:rPr>
              <a:t>How many families in the reporting cohort have had the full, comparable observation period to move into housing</a:t>
            </a:r>
          </a:p>
        </p:txBody>
      </p:sp>
      <p:graphicFrame>
        <p:nvGraphicFramePr>
          <p:cNvPr id="4" name="Chart 3"/>
          <p:cNvGraphicFramePr>
            <a:graphicFrameLocks noGrp="1"/>
          </p:cNvGraphicFramePr>
          <p:nvPr/>
        </p:nvGraphicFramePr>
        <p:xfrm>
          <a:off x="640080" y="1463040"/>
          <a:ext cx="10881360" cy="4480560"/>
        </p:xfrm>
        <a:graphic>
          <a:graphicData uri="http://schemas.openxmlformats.org/drawingml/2006/chart">
            <c:chart xmlns:c="http://schemas.openxmlformats.org/drawingml/2006/chart" r:id="rId2"/>
          </a:graphicData>
        </a:graphic>
      </p:graphicFrame>
      <p:sp>
        <p:nvSpPr>
          <p:cNvPr id="5" name="TextBox 4"/>
          <p:cNvSpPr txBox="1"/>
          <p:nvPr/>
        </p:nvSpPr>
        <p:spPr>
          <a:xfrm>
            <a:off x="640080" y="6035040"/>
            <a:ext cx="10881360" cy="548640"/>
          </a:xfrm>
          <a:prstGeom prst="rect">
            <a:avLst/>
          </a:prstGeom>
          <a:noFill/>
        </p:spPr>
        <p:txBody>
          <a:bodyPr wrap="square">
            <a:spAutoFit/>
          </a:bodyPr>
          <a:lstStyle/>
          <a:p>
            <a:pPr>
              <a:spcAft>
                <a:spcPts val="600"/>
              </a:spcAft>
            </a:pPr>
            <a:r>
              <a:rPr sz="1100" b="0">
                <a:solidFill>
                  <a:srgbClr val="6F6A63"/>
                </a:solidFill>
                <a:latin typeface="Century Gothic"/>
              </a:rPr>
              <a:t>Entered by staff. Total: 57.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spAutoFit/>
          </a:bodyPr>
          <a:lstStyle/>
          <a:p>
            <a:pPr>
              <a:spcAft>
                <a:spcPts val="600"/>
              </a:spcAft>
            </a:pPr>
            <a:r>
              <a:rPr sz="1100" b="1">
                <a:solidFill>
                  <a:srgbClr val="6F6A63"/>
                </a:solidFill>
                <a:latin typeface="Century Gothic"/>
              </a:rPr>
              <a:t>RESULTS</a:t>
            </a:r>
          </a:p>
        </p:txBody>
      </p:sp>
      <p:sp>
        <p:nvSpPr>
          <p:cNvPr id="3" name="TextBox 2"/>
          <p:cNvSpPr txBox="1"/>
          <p:nvPr/>
        </p:nvSpPr>
        <p:spPr>
          <a:xfrm>
            <a:off x="640080" y="594360"/>
            <a:ext cx="10972800" cy="822960"/>
          </a:xfrm>
          <a:prstGeom prst="rect">
            <a:avLst/>
          </a:prstGeom>
          <a:noFill/>
        </p:spPr>
        <p:txBody>
          <a:bodyPr wrap="square">
            <a:spAutoFit/>
          </a:bodyPr>
          <a:lstStyle/>
          <a:p>
            <a:pPr>
              <a:spcAft>
                <a:spcPts val="600"/>
              </a:spcAft>
            </a:pPr>
            <a:r>
              <a:rPr sz="2600" b="1">
                <a:solidFill>
                  <a:srgbClr val="2B2B2B"/>
                </a:solidFill>
                <a:latin typeface="Century Gothic"/>
              </a:rPr>
              <a:t>How many families in that cohort moved into permanent housing during the observation period</a:t>
            </a:r>
          </a:p>
        </p:txBody>
      </p:sp>
      <p:graphicFrame>
        <p:nvGraphicFramePr>
          <p:cNvPr id="4" name="Chart 3"/>
          <p:cNvGraphicFramePr>
            <a:graphicFrameLocks noGrp="1"/>
          </p:cNvGraphicFramePr>
          <p:nvPr/>
        </p:nvGraphicFramePr>
        <p:xfrm>
          <a:off x="640080" y="1463040"/>
          <a:ext cx="10881360" cy="4480560"/>
        </p:xfrm>
        <a:graphic>
          <a:graphicData uri="http://schemas.openxmlformats.org/drawingml/2006/chart">
            <c:chart xmlns:c="http://schemas.openxmlformats.org/drawingml/2006/chart" r:id="rId2"/>
          </a:graphicData>
        </a:graphic>
      </p:graphicFrame>
      <p:sp>
        <p:nvSpPr>
          <p:cNvPr id="5" name="TextBox 4"/>
          <p:cNvSpPr txBox="1"/>
          <p:nvPr/>
        </p:nvSpPr>
        <p:spPr>
          <a:xfrm>
            <a:off x="640080" y="6035040"/>
            <a:ext cx="10881360" cy="548640"/>
          </a:xfrm>
          <a:prstGeom prst="rect">
            <a:avLst/>
          </a:prstGeom>
          <a:noFill/>
        </p:spPr>
        <p:txBody>
          <a:bodyPr wrap="square">
            <a:spAutoFit/>
          </a:bodyPr>
          <a:lstStyle/>
          <a:p>
            <a:pPr>
              <a:spcAft>
                <a:spcPts val="600"/>
              </a:spcAft>
            </a:pPr>
            <a:r>
              <a:rPr sz="1100" b="0">
                <a:solidFill>
                  <a:srgbClr val="6F6A63"/>
                </a:solidFill>
                <a:latin typeface="Century Gothic"/>
              </a:rPr>
              <a:t>Entered by staff. Total: 45.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spAutoFit/>
          </a:bodyPr>
          <a:lstStyle/>
          <a:p>
            <a:pPr>
              <a:spcAft>
                <a:spcPts val="600"/>
              </a:spcAft>
            </a:pPr>
            <a:r>
              <a:rPr sz="1100" b="1">
                <a:solidFill>
                  <a:srgbClr val="6F6A63"/>
                </a:solidFill>
                <a:latin typeface="Century Gothic"/>
              </a:rPr>
              <a:t>RESULTS</a:t>
            </a:r>
          </a:p>
        </p:txBody>
      </p:sp>
      <p:sp>
        <p:nvSpPr>
          <p:cNvPr id="3" name="TextBox 2"/>
          <p:cNvSpPr txBox="1"/>
          <p:nvPr/>
        </p:nvSpPr>
        <p:spPr>
          <a:xfrm>
            <a:off x="640080" y="594360"/>
            <a:ext cx="10972800" cy="822960"/>
          </a:xfrm>
          <a:prstGeom prst="rect">
            <a:avLst/>
          </a:prstGeom>
          <a:noFill/>
        </p:spPr>
        <p:txBody>
          <a:bodyPr wrap="square">
            <a:spAutoFit/>
          </a:bodyPr>
          <a:lstStyle/>
          <a:p>
            <a:pPr>
              <a:spcAft>
                <a:spcPts val="600"/>
              </a:spcAft>
            </a:pPr>
            <a:r>
              <a:rPr sz="2600" b="1">
                <a:solidFill>
                  <a:srgbClr val="2B2B2B"/>
                </a:solidFill>
                <a:latin typeface="Century Gothic"/>
              </a:rPr>
              <a:t>Among families who moved in, what was the median number of days from enrollment to move-in</a:t>
            </a:r>
          </a:p>
        </p:txBody>
      </p:sp>
      <p:graphicFrame>
        <p:nvGraphicFramePr>
          <p:cNvPr id="4" name="Chart 3"/>
          <p:cNvGraphicFramePr>
            <a:graphicFrameLocks noGrp="1"/>
          </p:cNvGraphicFramePr>
          <p:nvPr/>
        </p:nvGraphicFramePr>
        <p:xfrm>
          <a:off x="640080" y="1463040"/>
          <a:ext cx="10881360" cy="4480560"/>
        </p:xfrm>
        <a:graphic>
          <a:graphicData uri="http://schemas.openxmlformats.org/drawingml/2006/chart">
            <c:chart xmlns:c="http://schemas.openxmlformats.org/drawingml/2006/chart" r:id="rId2"/>
          </a:graphicData>
        </a:graphic>
      </p:graphicFrame>
      <p:sp>
        <p:nvSpPr>
          <p:cNvPr id="5" name="TextBox 4"/>
          <p:cNvSpPr txBox="1"/>
          <p:nvPr/>
        </p:nvSpPr>
        <p:spPr>
          <a:xfrm>
            <a:off x="640080" y="6035040"/>
            <a:ext cx="10881360" cy="548640"/>
          </a:xfrm>
          <a:prstGeom prst="rect">
            <a:avLst/>
          </a:prstGeom>
          <a:noFill/>
        </p:spPr>
        <p:txBody>
          <a:bodyPr wrap="square">
            <a:spAutoFit/>
          </a:bodyPr>
          <a:lstStyle/>
          <a:p>
            <a:pPr>
              <a:spcAft>
                <a:spcPts val="600"/>
              </a:spcAft>
            </a:pPr>
            <a:r>
              <a:rPr sz="1100" b="0">
                <a:solidFill>
                  <a:srgbClr val="6F6A63"/>
                </a:solidFill>
                <a:latin typeface="Century Gothic"/>
              </a:rPr>
              <a:t>Entered by staff. Total: 240.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spAutoFit/>
          </a:bodyPr>
          <a:lstStyle/>
          <a:p>
            <a:pPr>
              <a:spcAft>
                <a:spcPts val="600"/>
              </a:spcAft>
            </a:pPr>
            <a:r>
              <a:rPr sz="1100" b="1">
                <a:solidFill>
                  <a:srgbClr val="6F6A63"/>
                </a:solidFill>
                <a:latin typeface="Century Gothic"/>
              </a:rPr>
              <a:t>RESULTS</a:t>
            </a:r>
          </a:p>
        </p:txBody>
      </p:sp>
      <p:sp>
        <p:nvSpPr>
          <p:cNvPr id="3" name="TextBox 2"/>
          <p:cNvSpPr txBox="1"/>
          <p:nvPr/>
        </p:nvSpPr>
        <p:spPr>
          <a:xfrm>
            <a:off x="640080" y="594360"/>
            <a:ext cx="10972800" cy="822960"/>
          </a:xfrm>
          <a:prstGeom prst="rect">
            <a:avLst/>
          </a:prstGeom>
          <a:noFill/>
        </p:spPr>
        <p:txBody>
          <a:bodyPr wrap="square">
            <a:spAutoFit/>
          </a:bodyPr>
          <a:lstStyle/>
          <a:p>
            <a:pPr>
              <a:spcAft>
                <a:spcPts val="600"/>
              </a:spcAft>
            </a:pPr>
            <a:r>
              <a:rPr sz="2600" b="1">
                <a:solidFill>
                  <a:srgbClr val="2B2B2B"/>
                </a:solidFill>
                <a:latin typeface="Century Gothic"/>
              </a:rPr>
              <a:t>How many families are due for a 12-month housing-status follow-up after move-in</a:t>
            </a:r>
          </a:p>
        </p:txBody>
      </p:sp>
      <p:graphicFrame>
        <p:nvGraphicFramePr>
          <p:cNvPr id="4" name="Chart 3"/>
          <p:cNvGraphicFramePr>
            <a:graphicFrameLocks noGrp="1"/>
          </p:cNvGraphicFramePr>
          <p:nvPr/>
        </p:nvGraphicFramePr>
        <p:xfrm>
          <a:off x="640080" y="1463040"/>
          <a:ext cx="10881360" cy="4480560"/>
        </p:xfrm>
        <a:graphic>
          <a:graphicData uri="http://schemas.openxmlformats.org/drawingml/2006/chart">
            <c:chart xmlns:c="http://schemas.openxmlformats.org/drawingml/2006/chart" r:id="rId2"/>
          </a:graphicData>
        </a:graphic>
      </p:graphicFrame>
      <p:sp>
        <p:nvSpPr>
          <p:cNvPr id="5" name="TextBox 4"/>
          <p:cNvSpPr txBox="1"/>
          <p:nvPr/>
        </p:nvSpPr>
        <p:spPr>
          <a:xfrm>
            <a:off x="640080" y="6035040"/>
            <a:ext cx="10881360" cy="548640"/>
          </a:xfrm>
          <a:prstGeom prst="rect">
            <a:avLst/>
          </a:prstGeom>
          <a:noFill/>
        </p:spPr>
        <p:txBody>
          <a:bodyPr wrap="square">
            <a:spAutoFit/>
          </a:bodyPr>
          <a:lstStyle/>
          <a:p>
            <a:pPr>
              <a:spcAft>
                <a:spcPts val="600"/>
              </a:spcAft>
            </a:pPr>
            <a:r>
              <a:rPr sz="1100" b="0">
                <a:solidFill>
                  <a:srgbClr val="6F6A63"/>
                </a:solidFill>
                <a:latin typeface="Century Gothic"/>
              </a:rPr>
              <a:t>Entered by staff. Total: 37.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spAutoFit/>
          </a:bodyPr>
          <a:lstStyle/>
          <a:p>
            <a:pPr>
              <a:spcAft>
                <a:spcPts val="600"/>
              </a:spcAft>
            </a:pPr>
            <a:r>
              <a:rPr sz="1100" b="1">
                <a:solidFill>
                  <a:srgbClr val="6F6A63"/>
                </a:solidFill>
                <a:latin typeface="Century Gothic"/>
              </a:rPr>
              <a:t>RESULTS</a:t>
            </a:r>
          </a:p>
        </p:txBody>
      </p:sp>
      <p:sp>
        <p:nvSpPr>
          <p:cNvPr id="3" name="TextBox 2"/>
          <p:cNvSpPr txBox="1"/>
          <p:nvPr/>
        </p:nvSpPr>
        <p:spPr>
          <a:xfrm>
            <a:off x="640080" y="594360"/>
            <a:ext cx="10972800" cy="822960"/>
          </a:xfrm>
          <a:prstGeom prst="rect">
            <a:avLst/>
          </a:prstGeom>
          <a:noFill/>
        </p:spPr>
        <p:txBody>
          <a:bodyPr wrap="square">
            <a:spAutoFit/>
          </a:bodyPr>
          <a:lstStyle/>
          <a:p>
            <a:pPr>
              <a:spcAft>
                <a:spcPts val="600"/>
              </a:spcAft>
            </a:pPr>
            <a:r>
              <a:rPr sz="2600" b="1">
                <a:solidFill>
                  <a:srgbClr val="2B2B2B"/>
                </a:solidFill>
                <a:latin typeface="Century Gothic"/>
              </a:rPr>
              <a:t>How many families due for follow-up were contacted, and how many had a known housing status</a:t>
            </a:r>
          </a:p>
        </p:txBody>
      </p:sp>
      <p:graphicFrame>
        <p:nvGraphicFramePr>
          <p:cNvPr id="4" name="Chart 3"/>
          <p:cNvGraphicFramePr>
            <a:graphicFrameLocks noGrp="1"/>
          </p:cNvGraphicFramePr>
          <p:nvPr/>
        </p:nvGraphicFramePr>
        <p:xfrm>
          <a:off x="640080" y="1463040"/>
          <a:ext cx="10881360" cy="4480560"/>
        </p:xfrm>
        <a:graphic>
          <a:graphicData uri="http://schemas.openxmlformats.org/drawingml/2006/chart">
            <c:chart xmlns:c="http://schemas.openxmlformats.org/drawingml/2006/chart" r:id="rId2"/>
          </a:graphicData>
        </a:graphic>
      </p:graphicFrame>
      <p:sp>
        <p:nvSpPr>
          <p:cNvPr id="5" name="TextBox 4"/>
          <p:cNvSpPr txBox="1"/>
          <p:nvPr/>
        </p:nvSpPr>
        <p:spPr>
          <a:xfrm>
            <a:off x="640080" y="6035040"/>
            <a:ext cx="10881360" cy="548640"/>
          </a:xfrm>
          <a:prstGeom prst="rect">
            <a:avLst/>
          </a:prstGeom>
          <a:noFill/>
        </p:spPr>
        <p:txBody>
          <a:bodyPr wrap="square">
            <a:spAutoFit/>
          </a:bodyPr>
          <a:lstStyle/>
          <a:p>
            <a:pPr>
              <a:spcAft>
                <a:spcPts val="600"/>
              </a:spcAft>
            </a:pPr>
            <a:r>
              <a:rPr sz="1100" b="0">
                <a:solidFill>
                  <a:srgbClr val="6F6A63"/>
                </a:solidFill>
                <a:latin typeface="Century Gothic"/>
              </a:rPr>
              <a:t>Entered by staff. Total: 37.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spAutoFit/>
          </a:bodyPr>
          <a:lstStyle/>
          <a:p>
            <a:pPr>
              <a:spcAft>
                <a:spcPts val="600"/>
              </a:spcAft>
            </a:pPr>
            <a:r>
              <a:rPr sz="1100" b="1">
                <a:solidFill>
                  <a:srgbClr val="6F6A63"/>
                </a:solidFill>
                <a:latin typeface="Century Gothic"/>
              </a:rPr>
              <a:t>RESULTS</a:t>
            </a:r>
          </a:p>
        </p:txBody>
      </p:sp>
      <p:sp>
        <p:nvSpPr>
          <p:cNvPr id="3" name="TextBox 2"/>
          <p:cNvSpPr txBox="1"/>
          <p:nvPr/>
        </p:nvSpPr>
        <p:spPr>
          <a:xfrm>
            <a:off x="640080" y="594360"/>
            <a:ext cx="10972800" cy="822960"/>
          </a:xfrm>
          <a:prstGeom prst="rect">
            <a:avLst/>
          </a:prstGeom>
          <a:noFill/>
        </p:spPr>
        <p:txBody>
          <a:bodyPr wrap="square">
            <a:spAutoFit/>
          </a:bodyPr>
          <a:lstStyle/>
          <a:p>
            <a:pPr>
              <a:spcAft>
                <a:spcPts val="600"/>
              </a:spcAft>
            </a:pPr>
            <a:r>
              <a:rPr sz="2600" b="1">
                <a:solidFill>
                  <a:srgbClr val="2B2B2B"/>
                </a:solidFill>
                <a:latin typeface="Century Gothic"/>
              </a:rPr>
              <a:t>How many families with a known status were in permanent housing at follow-up</a:t>
            </a:r>
          </a:p>
        </p:txBody>
      </p:sp>
      <p:graphicFrame>
        <p:nvGraphicFramePr>
          <p:cNvPr id="4" name="Chart 3"/>
          <p:cNvGraphicFramePr>
            <a:graphicFrameLocks noGrp="1"/>
          </p:cNvGraphicFramePr>
          <p:nvPr/>
        </p:nvGraphicFramePr>
        <p:xfrm>
          <a:off x="640080" y="1463040"/>
          <a:ext cx="10881360" cy="4480560"/>
        </p:xfrm>
        <a:graphic>
          <a:graphicData uri="http://schemas.openxmlformats.org/drawingml/2006/chart">
            <c:chart xmlns:c="http://schemas.openxmlformats.org/drawingml/2006/chart" r:id="rId2"/>
          </a:graphicData>
        </a:graphic>
      </p:graphicFrame>
      <p:sp>
        <p:nvSpPr>
          <p:cNvPr id="5" name="TextBox 4"/>
          <p:cNvSpPr txBox="1"/>
          <p:nvPr/>
        </p:nvSpPr>
        <p:spPr>
          <a:xfrm>
            <a:off x="640080" y="6035040"/>
            <a:ext cx="10881360" cy="548640"/>
          </a:xfrm>
          <a:prstGeom prst="rect">
            <a:avLst/>
          </a:prstGeom>
          <a:noFill/>
        </p:spPr>
        <p:txBody>
          <a:bodyPr wrap="square">
            <a:spAutoFit/>
          </a:bodyPr>
          <a:lstStyle/>
          <a:p>
            <a:pPr>
              <a:spcAft>
                <a:spcPts val="600"/>
              </a:spcAft>
            </a:pPr>
            <a:r>
              <a:rPr sz="1100" b="0">
                <a:solidFill>
                  <a:srgbClr val="6F6A63"/>
                </a:solidFill>
                <a:latin typeface="Century Gothic"/>
              </a:rPr>
              <a:t>Entered by staff. Total: 25.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spAutoFit/>
          </a:bodyPr>
          <a:lstStyle/>
          <a:p>
            <a:pPr>
              <a:spcAft>
                <a:spcPts val="600"/>
              </a:spcAft>
            </a:pPr>
            <a:r>
              <a:rPr sz="1100" b="1">
                <a:solidFill>
                  <a:srgbClr val="6F6A63"/>
                </a:solidFill>
                <a:latin typeface="Century Gothic"/>
              </a:rPr>
              <a:t>RESULTS</a:t>
            </a:r>
          </a:p>
        </p:txBody>
      </p:sp>
      <p:sp>
        <p:nvSpPr>
          <p:cNvPr id="3" name="TextBox 2"/>
          <p:cNvSpPr txBox="1"/>
          <p:nvPr/>
        </p:nvSpPr>
        <p:spPr>
          <a:xfrm>
            <a:off x="640080" y="594360"/>
            <a:ext cx="10972800" cy="822960"/>
          </a:xfrm>
          <a:prstGeom prst="rect">
            <a:avLst/>
          </a:prstGeom>
          <a:noFill/>
        </p:spPr>
        <p:txBody>
          <a:bodyPr wrap="square">
            <a:spAutoFit/>
          </a:bodyPr>
          <a:lstStyle/>
          <a:p>
            <a:pPr>
              <a:spcAft>
                <a:spcPts val="600"/>
              </a:spcAft>
            </a:pPr>
            <a:r>
              <a:rPr sz="2600" b="1">
                <a:solidFill>
                  <a:srgbClr val="2B2B2B"/>
                </a:solidFill>
                <a:latin typeface="Century Gothic"/>
              </a:rPr>
              <a:t>How many families with a known status were staying in shelter, outside, or another place not meant for housing</a:t>
            </a:r>
          </a:p>
        </p:txBody>
      </p:sp>
      <p:graphicFrame>
        <p:nvGraphicFramePr>
          <p:cNvPr id="4" name="Chart 3"/>
          <p:cNvGraphicFramePr>
            <a:graphicFrameLocks noGrp="1"/>
          </p:cNvGraphicFramePr>
          <p:nvPr/>
        </p:nvGraphicFramePr>
        <p:xfrm>
          <a:off x="640080" y="1463040"/>
          <a:ext cx="10881360" cy="4480560"/>
        </p:xfrm>
        <a:graphic>
          <a:graphicData uri="http://schemas.openxmlformats.org/drawingml/2006/chart">
            <c:chart xmlns:c="http://schemas.openxmlformats.org/drawingml/2006/chart" r:id="rId2"/>
          </a:graphicData>
        </a:graphic>
      </p:graphicFrame>
      <p:sp>
        <p:nvSpPr>
          <p:cNvPr id="5" name="TextBox 4"/>
          <p:cNvSpPr txBox="1"/>
          <p:nvPr/>
        </p:nvSpPr>
        <p:spPr>
          <a:xfrm>
            <a:off x="640080" y="6035040"/>
            <a:ext cx="10881360" cy="548640"/>
          </a:xfrm>
          <a:prstGeom prst="rect">
            <a:avLst/>
          </a:prstGeom>
          <a:noFill/>
        </p:spPr>
        <p:txBody>
          <a:bodyPr wrap="square">
            <a:spAutoFit/>
          </a:bodyPr>
          <a:lstStyle/>
          <a:p>
            <a:pPr>
              <a:spcAft>
                <a:spcPts val="600"/>
              </a:spcAft>
            </a:pPr>
            <a:r>
              <a:rPr sz="1100" b="0">
                <a:solidFill>
                  <a:srgbClr val="6F6A63"/>
                </a:solidFill>
                <a:latin typeface="Century Gothic"/>
              </a:rPr>
              <a:t>Entered by staff. Total: 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spAutoFit/>
          </a:bodyPr>
          <a:lstStyle/>
          <a:p>
            <a:pPr>
              <a:spcAft>
                <a:spcPts val="600"/>
              </a:spcAft>
            </a:pPr>
            <a:r>
              <a:rPr sz="1100" b="1">
                <a:solidFill>
                  <a:srgbClr val="6F6A63"/>
                </a:solidFill>
                <a:latin typeface="Century Gothic"/>
              </a:rPr>
              <a:t>RESULTS</a:t>
            </a:r>
          </a:p>
        </p:txBody>
      </p:sp>
      <p:sp>
        <p:nvSpPr>
          <p:cNvPr id="3" name="TextBox 2"/>
          <p:cNvSpPr txBox="1"/>
          <p:nvPr/>
        </p:nvSpPr>
        <p:spPr>
          <a:xfrm>
            <a:off x="640080" y="594360"/>
            <a:ext cx="10972800" cy="822960"/>
          </a:xfrm>
          <a:prstGeom prst="rect">
            <a:avLst/>
          </a:prstGeom>
          <a:noFill/>
        </p:spPr>
        <p:txBody>
          <a:bodyPr wrap="square">
            <a:spAutoFit/>
          </a:bodyPr>
          <a:lstStyle/>
          <a:p>
            <a:pPr>
              <a:spcAft>
                <a:spcPts val="600"/>
              </a:spcAft>
            </a:pPr>
            <a:r>
              <a:rPr sz="2600" b="1">
                <a:solidFill>
                  <a:srgbClr val="2B2B2B"/>
                </a:solidFill>
                <a:latin typeface="Century Gothic"/>
              </a:rPr>
              <a:t>How many families with a known status were in another or unstable housing situation</a:t>
            </a:r>
          </a:p>
        </p:txBody>
      </p:sp>
      <p:graphicFrame>
        <p:nvGraphicFramePr>
          <p:cNvPr id="4" name="Chart 3"/>
          <p:cNvGraphicFramePr>
            <a:graphicFrameLocks noGrp="1"/>
          </p:cNvGraphicFramePr>
          <p:nvPr/>
        </p:nvGraphicFramePr>
        <p:xfrm>
          <a:off x="640080" y="1463040"/>
          <a:ext cx="10881360" cy="4480560"/>
        </p:xfrm>
        <a:graphic>
          <a:graphicData uri="http://schemas.openxmlformats.org/drawingml/2006/chart">
            <c:chart xmlns:c="http://schemas.openxmlformats.org/drawingml/2006/chart" r:id="rId2"/>
          </a:graphicData>
        </a:graphic>
      </p:graphicFrame>
      <p:sp>
        <p:nvSpPr>
          <p:cNvPr id="5" name="TextBox 4"/>
          <p:cNvSpPr txBox="1"/>
          <p:nvPr/>
        </p:nvSpPr>
        <p:spPr>
          <a:xfrm>
            <a:off x="640080" y="6035040"/>
            <a:ext cx="10881360" cy="548640"/>
          </a:xfrm>
          <a:prstGeom prst="rect">
            <a:avLst/>
          </a:prstGeom>
          <a:noFill/>
        </p:spPr>
        <p:txBody>
          <a:bodyPr wrap="square">
            <a:spAutoFit/>
          </a:bodyPr>
          <a:lstStyle/>
          <a:p>
            <a:pPr>
              <a:spcAft>
                <a:spcPts val="600"/>
              </a:spcAft>
            </a:pPr>
            <a:r>
              <a:rPr sz="1100" b="0">
                <a:solidFill>
                  <a:srgbClr val="6F6A63"/>
                </a:solidFill>
                <a:latin typeface="Century Gothic"/>
              </a:rPr>
              <a:t>Entered by staff. Total: 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spAutoFit/>
          </a:bodyPr>
          <a:lstStyle/>
          <a:p>
            <a:pPr>
              <a:spcAft>
                <a:spcPts val="600"/>
              </a:spcAft>
            </a:pPr>
            <a:r>
              <a:rPr sz="1100" b="1">
                <a:solidFill>
                  <a:srgbClr val="6F6A63"/>
                </a:solidFill>
                <a:latin typeface="Century Gothic"/>
              </a:rPr>
              <a:t>RESULTS</a:t>
            </a:r>
          </a:p>
        </p:txBody>
      </p:sp>
      <p:sp>
        <p:nvSpPr>
          <p:cNvPr id="3" name="TextBox 2"/>
          <p:cNvSpPr txBox="1"/>
          <p:nvPr/>
        </p:nvSpPr>
        <p:spPr>
          <a:xfrm>
            <a:off x="640080" y="594360"/>
            <a:ext cx="10972800" cy="822960"/>
          </a:xfrm>
          <a:prstGeom prst="rect">
            <a:avLst/>
          </a:prstGeom>
          <a:noFill/>
        </p:spPr>
        <p:txBody>
          <a:bodyPr wrap="square">
            <a:spAutoFit/>
          </a:bodyPr>
          <a:lstStyle/>
          <a:p>
            <a:pPr>
              <a:spcAft>
                <a:spcPts val="600"/>
              </a:spcAft>
            </a:pPr>
            <a:r>
              <a:rPr sz="2600" b="1">
                <a:solidFill>
                  <a:srgbClr val="2B2B2B"/>
                </a:solidFill>
                <a:latin typeface="Century Gothic"/>
              </a:rPr>
              <a:t>Rental assistance paid to landlords</a:t>
            </a:r>
          </a:p>
        </p:txBody>
      </p:sp>
      <p:graphicFrame>
        <p:nvGraphicFramePr>
          <p:cNvPr id="4" name="Chart 3"/>
          <p:cNvGraphicFramePr>
            <a:graphicFrameLocks noGrp="1"/>
          </p:cNvGraphicFramePr>
          <p:nvPr/>
        </p:nvGraphicFramePr>
        <p:xfrm>
          <a:off x="640080" y="1463040"/>
          <a:ext cx="10881360" cy="4480560"/>
        </p:xfrm>
        <a:graphic>
          <a:graphicData uri="http://schemas.openxmlformats.org/drawingml/2006/chart">
            <c:chart xmlns:c="http://schemas.openxmlformats.org/drawingml/2006/chart" r:id="rId2"/>
          </a:graphicData>
        </a:graphic>
      </p:graphicFrame>
      <p:sp>
        <p:nvSpPr>
          <p:cNvPr id="5" name="TextBox 4"/>
          <p:cNvSpPr txBox="1"/>
          <p:nvPr/>
        </p:nvSpPr>
        <p:spPr>
          <a:xfrm>
            <a:off x="640080" y="6035040"/>
            <a:ext cx="10881360" cy="548640"/>
          </a:xfrm>
          <a:prstGeom prst="rect">
            <a:avLst/>
          </a:prstGeom>
          <a:noFill/>
        </p:spPr>
        <p:txBody>
          <a:bodyPr wrap="square">
            <a:spAutoFit/>
          </a:bodyPr>
          <a:lstStyle/>
          <a:p>
            <a:pPr>
              <a:spcAft>
                <a:spcPts val="600"/>
              </a:spcAft>
            </a:pPr>
            <a:r>
              <a:rPr sz="1100" b="0">
                <a:solidFill>
                  <a:srgbClr val="6F6A63"/>
                </a:solidFill>
                <a:latin typeface="Century Gothic"/>
              </a:rPr>
              <a:t>Entered by staff. Total: 209,900 $.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spAutoFit/>
          </a:bodyPr>
          <a:lstStyle/>
          <a:p>
            <a:pPr>
              <a:spcAft>
                <a:spcPts val="600"/>
              </a:spcAft>
            </a:pPr>
            <a:r>
              <a:rPr sz="1100" b="1">
                <a:solidFill>
                  <a:srgbClr val="6F6A63"/>
                </a:solidFill>
                <a:latin typeface="Century Gothic"/>
              </a:rPr>
              <a:t>RESULTS</a:t>
            </a:r>
          </a:p>
        </p:txBody>
      </p:sp>
      <p:sp>
        <p:nvSpPr>
          <p:cNvPr id="3" name="TextBox 2"/>
          <p:cNvSpPr txBox="1"/>
          <p:nvPr/>
        </p:nvSpPr>
        <p:spPr>
          <a:xfrm>
            <a:off x="640080" y="594360"/>
            <a:ext cx="10972800" cy="822960"/>
          </a:xfrm>
          <a:prstGeom prst="rect">
            <a:avLst/>
          </a:prstGeom>
          <a:noFill/>
        </p:spPr>
        <p:txBody>
          <a:bodyPr wrap="square">
            <a:spAutoFit/>
          </a:bodyPr>
          <a:lstStyle/>
          <a:p>
            <a:pPr>
              <a:spcAft>
                <a:spcPts val="600"/>
              </a:spcAft>
            </a:pPr>
            <a:r>
              <a:rPr sz="2600" b="1">
                <a:solidFill>
                  <a:srgbClr val="2B2B2B"/>
                </a:solidFill>
                <a:latin typeface="Century Gothic"/>
              </a:rPr>
              <a:t>Apartments furnished by volunteers</a:t>
            </a:r>
          </a:p>
        </p:txBody>
      </p:sp>
      <p:graphicFrame>
        <p:nvGraphicFramePr>
          <p:cNvPr id="4" name="Chart 3"/>
          <p:cNvGraphicFramePr>
            <a:graphicFrameLocks noGrp="1"/>
          </p:cNvGraphicFramePr>
          <p:nvPr/>
        </p:nvGraphicFramePr>
        <p:xfrm>
          <a:off x="640080" y="1463040"/>
          <a:ext cx="10881360" cy="4480560"/>
        </p:xfrm>
        <a:graphic>
          <a:graphicData uri="http://schemas.openxmlformats.org/drawingml/2006/chart">
            <c:chart xmlns:c="http://schemas.openxmlformats.org/drawingml/2006/chart" r:id="rId2"/>
          </a:graphicData>
        </a:graphic>
      </p:graphicFrame>
      <p:sp>
        <p:nvSpPr>
          <p:cNvPr id="5" name="TextBox 4"/>
          <p:cNvSpPr txBox="1"/>
          <p:nvPr/>
        </p:nvSpPr>
        <p:spPr>
          <a:xfrm>
            <a:off x="640080" y="6035040"/>
            <a:ext cx="10881360" cy="548640"/>
          </a:xfrm>
          <a:prstGeom prst="rect">
            <a:avLst/>
          </a:prstGeom>
          <a:noFill/>
        </p:spPr>
        <p:txBody>
          <a:bodyPr wrap="square">
            <a:spAutoFit/>
          </a:bodyPr>
          <a:lstStyle/>
          <a:p>
            <a:pPr>
              <a:spcAft>
                <a:spcPts val="600"/>
              </a:spcAft>
            </a:pPr>
            <a:r>
              <a:rPr sz="1100" b="0">
                <a:solidFill>
                  <a:srgbClr val="6F6A63"/>
                </a:solidFill>
                <a:latin typeface="Century Gothic"/>
              </a:rPr>
              <a:t>Entered by staff. Total: 33 apartments.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spAutoFit/>
          </a:bodyPr>
          <a:lstStyle/>
          <a:p>
            <a:pPr>
              <a:spcAft>
                <a:spcPts val="600"/>
              </a:spcAft>
            </a:pPr>
            <a:r>
              <a:rPr sz="1100" b="1">
                <a:solidFill>
                  <a:srgbClr val="6F6A63"/>
                </a:solidFill>
                <a:latin typeface="Century Gothic"/>
              </a:rPr>
              <a:t>RESULTS</a:t>
            </a:r>
          </a:p>
        </p:txBody>
      </p:sp>
      <p:sp>
        <p:nvSpPr>
          <p:cNvPr id="3" name="TextBox 2"/>
          <p:cNvSpPr txBox="1"/>
          <p:nvPr/>
        </p:nvSpPr>
        <p:spPr>
          <a:xfrm>
            <a:off x="640080" y="594360"/>
            <a:ext cx="10972800" cy="822960"/>
          </a:xfrm>
          <a:prstGeom prst="rect">
            <a:avLst/>
          </a:prstGeom>
          <a:noFill/>
        </p:spPr>
        <p:txBody>
          <a:bodyPr wrap="square">
            <a:spAutoFit/>
          </a:bodyPr>
          <a:lstStyle/>
          <a:p>
            <a:pPr>
              <a:spcAft>
                <a:spcPts val="600"/>
              </a:spcAft>
            </a:pPr>
            <a:r>
              <a:rPr sz="2600" b="1">
                <a:solidFill>
                  <a:srgbClr val="2B2B2B"/>
                </a:solidFill>
                <a:latin typeface="Century Gothic"/>
              </a:rPr>
              <a:t>Active landlord partners</a:t>
            </a:r>
          </a:p>
        </p:txBody>
      </p:sp>
      <p:graphicFrame>
        <p:nvGraphicFramePr>
          <p:cNvPr id="4" name="Chart 3"/>
          <p:cNvGraphicFramePr>
            <a:graphicFrameLocks noGrp="1"/>
          </p:cNvGraphicFramePr>
          <p:nvPr/>
        </p:nvGraphicFramePr>
        <p:xfrm>
          <a:off x="640080" y="1463040"/>
          <a:ext cx="10881360" cy="4480560"/>
        </p:xfrm>
        <a:graphic>
          <a:graphicData uri="http://schemas.openxmlformats.org/drawingml/2006/chart">
            <c:chart xmlns:c="http://schemas.openxmlformats.org/drawingml/2006/chart" r:id="rId2"/>
          </a:graphicData>
        </a:graphic>
      </p:graphicFrame>
      <p:sp>
        <p:nvSpPr>
          <p:cNvPr id="5" name="TextBox 4"/>
          <p:cNvSpPr txBox="1"/>
          <p:nvPr/>
        </p:nvSpPr>
        <p:spPr>
          <a:xfrm>
            <a:off x="640080" y="6035040"/>
            <a:ext cx="10881360" cy="548640"/>
          </a:xfrm>
          <a:prstGeom prst="rect">
            <a:avLst/>
          </a:prstGeom>
          <a:noFill/>
        </p:spPr>
        <p:txBody>
          <a:bodyPr wrap="square">
            <a:spAutoFit/>
          </a:bodyPr>
          <a:lstStyle/>
          <a:p>
            <a:pPr>
              <a:spcAft>
                <a:spcPts val="600"/>
              </a:spcAft>
            </a:pPr>
            <a:r>
              <a:rPr sz="1100" b="0">
                <a:solidFill>
                  <a:srgbClr val="6F6A63"/>
                </a:solidFill>
                <a:latin typeface="Century Gothic"/>
              </a:rPr>
              <a:t>Entered by staff. Total: 198 landlords.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spAutoFit/>
          </a:bodyPr>
          <a:lstStyle/>
          <a:p>
            <a:pPr>
              <a:spcAft>
                <a:spcPts val="600"/>
              </a:spcAft>
            </a:pPr>
            <a:r>
              <a:rPr sz="1100" b="1">
                <a:solidFill>
                  <a:srgbClr val="6F6A63"/>
                </a:solidFill>
                <a:latin typeface="Century Gothic"/>
              </a:rPr>
              <a:t>PARTICIPANT REFLECTIONS</a:t>
            </a:r>
          </a:p>
        </p:txBody>
      </p:sp>
      <p:sp>
        <p:nvSpPr>
          <p:cNvPr id="3" name="TextBox 2"/>
          <p:cNvSpPr txBox="1"/>
          <p:nvPr/>
        </p:nvSpPr>
        <p:spPr>
          <a:xfrm>
            <a:off x="640080" y="594360"/>
            <a:ext cx="10972800" cy="822960"/>
          </a:xfrm>
          <a:prstGeom prst="rect">
            <a:avLst/>
          </a:prstGeom>
          <a:noFill/>
        </p:spPr>
        <p:txBody>
          <a:bodyPr wrap="square">
            <a:spAutoFit/>
          </a:bodyPr>
          <a:lstStyle/>
          <a:p>
            <a:pPr>
              <a:spcAft>
                <a:spcPts val="600"/>
              </a:spcAft>
            </a:pPr>
            <a:r>
              <a:rPr sz="2600" b="1">
                <a:solidFill>
                  <a:srgbClr val="2B2B2B"/>
                </a:solidFill>
                <a:latin typeface="Century Gothic"/>
              </a:rPr>
              <a:t>In their words</a:t>
            </a:r>
          </a:p>
        </p:txBody>
      </p:sp>
      <p:sp>
        <p:nvSpPr>
          <p:cNvPr id="4" name="TextBox 3"/>
          <p:cNvSpPr txBox="1"/>
          <p:nvPr/>
        </p:nvSpPr>
        <p:spPr>
          <a:xfrm>
            <a:off x="640080" y="1554480"/>
            <a:ext cx="10881360" cy="4389120"/>
          </a:xfrm>
          <a:prstGeom prst="rect">
            <a:avLst/>
          </a:prstGeom>
          <a:noFill/>
        </p:spPr>
        <p:txBody>
          <a:bodyPr wrap="square">
            <a:spAutoFit/>
          </a:bodyPr>
          <a:lstStyle/>
          <a:p>
            <a:pPr>
              <a:spcAft>
                <a:spcPts val="600"/>
              </a:spcAft>
            </a:pPr>
            <a:r>
              <a:rPr sz="1600" b="0">
                <a:solidFill>
                  <a:srgbClr val="2B2B2B"/>
                </a:solidFill>
                <a:latin typeface="Century Gothic"/>
              </a:rPr>
              <a:t>“When the landlord tried to raise the rent, my case manager helped me talk to him.”</a:t>
            </a:r>
          </a:p>
          <a:p>
            <a:pPr>
              <a:spcAft>
                <a:spcPts val="600"/>
              </a:spcAft>
            </a:pPr>
            <a:r>
              <a:rPr sz="1600" b="0">
                <a:solidFill>
                  <a:srgbClr val="2B2B2B"/>
                </a:solidFill>
                <a:latin typeface="Century Gothic"/>
              </a:rPr>
              <a:t>“I learned to put rent first and plan the rest around it.”</a:t>
            </a:r>
          </a:p>
          <a:p>
            <a:pPr>
              <a:spcAft>
                <a:spcPts val="600"/>
              </a:spcAft>
            </a:pPr>
            <a:r>
              <a:rPr sz="1600" b="0">
                <a:solidFill>
                  <a:srgbClr val="2B2B2B"/>
                </a:solidFill>
                <a:latin typeface="Century Gothic"/>
              </a:rPr>
              <a:t>“My kids have their own beds now. They sleep through the night.”</a:t>
            </a:r>
          </a:p>
          <a:p>
            <a:pPr>
              <a:spcAft>
                <a:spcPts val="600"/>
              </a:spcAft>
            </a:pPr>
            <a:r>
              <a:rPr sz="1600" b="0">
                <a:solidFill>
                  <a:srgbClr val="2B2B2B"/>
                </a:solidFill>
                <a:latin typeface="Century Gothic"/>
              </a:rPr>
              <a:t>“Having someone check on us every week made me feel like I wasn't alone.”</a:t>
            </a:r>
          </a:p>
        </p:txBody>
      </p:sp>
      <p:sp>
        <p:nvSpPr>
          <p:cNvPr id="5" name="TextBox 4"/>
          <p:cNvSpPr txBox="1"/>
          <p:nvPr/>
        </p:nvSpPr>
        <p:spPr>
          <a:xfrm>
            <a:off x="640080" y="6035040"/>
            <a:ext cx="10881360" cy="548640"/>
          </a:xfrm>
          <a:prstGeom prst="rect">
            <a:avLst/>
          </a:prstGeom>
          <a:noFill/>
        </p:spPr>
        <p:txBody>
          <a:bodyPr wrap="square">
            <a:spAutoFit/>
          </a:bodyPr>
          <a:lstStyle/>
          <a:p>
            <a:pPr>
              <a:spcAft>
                <a:spcPts val="600"/>
              </a:spcAft>
            </a:pPr>
            <a:r>
              <a:rPr sz="1100" b="0">
                <a:solidFill>
                  <a:srgbClr val="6F6A63"/>
                </a:solidFill>
                <a:latin typeface="Century Gothic"/>
              </a:rPr>
              <a:t>Review quotes before sharing: make sure no one can be identified.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spAutoFit/>
          </a:bodyPr>
          <a:lstStyle/>
          <a:p>
            <a:pPr>
              <a:spcAft>
                <a:spcPts val="600"/>
              </a:spcAft>
            </a:pPr>
            <a:r>
              <a:rPr sz="1100" b="1">
                <a:solidFill>
                  <a:srgbClr val="6F6A63"/>
                </a:solidFill>
                <a:latin typeface="Century Gothic"/>
              </a:rPr>
              <a:t>METHOD</a:t>
            </a:r>
          </a:p>
        </p:txBody>
      </p:sp>
      <p:sp>
        <p:nvSpPr>
          <p:cNvPr id="3" name="TextBox 2"/>
          <p:cNvSpPr txBox="1"/>
          <p:nvPr/>
        </p:nvSpPr>
        <p:spPr>
          <a:xfrm>
            <a:off x="640080" y="594360"/>
            <a:ext cx="10972800" cy="822960"/>
          </a:xfrm>
          <a:prstGeom prst="rect">
            <a:avLst/>
          </a:prstGeom>
          <a:noFill/>
        </p:spPr>
        <p:txBody>
          <a:bodyPr wrap="square">
            <a:spAutoFit/>
          </a:bodyPr>
          <a:lstStyle/>
          <a:p>
            <a:pPr>
              <a:spcAft>
                <a:spcPts val="600"/>
              </a:spcAft>
            </a:pPr>
            <a:r>
              <a:rPr sz="2600" b="1">
                <a:solidFill>
                  <a:srgbClr val="2B2B2B"/>
                </a:solidFill>
                <a:latin typeface="Century Gothic"/>
              </a:rPr>
              <a:t>About this data</a:t>
            </a:r>
          </a:p>
        </p:txBody>
      </p:sp>
      <p:sp>
        <p:nvSpPr>
          <p:cNvPr id="4" name="TextBox 3"/>
          <p:cNvSpPr txBox="1"/>
          <p:nvPr/>
        </p:nvSpPr>
        <p:spPr>
          <a:xfrm>
            <a:off x="640080" y="1554480"/>
            <a:ext cx="10881360" cy="4114800"/>
          </a:xfrm>
          <a:prstGeom prst="rect">
            <a:avLst/>
          </a:prstGeom>
          <a:noFill/>
        </p:spPr>
        <p:txBody>
          <a:bodyPr wrap="square">
            <a:spAutoFit/>
          </a:bodyPr>
          <a:lstStyle/>
          <a:p>
            <a:pPr>
              <a:spcAft>
                <a:spcPts val="600"/>
              </a:spcAft>
            </a:pPr>
            <a:r>
              <a:rPr sz="1600" b="0">
                <a:solidFill>
                  <a:srgbClr val="2B2B2B"/>
                </a:solidFill>
                <a:latin typeface="Century Gothic"/>
              </a:rPr>
              <a:t>Participants are identified only by a code; names are never collected.</a:t>
            </a:r>
          </a:p>
          <a:p>
            <a:pPr>
              <a:spcAft>
                <a:spcPts val="600"/>
              </a:spcAft>
            </a:pPr>
            <a:r>
              <a:rPr sz="1600" b="0">
                <a:solidFill>
                  <a:srgbClr val="2B2B2B"/>
                </a:solidFill>
                <a:latin typeface="Century Gothic"/>
              </a:rPr>
              <a:t>Change is measured with the same questions before (pre) and after (post) the program, for participants who answered both.</a:t>
            </a:r>
          </a:p>
          <a:p>
            <a:pPr>
              <a:spcAft>
                <a:spcPts val="600"/>
              </a:spcAft>
            </a:pPr>
            <a:r>
              <a:rPr sz="1600" b="0">
                <a:solidFill>
                  <a:srgbClr val="2B2B2B"/>
                </a:solidFill>
                <a:latin typeface="Century Gothic"/>
              </a:rPr>
              <a:t>Demographic groups with fewer than 5 people are combined to protect privacy.</a:t>
            </a:r>
          </a:p>
          <a:p>
            <a:pPr>
              <a:spcAft>
                <a:spcPts val="600"/>
              </a:spcAft>
            </a:pPr>
            <a:r>
              <a:rPr sz="1600" b="0">
                <a:solidFill>
                  <a:srgbClr val="2B2B2B"/>
                </a:solidFill>
                <a:latin typeface="Century Gothic"/>
              </a:rPr>
              <a:t>Program numbers are entered by staff from the organization's records.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