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Model tokens (¢)</c:v>
                </c:pt>
              </c:strCache>
            </c:strRef>
          </c:tx>
          <c:spPr>
            <a:solidFill>
              <a:srgbClr val="4E8C7A"/>
            </a:solidFill>
          </c:spPr>
          <c:cat>
            <c:strRef>
              <c:f>Sheet1!$A$2:$A$5</c:f>
              <c:strCache>
                <c:ptCount val="4"/>
                <c:pt idx="0">
                  <c:v>Logic Model Studio</c:v>
                </c:pt>
                <c:pt idx="1">
                  <c:v>Grant draft</c:v>
                </c:pt>
                <c:pt idx="2">
                  <c:v>Impact report</c:v>
                </c:pt>
                <c:pt idx="3">
                  <c:v>Survey review</c:v>
                </c:pt>
              </c:strCache>
            </c:strRef>
          </c:cat>
          <c:val>
            <c:numRef>
              <c:f>Sheet1!$B$2:$B$5</c:f>
              <c:numCache>
                <c:formatCode>General</c:formatCode>
                <c:ptCount val="4"/>
                <c:pt idx="0">
                  <c:v>4.93</c:v>
                </c:pt>
                <c:pt idx="1">
                  <c:v>0.6</c:v>
                </c:pt>
                <c:pt idx="2">
                  <c:v>0.35</c:v>
                </c:pt>
                <c:pt idx="3">
                  <c:v>0.1</c:v>
                </c:pt>
              </c:numCache>
            </c:numRef>
          </c:val>
        </c:ser>
        <c:ser>
          <c:idx val="1"/>
          <c:order val="1"/>
          <c:tx>
            <c:strRef>
              <c:f>Sheet1!$C$1</c:f>
              <c:strCache>
                <c:ptCount val="1"/>
                <c:pt idx="0">
                  <c:v>Web search, max (¢)</c:v>
                </c:pt>
              </c:strCache>
            </c:strRef>
          </c:tx>
          <c:spPr>
            <a:solidFill>
              <a:srgbClr val="C8D7D1"/>
            </a:solidFill>
          </c:spPr>
          <c:cat>
            <c:strRef>
              <c:f>Sheet1!$A$2:$A$5</c:f>
              <c:strCache>
                <c:ptCount val="4"/>
                <c:pt idx="0">
                  <c:v>Logic Model Studio</c:v>
                </c:pt>
                <c:pt idx="1">
                  <c:v>Grant draft</c:v>
                </c:pt>
                <c:pt idx="2">
                  <c:v>Impact report</c:v>
                </c:pt>
                <c:pt idx="3">
                  <c:v>Survey review</c:v>
                </c:pt>
              </c:strCache>
            </c:strRef>
          </c:cat>
          <c:val>
            <c:numRef>
              <c:f>Sheet1!$C$2:$C$5</c:f>
              <c:numCache>
                <c:formatCode>General</c:formatCode>
                <c:ptCount val="4"/>
                <c:pt idx="0">
                  <c:v>12</c:v>
                </c:pt>
                <c:pt idx="1">
                  <c:v>6</c:v>
                </c:pt>
                <c:pt idx="2">
                  <c:v>0</c:v>
                </c:pt>
                <c:pt idx="3">
                  <c:v>0</c:v>
                </c:pt>
              </c:numCache>
            </c:numRef>
          </c:val>
        </c:ser>
        <c:gapWidth val="60"/>
        <c:overlap val="100"/>
        <c:axId val="-2068027336"/>
        <c:axId val="-2113994440"/>
      </c:barChart>
      <c:catAx>
        <c:axId val="-2068027336"/>
        <c:scaling>
          <c:orientation val="maxMin"/>
        </c:scaling>
        <c:delete val="0"/>
        <c:axPos val="l"/>
        <c:majorTickMark val="out"/>
        <c:minorTickMark val="none"/>
        <c:tickLblPos val="nextTo"/>
        <c:txPr>
          <a:bodyPr/>
          <a:lstStyle/>
          <a:p>
            <a:pPr>
              <a:defRPr sz="10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b"/>
      <c:overlay val="0"/>
      <c:txPr>
        <a:bodyPr/>
        <a:lstStyle/>
        <a:p>
          <a:pPr>
            <a:defRPr sz="1000">
              <a:latin typeface="Segoe U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Through Line puts a program-evaluation team in a small nonprofit's hands: a team of AI agents helps staff build a logic model, choose metrics, run pre/post surveys, and turn the results into funder decks and grant drafts.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Funders increasingly want outcome data. Most nonprofits have no evaluation staff or budget, and the smallest get almost none of the foundation money. That creates a cycle where the organizations that can pay for evaluation get more funding. Our user: the executive director of a one-program nonprofit, writing grant reports at night.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this is bought from consultants, at $3,000 or more for a logic model alone and $150–250 an hour after that. Software tools each cover one piece. Through Line is new in two ways: the nonprofit does it itself, guided by an AI team, and everything flows together, from logic model to grant draft, with live numbers.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Studio is a team of five: the Team Lead talks to staff, and four specialists propose questions and peer-review every draft. The Funder Researcher uses live web search, and code verifies its citations. The Survey Review Bot, Report Designer, Grant Writer, and Privacy Reviewer each handle one feature. Everything runs on gpt-6-luna for cost, and it held up in testing. The orchestrator is plain Python, so limits and order can't be talked around.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real run with a fictional rapid-rehousing nonprofit:</a:t>
            </a:r>
          </a:p>
          <a:p>
            <a:r>
              <a:t>- 10.5 minutes from uploaded documents to an approved logic model and five metrics with 20 verified sources.</a:t>
            </a:r>
          </a:p>
          <a:p>
            <a:r>
              <a:t>- 24 participants answered the surveys through the portal.</a:t>
            </a:r>
          </a:p>
          <a:p>
            <a:r>
              <a:t>- The dashboard filled itself in.</a:t>
            </a:r>
          </a:p>
          <a:p>
            <a:r>
              <a:t>- The Report Designer built a 14-slide deck in about 2 minutes.</a:t>
            </a:r>
          </a:p>
          <a:p>
            <a:r>
              <a:t>- The grant draft honestly flagged that Keystone may not be eligible for a Colorado-only foundation.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Keystone's whole journey cost 6 cents in model fees: 33 agent runs, 339,000 input and 52,000 output tokens. Web search adds at most 18 cents. A typical year for one organization is about $1, and the most anyone can spend while staying within the allowances is about $8. That's $10,000 a year in AI fees for 10,000 organizations. The main cost control is limiting how often each organization can use the agents.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layers of protection:</a:t>
            </a:r>
          </a:p>
          <a:p>
            <a:r>
              <a:t>- Staff accounts: Argon2id passwords, usernames stored only as hashes, strict cookies, lockouts, and organizations walled off from each other.</a:t>
            </a:r>
          </a:p>
          <a:p>
            <a:r>
              <a:t>- Participants are codes and PINs, never names.</a:t>
            </a:r>
          </a:p>
          <a:p>
            <a:r>
              <a:t>- A Privacy Reviewer agent plus code scans check everything that leaves the organization.</a:t>
            </a:r>
          </a:p>
          <a:p>
            <a:r>
              <a:t>- Agents read only what a person can see: our test PDF hides 'ignore your instructions' six ways, and the standard reader pulls out all six while ours pulls out none.</a:t>
            </a:r>
          </a:p>
          <a:p>
            <a:r>
              <a:t>Usage limits stop overspending.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Keystone's live run:</a:t>
            </a:r>
          </a:p>
          <a:p>
            <a:r>
              <a:t>- About 10 minutes to an approved logic model and metrics, with 20 verified sources.</a:t>
            </a:r>
          </a:p>
          <a:p>
            <a:r>
              <a:t>- Surveys that 24 participants actually completed, with 85% of matched participants improving on housing confidence.</a:t>
            </a:r>
          </a:p>
          <a:p>
            <a:r>
              <a:t>- A 14-slide funder deck in about 2 minutes.</a:t>
            </a:r>
          </a:p>
          <a:p>
            <a:r>
              <a:t>- All for under a dollar.</a:t>
            </a:r>
          </a:p>
          <a:p>
            <a:r>
              <a:t>Fill in the testers' numbers and quotes once they're 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Limits:</a:t>
            </a:r>
          </a:p>
          <a:p>
            <a:r>
              <a:t>- It works best for a nonprofit with one core program.</a:t>
            </a:r>
          </a:p>
          <a:p>
            <a:r>
              <a:t>- Getting data in from other systems is the scaling challenge.</a:t>
            </a:r>
          </a:p>
          <a:p>
            <a:r>
              <a:t>Next steps:</a:t>
            </a:r>
          </a:p>
          <a:p>
            <a:r>
              <a:t>- Multi-program logic models.</a:t>
            </a:r>
          </a:p>
          <a:p>
            <a:r>
              <a:t>- An MCP server, so a staff member's AI assistant can move data from Google Sheets, Airtable, or Salesforce, which already have official MCP servers.</a:t>
            </a:r>
          </a:p>
          <a:p>
            <a:r>
              <a:t>- More chart types and report formats.</a:t>
            </a:r>
          </a:p>
          <a:p>
            <a:r>
              <a:t>- The qualitative team: privacy guard, outcome coder, testimonial writer.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Oval 1"/>
          <p:cNvSpPr/>
          <p:nvPr/>
        </p:nvSpPr>
        <p:spPr>
          <a:xfrm>
            <a:off x="731520" y="731520"/>
            <a:ext cx="237744" cy="237744"/>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28700" y="731520"/>
            <a:ext cx="237744" cy="237744"/>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Isosceles Triangle 3"/>
          <p:cNvSpPr/>
          <p:nvPr/>
        </p:nvSpPr>
        <p:spPr>
          <a:xfrm>
            <a:off x="1325880" y="731520"/>
            <a:ext cx="261518" cy="237744"/>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91640" y="658368"/>
            <a:ext cx="3657600" cy="457200"/>
          </a:xfrm>
          <a:prstGeom prst="rect">
            <a:avLst/>
          </a:prstGeom>
          <a:noFill/>
        </p:spPr>
        <p:txBody>
          <a:bodyPr wrap="square" anchor="t" lIns="18288" rIns="18288">
            <a:spAutoFit/>
          </a:bodyPr>
          <a:lstStyle/>
          <a:p>
            <a:pPr algn="l">
              <a:spcAft>
                <a:spcPts val="400"/>
              </a:spcAft>
            </a:pPr>
            <a:r>
              <a:rPr sz="2000" b="1" i="0">
                <a:solidFill>
                  <a:srgbClr val="2B2B2B"/>
                </a:solidFill>
                <a:latin typeface="Century Gothic"/>
              </a:rPr>
              <a:t>Through Line</a:t>
            </a:r>
          </a:p>
        </p:txBody>
      </p:sp>
      <p:sp>
        <p:nvSpPr>
          <p:cNvPr id="6" name="TextBox 5"/>
          <p:cNvSpPr txBox="1"/>
          <p:nvPr/>
        </p:nvSpPr>
        <p:spPr>
          <a:xfrm>
            <a:off x="731520" y="1600200"/>
            <a:ext cx="6583680" cy="2377440"/>
          </a:xfrm>
          <a:prstGeom prst="rect">
            <a:avLst/>
          </a:prstGeom>
          <a:noFill/>
        </p:spPr>
        <p:txBody>
          <a:bodyPr wrap="square" anchor="t" lIns="18288" rIns="18288">
            <a:spAutoFit/>
          </a:bodyPr>
          <a:lstStyle/>
          <a:p>
            <a:pPr algn="l">
              <a:spcAft>
                <a:spcPts val="0"/>
              </a:spcAft>
            </a:pPr>
            <a:r>
              <a:rPr sz="5400" b="1" i="0">
                <a:solidFill>
                  <a:srgbClr val="2B2B2B"/>
                </a:solidFill>
                <a:latin typeface="Century Gothic"/>
              </a:rPr>
              <a:t>From mission to evidence to story.</a:t>
            </a:r>
          </a:p>
        </p:txBody>
      </p:sp>
      <p:sp>
        <p:nvSpPr>
          <p:cNvPr id="7" name="TextBox 6"/>
          <p:cNvSpPr txBox="1"/>
          <p:nvPr/>
        </p:nvSpPr>
        <p:spPr>
          <a:xfrm>
            <a:off x="731520" y="3977639"/>
            <a:ext cx="6217920" cy="1097280"/>
          </a:xfrm>
          <a:prstGeom prst="rect">
            <a:avLst/>
          </a:prstGeom>
          <a:noFill/>
        </p:spPr>
        <p:txBody>
          <a:bodyPr wrap="square" anchor="t" lIns="18288" rIns="18288">
            <a:spAutoFit/>
          </a:bodyPr>
          <a:lstStyle/>
          <a:p>
            <a:pPr algn="l">
              <a:spcAft>
                <a:spcPts val="400"/>
              </a:spcAft>
            </a:pPr>
            <a:r>
              <a:rPr sz="1800" b="0" i="0">
                <a:solidFill>
                  <a:srgbClr val="6F6A63"/>
                </a:solidFill>
                <a:latin typeface="Segoe UI"/>
              </a:rPr>
              <a:t>AI agents that help small nonprofits define their impact, measure it, and turn it into funder reports and grant applications, without an evaluation consultant.</a:t>
            </a:r>
          </a:p>
        </p:txBody>
      </p:sp>
      <p:sp>
        <p:nvSpPr>
          <p:cNvPr id="8" name="TextBox 7"/>
          <p:cNvSpPr txBox="1"/>
          <p:nvPr/>
        </p:nvSpPr>
        <p:spPr>
          <a:xfrm>
            <a:off x="731520" y="5257800"/>
            <a:ext cx="6858000" cy="822960"/>
          </a:xfrm>
          <a:prstGeom prst="rect">
            <a:avLst/>
          </a:prstGeom>
          <a:noFill/>
        </p:spPr>
        <p:txBody>
          <a:bodyPr wrap="square" anchor="t" lIns="18288" rIns="18288">
            <a:spAutoFit/>
          </a:bodyPr>
          <a:lstStyle/>
          <a:p>
            <a:pPr algn="l">
              <a:spcAft>
                <a:spcPts val="400"/>
              </a:spcAft>
            </a:pPr>
            <a:r>
              <a:rPr sz="1400" b="1" i="0">
                <a:solidFill>
                  <a:srgbClr val="2B2B2B"/>
                </a:solidFill>
                <a:latin typeface="Segoe UI"/>
              </a:rPr>
              <a:t>Live  </a:t>
            </a:r>
            <a:r>
              <a:rPr sz="1400" b="0" i="0">
                <a:solidFill>
                  <a:srgbClr val="2B2B2B"/>
                </a:solidFill>
                <a:latin typeface="Segoe UI"/>
              </a:rPr>
              <a:t>through-line.onrender.com</a:t>
            </a:r>
          </a:p>
          <a:p>
            <a:pPr algn="l">
              <a:spcAft>
                <a:spcPts val="400"/>
              </a:spcAft>
            </a:pPr>
            <a:r>
              <a:rPr sz="1400" b="1" i="0">
                <a:solidFill>
                  <a:srgbClr val="2B2B2B"/>
                </a:solidFill>
                <a:latin typeface="Segoe UI"/>
              </a:rPr>
              <a:t>Code  </a:t>
            </a:r>
            <a:r>
              <a:rPr sz="1400" b="0" i="0">
                <a:solidFill>
                  <a:srgbClr val="2B2B2B"/>
                </a:solidFill>
                <a:latin typeface="Segoe UI"/>
              </a:rPr>
              <a:t>github.com/doug-palmer28/through-line</a:t>
            </a:r>
          </a:p>
        </p:txBody>
      </p:sp>
      <p:sp>
        <p:nvSpPr>
          <p:cNvPr id="9" name="TextBox 8"/>
          <p:cNvSpPr txBox="1"/>
          <p:nvPr/>
        </p:nvSpPr>
        <p:spPr>
          <a:xfrm>
            <a:off x="731520" y="6172200"/>
            <a:ext cx="6400800" cy="365760"/>
          </a:xfrm>
          <a:prstGeom prst="rect">
            <a:avLst/>
          </a:prstGeom>
          <a:noFill/>
        </p:spPr>
        <p:txBody>
          <a:bodyPr wrap="square" anchor="t" lIns="18288" rIns="18288">
            <a:spAutoFit/>
          </a:bodyPr>
          <a:lstStyle/>
          <a:p>
            <a:pPr algn="l">
              <a:spcAft>
                <a:spcPts val="400"/>
              </a:spcAft>
            </a:pPr>
            <a:r>
              <a:rPr sz="1100" b="0" i="0">
                <a:solidFill>
                  <a:srgbClr val="6F6A63"/>
                </a:solidFill>
                <a:latin typeface="Segoe UI"/>
              </a:rPr>
              <a:t>Doug Palmer · AI Foundations final project · Yale School of Management</a:t>
            </a:r>
          </a:p>
        </p:txBody>
      </p:sp>
      <p:sp>
        <p:nvSpPr>
          <p:cNvPr id="10" name="Rectangle 9"/>
          <p:cNvSpPr/>
          <p:nvPr/>
        </p:nvSpPr>
        <p:spPr>
          <a:xfrm>
            <a:off x="7498079" y="4069080"/>
            <a:ext cx="4206240" cy="4572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03920" y="1188720"/>
            <a:ext cx="2194560" cy="2194560"/>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Isosceles Triangle 11"/>
          <p:cNvSpPr/>
          <p:nvPr/>
        </p:nvSpPr>
        <p:spPr>
          <a:xfrm>
            <a:off x="7680960" y="3108960"/>
            <a:ext cx="2194560" cy="2194560"/>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966960" y="3566160"/>
            <a:ext cx="1737360" cy="1737360"/>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502920" cy="64008"/>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9144000" cy="320040"/>
          </a:xfrm>
          <a:prstGeom prst="rect">
            <a:avLst/>
          </a:prstGeom>
          <a:noFill/>
        </p:spPr>
        <p:txBody>
          <a:bodyPr wrap="square" anchor="t" lIns="18288" rIns="18288">
            <a:spAutoFit/>
          </a:bodyPr>
          <a:lstStyle/>
          <a:p>
            <a:pPr algn="l">
              <a:spcAft>
                <a:spcPts val="400"/>
              </a:spcAft>
            </a:pPr>
            <a:r>
              <a:rPr sz="1100" b="1" i="0">
                <a:solidFill>
                  <a:srgbClr val="6F6A63"/>
                </a:solidFill>
                <a:latin typeface="Segoe UI"/>
              </a:rPr>
              <a:t>THE PROBLEM AND WHO HAS IT</a:t>
            </a:r>
          </a:p>
        </p:txBody>
      </p:sp>
      <p:sp>
        <p:nvSpPr>
          <p:cNvPr id="4" name="TextBox 3"/>
          <p:cNvSpPr txBox="1"/>
          <p:nvPr/>
        </p:nvSpPr>
        <p:spPr>
          <a:xfrm>
            <a:off x="548640" y="914400"/>
            <a:ext cx="11064240" cy="914400"/>
          </a:xfrm>
          <a:prstGeom prst="rect">
            <a:avLst/>
          </a:prstGeom>
          <a:noFill/>
        </p:spPr>
        <p:txBody>
          <a:bodyPr wrap="square" anchor="t" lIns="18288" rIns="18288">
            <a:spAutoFit/>
          </a:bodyPr>
          <a:lstStyle/>
          <a:p>
            <a:pPr algn="l">
              <a:spcAft>
                <a:spcPts val="400"/>
              </a:spcAft>
            </a:pPr>
            <a:r>
              <a:rPr sz="3000" b="1" i="0">
                <a:solidFill>
                  <a:srgbClr val="2B2B2B"/>
                </a:solidFill>
                <a:latin typeface="Century Gothic"/>
              </a:rPr>
              <a:t>Funders want proof. Small nonprofits can't afford it.</a:t>
            </a:r>
          </a:p>
        </p:txBody>
      </p:sp>
      <p:sp>
        <p:nvSpPr>
          <p:cNvPr id="5" name="Oval 4"/>
          <p:cNvSpPr/>
          <p:nvPr/>
        </p:nvSpPr>
        <p:spPr>
          <a:xfrm>
            <a:off x="548640" y="6400800"/>
            <a:ext cx="118872" cy="118872"/>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7230" y="6400800"/>
            <a:ext cx="118872" cy="11887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845820" y="6400800"/>
            <a:ext cx="130759" cy="118872"/>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6327648"/>
            <a:ext cx="5486400" cy="274320"/>
          </a:xfrm>
          <a:prstGeom prst="rect">
            <a:avLst/>
          </a:prstGeom>
          <a:noFill/>
        </p:spPr>
        <p:txBody>
          <a:bodyPr wrap="square" anchor="t" lIns="18288" rIns="18288">
            <a:spAutoFit/>
          </a:bodyPr>
          <a:lstStyle/>
          <a:p>
            <a:pPr algn="l">
              <a:spcAft>
                <a:spcPts val="400"/>
              </a:spcAft>
            </a:pPr>
            <a:r>
              <a:rPr sz="1000" b="0" i="0">
                <a:solidFill>
                  <a:srgbClr val="6F6A63"/>
                </a:solidFill>
                <a:latin typeface="Segoe UI"/>
              </a:rPr>
              <a:t>Through Line · AI Foundations · Yale SOM</a:t>
            </a:r>
          </a:p>
        </p:txBody>
      </p:sp>
      <p:sp>
        <p:nvSpPr>
          <p:cNvPr id="9" name="TextBox 8"/>
          <p:cNvSpPr txBox="1"/>
          <p:nvPr/>
        </p:nvSpPr>
        <p:spPr>
          <a:xfrm>
            <a:off x="11155680" y="6327648"/>
            <a:ext cx="548640" cy="274320"/>
          </a:xfrm>
          <a:prstGeom prst="rect">
            <a:avLst/>
          </a:prstGeom>
          <a:noFill/>
        </p:spPr>
        <p:txBody>
          <a:bodyPr wrap="square" anchor="t" lIns="18288" rIns="18288">
            <a:spAutoFit/>
          </a:bodyPr>
          <a:lstStyle/>
          <a:p>
            <a:pPr algn="r">
              <a:spcAft>
                <a:spcPts val="400"/>
              </a:spcAft>
            </a:pPr>
            <a:r>
              <a:rPr sz="1000" b="1" i="0">
                <a:solidFill>
                  <a:srgbClr val="6F6A63"/>
                </a:solidFill>
                <a:latin typeface="Segoe UI"/>
              </a:rPr>
              <a:t>2</a:t>
            </a:r>
          </a:p>
        </p:txBody>
      </p:sp>
      <p:sp>
        <p:nvSpPr>
          <p:cNvPr id="10" name="Rounded Rectangle 9"/>
          <p:cNvSpPr/>
          <p:nvPr/>
        </p:nvSpPr>
        <p:spPr>
          <a:xfrm>
            <a:off x="548640" y="2103120"/>
            <a:ext cx="3566160" cy="246888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103120"/>
            <a:ext cx="3566160" cy="73152"/>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377439"/>
            <a:ext cx="3017520" cy="914400"/>
          </a:xfrm>
          <a:prstGeom prst="rect">
            <a:avLst/>
          </a:prstGeom>
          <a:noFill/>
        </p:spPr>
        <p:txBody>
          <a:bodyPr wrap="square" anchor="t" lIns="18288" rIns="18288">
            <a:spAutoFit/>
          </a:bodyPr>
          <a:lstStyle/>
          <a:p>
            <a:pPr algn="l">
              <a:spcAft>
                <a:spcPts val="400"/>
              </a:spcAft>
            </a:pPr>
            <a:r>
              <a:rPr sz="4000" b="1" i="0">
                <a:solidFill>
                  <a:srgbClr val="2B2B2B"/>
                </a:solidFill>
                <a:latin typeface="Century Gothic"/>
              </a:rPr>
              <a:t>8%</a:t>
            </a:r>
          </a:p>
        </p:txBody>
      </p:sp>
      <p:sp>
        <p:nvSpPr>
          <p:cNvPr id="13" name="TextBox 12"/>
          <p:cNvSpPr txBox="1"/>
          <p:nvPr/>
        </p:nvSpPr>
        <p:spPr>
          <a:xfrm>
            <a:off x="822959" y="3337560"/>
            <a:ext cx="3017520" cy="1097280"/>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of nonprofits have evaluation staff. In 63%, the director or program staff do it themselves.</a:t>
            </a:r>
          </a:p>
        </p:txBody>
      </p:sp>
      <p:sp>
        <p:nvSpPr>
          <p:cNvPr id="14" name="Rounded Rectangle 13"/>
          <p:cNvSpPr/>
          <p:nvPr/>
        </p:nvSpPr>
        <p:spPr>
          <a:xfrm>
            <a:off x="4315968" y="2103120"/>
            <a:ext cx="3566160" cy="246888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103120"/>
            <a:ext cx="3566160"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0288" y="2377439"/>
            <a:ext cx="3017520" cy="914400"/>
          </a:xfrm>
          <a:prstGeom prst="rect">
            <a:avLst/>
          </a:prstGeom>
          <a:noFill/>
        </p:spPr>
        <p:txBody>
          <a:bodyPr wrap="square" anchor="t" lIns="18288" rIns="18288">
            <a:spAutoFit/>
          </a:bodyPr>
          <a:lstStyle/>
          <a:p>
            <a:pPr algn="l">
              <a:spcAft>
                <a:spcPts val="400"/>
              </a:spcAft>
            </a:pPr>
            <a:r>
              <a:rPr sz="4000" b="1" i="0">
                <a:solidFill>
                  <a:srgbClr val="2B2B2B"/>
                </a:solidFill>
                <a:latin typeface="Century Gothic"/>
              </a:rPr>
              <a:t>84%</a:t>
            </a:r>
          </a:p>
        </p:txBody>
      </p:sp>
      <p:sp>
        <p:nvSpPr>
          <p:cNvPr id="17" name="TextBox 16"/>
          <p:cNvSpPr txBox="1"/>
          <p:nvPr/>
        </p:nvSpPr>
        <p:spPr>
          <a:xfrm>
            <a:off x="4590288" y="3337560"/>
            <a:ext cx="3017520" cy="1097280"/>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spend under 5% of their budget on evaluation, below the 5–10% evaluators recommend.</a:t>
            </a:r>
          </a:p>
        </p:txBody>
      </p:sp>
      <p:sp>
        <p:nvSpPr>
          <p:cNvPr id="18" name="Rounded Rectangle 17"/>
          <p:cNvSpPr/>
          <p:nvPr/>
        </p:nvSpPr>
        <p:spPr>
          <a:xfrm>
            <a:off x="8083296" y="2103120"/>
            <a:ext cx="3566160" cy="246888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3296" y="2103120"/>
            <a:ext cx="3566160" cy="7315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7616" y="2377439"/>
            <a:ext cx="3017520" cy="914400"/>
          </a:xfrm>
          <a:prstGeom prst="rect">
            <a:avLst/>
          </a:prstGeom>
          <a:noFill/>
        </p:spPr>
        <p:txBody>
          <a:bodyPr wrap="square" anchor="t" lIns="18288" rIns="18288">
            <a:spAutoFit/>
          </a:bodyPr>
          <a:lstStyle/>
          <a:p>
            <a:pPr algn="l">
              <a:spcAft>
                <a:spcPts val="400"/>
              </a:spcAft>
            </a:pPr>
            <a:r>
              <a:rPr sz="4000" b="1" i="0">
                <a:solidFill>
                  <a:srgbClr val="2B2B2B"/>
                </a:solidFill>
                <a:latin typeface="Century Gothic"/>
              </a:rPr>
              <a:t>0.4%</a:t>
            </a:r>
          </a:p>
        </p:txBody>
      </p:sp>
      <p:sp>
        <p:nvSpPr>
          <p:cNvPr id="21" name="TextBox 20"/>
          <p:cNvSpPr txBox="1"/>
          <p:nvPr/>
        </p:nvSpPr>
        <p:spPr>
          <a:xfrm>
            <a:off x="8357616" y="3337560"/>
            <a:ext cx="3017520" cy="1097280"/>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of foundation funding went to the ~60% of nonprofits with budgets under $50K (2019–2023).</a:t>
            </a:r>
          </a:p>
        </p:txBody>
      </p:sp>
      <p:sp>
        <p:nvSpPr>
          <p:cNvPr id="22" name="Rounded Rectangle 21"/>
          <p:cNvSpPr/>
          <p:nvPr/>
        </p:nvSpPr>
        <p:spPr>
          <a:xfrm>
            <a:off x="548640" y="4800600"/>
            <a:ext cx="11100816" cy="1234440"/>
          </a:xfrm>
          <a:prstGeom prst="roundRect">
            <a:avLst>
              <a:gd name="adj" fmla="val 6000"/>
            </a:avLst>
          </a:prstGeom>
          <a:solidFill>
            <a:srgbClr val="FBEFEA"/>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919472"/>
            <a:ext cx="10607040" cy="1097280"/>
          </a:xfrm>
          <a:prstGeom prst="rect">
            <a:avLst/>
          </a:prstGeom>
          <a:noFill/>
        </p:spPr>
        <p:txBody>
          <a:bodyPr wrap="square" anchor="t" lIns="18288" rIns="18288">
            <a:spAutoFit/>
          </a:bodyPr>
          <a:lstStyle/>
          <a:p>
            <a:pPr algn="l">
              <a:spcAft>
                <a:spcPts val="400"/>
              </a:spcAft>
            </a:pPr>
            <a:r>
              <a:rPr sz="1500" b="1" i="0">
                <a:solidFill>
                  <a:srgbClr val="2B2B2B"/>
                </a:solidFill>
                <a:latin typeface="Segoe UI"/>
              </a:rPr>
              <a:t>Who has it: </a:t>
            </a:r>
            <a:r>
              <a:rPr sz="1500" b="0" i="0">
                <a:solidFill>
                  <a:srgbClr val="2B2B2B"/>
                </a:solidFill>
                <a:latin typeface="Segoe UI"/>
              </a:rPr>
              <a:t>the executive director of a small, one-program nonprofit, often serving those furthest from opportunity. </a:t>
            </a:r>
          </a:p>
          <a:p>
            <a:pPr algn="l">
              <a:spcAft>
                <a:spcPts val="400"/>
              </a:spcAft>
            </a:pPr>
            <a:r>
              <a:rPr sz="1500" b="1" i="0">
                <a:solidFill>
                  <a:srgbClr val="2B2B2B"/>
                </a:solidFill>
                <a:latin typeface="Segoe UI"/>
              </a:rPr>
              <a:t>Inequity compounds: </a:t>
            </a:r>
            <a:r>
              <a:rPr sz="1500" b="0" i="0">
                <a:solidFill>
                  <a:srgbClr val="2B2B2B"/>
                </a:solidFill>
                <a:latin typeface="Segoe UI"/>
              </a:rPr>
              <a:t>Black-led organizations hold 76% smaller unrestricted net assets than white-led peers.</a:t>
            </a:r>
          </a:p>
        </p:txBody>
      </p:sp>
      <p:sp>
        <p:nvSpPr>
          <p:cNvPr id="24" name="TextBox 23"/>
          <p:cNvSpPr txBox="1"/>
          <p:nvPr/>
        </p:nvSpPr>
        <p:spPr>
          <a:xfrm>
            <a:off x="548640" y="6053328"/>
            <a:ext cx="10972800" cy="274320"/>
          </a:xfrm>
          <a:prstGeom prst="rect">
            <a:avLst/>
          </a:prstGeom>
          <a:noFill/>
        </p:spPr>
        <p:txBody>
          <a:bodyPr wrap="square" anchor="t" lIns="18288" rIns="18288">
            <a:spAutoFit/>
          </a:bodyPr>
          <a:lstStyle/>
          <a:p>
            <a:pPr algn="l">
              <a:spcAft>
                <a:spcPts val="400"/>
              </a:spcAft>
            </a:pPr>
            <a:r>
              <a:rPr sz="900" b="0" i="0">
                <a:solidFill>
                  <a:srgbClr val="6F6A63"/>
                </a:solidFill>
                <a:latin typeface="Segoe UI"/>
              </a:rPr>
              <a:t>Sources: Innovation Network, State of Evaluation (2016); Candid (2025); Echoing Green &amp; Bridgespan (2020).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502920" cy="64008"/>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9144000" cy="320040"/>
          </a:xfrm>
          <a:prstGeom prst="rect">
            <a:avLst/>
          </a:prstGeom>
          <a:noFill/>
        </p:spPr>
        <p:txBody>
          <a:bodyPr wrap="square" anchor="t" lIns="18288" rIns="18288">
            <a:spAutoFit/>
          </a:bodyPr>
          <a:lstStyle/>
          <a:p>
            <a:pPr algn="l">
              <a:spcAft>
                <a:spcPts val="400"/>
              </a:spcAft>
            </a:pPr>
            <a:r>
              <a:rPr sz="1100" b="1" i="0">
                <a:solidFill>
                  <a:srgbClr val="6F6A63"/>
                </a:solidFill>
                <a:latin typeface="Segoe UI"/>
              </a:rPr>
              <a:t>WHAT'S NEW</a:t>
            </a:r>
          </a:p>
        </p:txBody>
      </p:sp>
      <p:sp>
        <p:nvSpPr>
          <p:cNvPr id="4" name="TextBox 3"/>
          <p:cNvSpPr txBox="1"/>
          <p:nvPr/>
        </p:nvSpPr>
        <p:spPr>
          <a:xfrm>
            <a:off x="548640" y="914400"/>
            <a:ext cx="11064240" cy="914400"/>
          </a:xfrm>
          <a:prstGeom prst="rect">
            <a:avLst/>
          </a:prstGeom>
          <a:noFill/>
        </p:spPr>
        <p:txBody>
          <a:bodyPr wrap="square" anchor="t" lIns="18288" rIns="18288">
            <a:spAutoFit/>
          </a:bodyPr>
          <a:lstStyle/>
          <a:p>
            <a:pPr algn="l">
              <a:spcAft>
                <a:spcPts val="400"/>
              </a:spcAft>
            </a:pPr>
            <a:r>
              <a:rPr sz="3000" b="1" i="0">
                <a:solidFill>
                  <a:srgbClr val="2B2B2B"/>
                </a:solidFill>
                <a:latin typeface="Century Gothic"/>
              </a:rPr>
              <a:t>An evaluation team in the nonprofit's own hands</a:t>
            </a:r>
          </a:p>
        </p:txBody>
      </p:sp>
      <p:sp>
        <p:nvSpPr>
          <p:cNvPr id="5" name="Oval 4"/>
          <p:cNvSpPr/>
          <p:nvPr/>
        </p:nvSpPr>
        <p:spPr>
          <a:xfrm>
            <a:off x="548640" y="6400800"/>
            <a:ext cx="118872" cy="118872"/>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7230" y="6400800"/>
            <a:ext cx="118872" cy="11887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845820" y="6400800"/>
            <a:ext cx="130759" cy="118872"/>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6327648"/>
            <a:ext cx="5486400" cy="274320"/>
          </a:xfrm>
          <a:prstGeom prst="rect">
            <a:avLst/>
          </a:prstGeom>
          <a:noFill/>
        </p:spPr>
        <p:txBody>
          <a:bodyPr wrap="square" anchor="t" lIns="18288" rIns="18288">
            <a:spAutoFit/>
          </a:bodyPr>
          <a:lstStyle/>
          <a:p>
            <a:pPr algn="l">
              <a:spcAft>
                <a:spcPts val="400"/>
              </a:spcAft>
            </a:pPr>
            <a:r>
              <a:rPr sz="1000" b="0" i="0">
                <a:solidFill>
                  <a:srgbClr val="6F6A63"/>
                </a:solidFill>
                <a:latin typeface="Segoe UI"/>
              </a:rPr>
              <a:t>Through Line · AI Foundations · Yale SOM</a:t>
            </a:r>
          </a:p>
        </p:txBody>
      </p:sp>
      <p:sp>
        <p:nvSpPr>
          <p:cNvPr id="9" name="TextBox 8"/>
          <p:cNvSpPr txBox="1"/>
          <p:nvPr/>
        </p:nvSpPr>
        <p:spPr>
          <a:xfrm>
            <a:off x="11155680" y="6327648"/>
            <a:ext cx="548640" cy="274320"/>
          </a:xfrm>
          <a:prstGeom prst="rect">
            <a:avLst/>
          </a:prstGeom>
          <a:noFill/>
        </p:spPr>
        <p:txBody>
          <a:bodyPr wrap="square" anchor="t" lIns="18288" rIns="18288">
            <a:spAutoFit/>
          </a:bodyPr>
          <a:lstStyle/>
          <a:p>
            <a:pPr algn="r">
              <a:spcAft>
                <a:spcPts val="400"/>
              </a:spcAft>
            </a:pPr>
            <a:r>
              <a:rPr sz="1000" b="1" i="0">
                <a:solidFill>
                  <a:srgbClr val="6F6A63"/>
                </a:solidFill>
                <a:latin typeface="Segoe UI"/>
              </a:rPr>
              <a:t>3</a:t>
            </a:r>
          </a:p>
        </p:txBody>
      </p:sp>
      <p:sp>
        <p:nvSpPr>
          <p:cNvPr id="10" name="Rounded Rectangle 9"/>
          <p:cNvSpPr/>
          <p:nvPr/>
        </p:nvSpPr>
        <p:spPr>
          <a:xfrm>
            <a:off x="548640" y="2057400"/>
            <a:ext cx="5120640" cy="3246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40280"/>
            <a:ext cx="4663440" cy="365760"/>
          </a:xfrm>
          <a:prstGeom prst="rect">
            <a:avLst/>
          </a:prstGeom>
          <a:noFill/>
        </p:spPr>
        <p:txBody>
          <a:bodyPr wrap="square" anchor="t" lIns="18288" rIns="18288">
            <a:spAutoFit/>
          </a:bodyPr>
          <a:lstStyle/>
          <a:p>
            <a:pPr algn="l">
              <a:spcAft>
                <a:spcPts val="400"/>
              </a:spcAft>
            </a:pPr>
            <a:r>
              <a:rPr sz="1200" b="1" i="0">
                <a:solidFill>
                  <a:srgbClr val="6F6A63"/>
                </a:solidFill>
                <a:latin typeface="Segoe UI"/>
              </a:rPr>
              <a:t>TODAY</a:t>
            </a:r>
          </a:p>
        </p:txBody>
      </p:sp>
      <p:sp>
        <p:nvSpPr>
          <p:cNvPr id="12" name="TextBox 11"/>
          <p:cNvSpPr txBox="1"/>
          <p:nvPr/>
        </p:nvSpPr>
        <p:spPr>
          <a:xfrm>
            <a:off x="822960" y="2606040"/>
            <a:ext cx="4663440" cy="2651760"/>
          </a:xfrm>
          <a:prstGeom prst="rect">
            <a:avLst/>
          </a:prstGeom>
          <a:noFill/>
        </p:spPr>
        <p:txBody>
          <a:bodyPr wrap="square" anchor="t" lIns="18288" rIns="18288">
            <a:spAutoFit/>
          </a:bodyPr>
          <a:lstStyle/>
          <a:p>
            <a:pPr algn="l">
              <a:spcAft>
                <a:spcPts val="1000"/>
              </a:spcAft>
            </a:pPr>
            <a:r>
              <a:rPr sz="2000" b="1" i="0">
                <a:solidFill>
                  <a:srgbClr val="2B2B2B"/>
                </a:solidFill>
                <a:latin typeface="Century Gothic"/>
              </a:rPr>
              <a:t>$3,000–3,500  </a:t>
            </a:r>
            <a:r>
              <a:rPr sz="1500" b="0" i="0">
                <a:solidFill>
                  <a:srgbClr val="2B2B2B"/>
                </a:solidFill>
                <a:latin typeface="Segoe UI"/>
              </a:rPr>
              <a:t>a consultant-led logic model</a:t>
            </a:r>
          </a:p>
          <a:p>
            <a:pPr algn="l">
              <a:spcAft>
                <a:spcPts val="1000"/>
              </a:spcAft>
            </a:pPr>
            <a:r>
              <a:rPr sz="2000" b="1" i="0">
                <a:solidFill>
                  <a:srgbClr val="2B2B2B"/>
                </a:solidFill>
                <a:latin typeface="Century Gothic"/>
              </a:rPr>
              <a:t>$150–250/hr  </a:t>
            </a:r>
            <a:r>
              <a:rPr sz="1500" b="0" i="0">
                <a:solidFill>
                  <a:srgbClr val="2B2B2B"/>
                </a:solidFill>
                <a:latin typeface="Segoe UI"/>
              </a:rPr>
              <a:t>evaluators for plans and surveys</a:t>
            </a:r>
          </a:p>
          <a:p>
            <a:pPr algn="l">
              <a:spcAft>
                <a:spcPts val="1000"/>
              </a:spcAft>
            </a:pPr>
            <a:r>
              <a:rPr sz="2000" b="1" i="0">
                <a:solidFill>
                  <a:srgbClr val="2B2B2B"/>
                </a:solidFill>
                <a:latin typeface="Century Gothic"/>
              </a:rPr>
              <a:t>$299–999/mo  </a:t>
            </a:r>
            <a:r>
              <a:rPr sz="1500" b="0" i="0">
                <a:solidFill>
                  <a:srgbClr val="2B2B2B"/>
                </a:solidFill>
                <a:latin typeface="Segoe UI"/>
              </a:rPr>
              <a:t>software that covers one piece (Sopact, Instrumentl)</a:t>
            </a:r>
          </a:p>
          <a:p>
            <a:pPr algn="l">
              <a:spcAft>
                <a:spcPts val="1000"/>
              </a:spcAft>
            </a:pPr>
            <a:r>
              <a:rPr sz="1500" b="0" i="0">
                <a:solidFill>
                  <a:srgbClr val="2B2B2B"/>
                </a:solidFill>
                <a:latin typeface="Segoe UI"/>
              </a:rPr>
              <a:t>Nothing connects the logic model to the data or the grant.</a:t>
            </a:r>
          </a:p>
        </p:txBody>
      </p:sp>
      <p:sp>
        <p:nvSpPr>
          <p:cNvPr id="13" name="Rounded Rectangle 12"/>
          <p:cNvSpPr/>
          <p:nvPr/>
        </p:nvSpPr>
        <p:spPr>
          <a:xfrm>
            <a:off x="5943600" y="2057400"/>
            <a:ext cx="5705856" cy="3246120"/>
          </a:xfrm>
          <a:prstGeom prst="roundRect">
            <a:avLst>
              <a:gd name="adj" fmla="val 6000"/>
            </a:avLst>
          </a:prstGeom>
          <a:solidFill>
            <a:srgbClr val="EDF1F9"/>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2240280"/>
            <a:ext cx="5212080" cy="365760"/>
          </a:xfrm>
          <a:prstGeom prst="rect">
            <a:avLst/>
          </a:prstGeom>
          <a:noFill/>
        </p:spPr>
        <p:txBody>
          <a:bodyPr wrap="square" anchor="t" lIns="18288" rIns="18288">
            <a:spAutoFit/>
          </a:bodyPr>
          <a:lstStyle/>
          <a:p>
            <a:pPr algn="l">
              <a:spcAft>
                <a:spcPts val="400"/>
              </a:spcAft>
            </a:pPr>
            <a:r>
              <a:rPr sz="1200" b="1" i="0">
                <a:solidFill>
                  <a:srgbClr val="3E63B0"/>
                </a:solidFill>
                <a:latin typeface="Segoe UI"/>
              </a:rPr>
              <a:t>THROUGH LINE</a:t>
            </a:r>
          </a:p>
        </p:txBody>
      </p:sp>
      <p:sp>
        <p:nvSpPr>
          <p:cNvPr id="15" name="TextBox 14"/>
          <p:cNvSpPr txBox="1"/>
          <p:nvPr/>
        </p:nvSpPr>
        <p:spPr>
          <a:xfrm>
            <a:off x="6217920" y="2606040"/>
            <a:ext cx="5212080" cy="2651760"/>
          </a:xfrm>
          <a:prstGeom prst="rect">
            <a:avLst/>
          </a:prstGeom>
          <a:noFill/>
        </p:spPr>
        <p:txBody>
          <a:bodyPr wrap="square" anchor="t" lIns="18288" rIns="18288">
            <a:spAutoFit/>
          </a:bodyPr>
          <a:lstStyle/>
          <a:p>
            <a:pPr algn="l">
              <a:spcAft>
                <a:spcPts val="1000"/>
              </a:spcAft>
            </a:pPr>
            <a:r>
              <a:rPr sz="1500" b="1" i="0">
                <a:solidFill>
                  <a:srgbClr val="2B2B2B"/>
                </a:solidFill>
                <a:latin typeface="Segoe UI"/>
              </a:rPr>
              <a:t>1. The nonprofit does it itself. </a:t>
            </a:r>
            <a:r>
              <a:rPr sz="1500" b="0" i="0">
                <a:solidFill>
                  <a:srgbClr val="2B2B2B"/>
                </a:solidFill>
                <a:latin typeface="Segoe UI"/>
              </a:rPr>
              <a:t>Five AI specialists play the consultant team, with verified sources. Staff answer, edit, approve.</a:t>
            </a:r>
          </a:p>
          <a:p>
            <a:pPr algn="l">
              <a:spcAft>
                <a:spcPts val="1000"/>
              </a:spcAft>
            </a:pPr>
            <a:r>
              <a:rPr sz="1500" b="1" i="0">
                <a:solidFill>
                  <a:srgbClr val="2B2B2B"/>
                </a:solidFill>
                <a:latin typeface="Segoe UI"/>
              </a:rPr>
              <a:t>2. Everything flows together. </a:t>
            </a:r>
            <a:r>
              <a:rPr sz="1500" b="0" i="0">
                <a:solidFill>
                  <a:srgbClr val="2B2B2B"/>
                </a:solidFill>
                <a:latin typeface="Segoe UI"/>
              </a:rPr>
              <a:t>Outcomes become metrics, which become surveys, which fill the dashboard, deck, and grant draft.</a:t>
            </a:r>
          </a:p>
          <a:p>
            <a:pPr algn="l">
              <a:spcAft>
                <a:spcPts val="1000"/>
              </a:spcAft>
            </a:pPr>
            <a:r>
              <a:rPr sz="1500" b="1" i="0">
                <a:solidFill>
                  <a:srgbClr val="2B2B2B"/>
                </a:solidFill>
                <a:latin typeface="Segoe UI"/>
              </a:rPr>
              <a:t>Cost: </a:t>
            </a:r>
            <a:r>
              <a:rPr sz="1500" b="0" i="0">
                <a:solidFill>
                  <a:srgbClr val="2B2B2B"/>
                </a:solidFill>
                <a:latin typeface="Segoe UI"/>
              </a:rPr>
              <a:t>cents per organization in AI fees.</a:t>
            </a:r>
          </a:p>
        </p:txBody>
      </p:sp>
      <p:sp>
        <p:nvSpPr>
          <p:cNvPr id="16" name="Pentagon 15"/>
          <p:cNvSpPr/>
          <p:nvPr/>
        </p:nvSpPr>
        <p:spPr>
          <a:xfrm>
            <a:off x="548640" y="5486400"/>
            <a:ext cx="1631550" cy="548640"/>
          </a:xfrm>
          <a:prstGeom prst="homePlat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486400"/>
            <a:ext cx="1494390" cy="548640"/>
          </a:xfrm>
          <a:prstGeom prst="rect">
            <a:avLst/>
          </a:prstGeom>
          <a:noFill/>
        </p:spPr>
        <p:txBody>
          <a:bodyPr wrap="square" anchor="ctr" lIns="18288" rIns="18288">
            <a:spAutoFit/>
          </a:bodyPr>
          <a:lstStyle/>
          <a:p>
            <a:pPr algn="ctr">
              <a:spcAft>
                <a:spcPts val="400"/>
              </a:spcAft>
            </a:pPr>
            <a:r>
              <a:rPr sz="1300" b="1" i="0">
                <a:solidFill>
                  <a:srgbClr val="FFFFFF"/>
                </a:solidFill>
                <a:latin typeface="Century Gothic"/>
              </a:rPr>
              <a:t>Logic model</a:t>
            </a:r>
          </a:p>
        </p:txBody>
      </p:sp>
      <p:sp>
        <p:nvSpPr>
          <p:cNvPr id="18" name="Chevron 17"/>
          <p:cNvSpPr/>
          <p:nvPr/>
        </p:nvSpPr>
        <p:spPr>
          <a:xfrm>
            <a:off x="2134470" y="5486400"/>
            <a:ext cx="1631550" cy="548640"/>
          </a:xfrm>
          <a:prstGeom prst="chevron">
            <a:avLst/>
          </a:prstGeom>
          <a:solidFill>
            <a:srgbClr val="C9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225910" y="5486400"/>
            <a:ext cx="1494390" cy="548640"/>
          </a:xfrm>
          <a:prstGeom prst="rect">
            <a:avLst/>
          </a:prstGeom>
          <a:noFill/>
        </p:spPr>
        <p:txBody>
          <a:bodyPr wrap="square" anchor="ctr" lIns="18288" rIns="18288">
            <a:spAutoFit/>
          </a:bodyPr>
          <a:lstStyle/>
          <a:p>
            <a:pPr algn="ctr">
              <a:spcAft>
                <a:spcPts val="400"/>
              </a:spcAft>
            </a:pPr>
            <a:r>
              <a:rPr sz="1300" b="1" i="0">
                <a:solidFill>
                  <a:srgbClr val="FFFFFF"/>
                </a:solidFill>
                <a:latin typeface="Century Gothic"/>
              </a:rPr>
              <a:t>Metrics</a:t>
            </a:r>
          </a:p>
        </p:txBody>
      </p:sp>
      <p:sp>
        <p:nvSpPr>
          <p:cNvPr id="20" name="Chevron 19"/>
          <p:cNvSpPr/>
          <p:nvPr/>
        </p:nvSpPr>
        <p:spPr>
          <a:xfrm>
            <a:off x="3720301" y="5486400"/>
            <a:ext cx="1631550" cy="548640"/>
          </a:xfrm>
          <a:prstGeom prst="chevron">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11741" y="5486400"/>
            <a:ext cx="1494390" cy="548640"/>
          </a:xfrm>
          <a:prstGeom prst="rect">
            <a:avLst/>
          </a:prstGeom>
          <a:noFill/>
        </p:spPr>
        <p:txBody>
          <a:bodyPr wrap="square" anchor="ctr" lIns="18288" rIns="18288">
            <a:spAutoFit/>
          </a:bodyPr>
          <a:lstStyle/>
          <a:p>
            <a:pPr algn="ctr">
              <a:spcAft>
                <a:spcPts val="400"/>
              </a:spcAft>
            </a:pPr>
            <a:r>
              <a:rPr sz="1300" b="1" i="0">
                <a:solidFill>
                  <a:srgbClr val="FFFFFF"/>
                </a:solidFill>
                <a:latin typeface="Century Gothic"/>
              </a:rPr>
              <a:t>Surveys</a:t>
            </a:r>
          </a:p>
        </p:txBody>
      </p:sp>
      <p:sp>
        <p:nvSpPr>
          <p:cNvPr id="22" name="Chevron 21"/>
          <p:cNvSpPr/>
          <p:nvPr/>
        </p:nvSpPr>
        <p:spPr>
          <a:xfrm>
            <a:off x="5306132" y="5486400"/>
            <a:ext cx="1631550" cy="548640"/>
          </a:xfrm>
          <a:prstGeom prst="chevron">
            <a:avLst/>
          </a:prstGeom>
          <a:solidFill>
            <a:srgbClr val="3456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97572" y="5486400"/>
            <a:ext cx="1494390" cy="548640"/>
          </a:xfrm>
          <a:prstGeom prst="rect">
            <a:avLst/>
          </a:prstGeom>
          <a:noFill/>
        </p:spPr>
        <p:txBody>
          <a:bodyPr wrap="square" anchor="ctr" lIns="18288" rIns="18288">
            <a:spAutoFit/>
          </a:bodyPr>
          <a:lstStyle/>
          <a:p>
            <a:pPr algn="ctr">
              <a:spcAft>
                <a:spcPts val="400"/>
              </a:spcAft>
            </a:pPr>
            <a:r>
              <a:rPr sz="1300" b="1" i="0">
                <a:solidFill>
                  <a:srgbClr val="FFFFFF"/>
                </a:solidFill>
                <a:latin typeface="Century Gothic"/>
              </a:rPr>
              <a:t>Data</a:t>
            </a:r>
          </a:p>
        </p:txBody>
      </p:sp>
      <p:sp>
        <p:nvSpPr>
          <p:cNvPr id="24" name="Chevron 23"/>
          <p:cNvSpPr/>
          <p:nvPr/>
        </p:nvSpPr>
        <p:spPr>
          <a:xfrm>
            <a:off x="6891963" y="5486400"/>
            <a:ext cx="1631550" cy="548640"/>
          </a:xfrm>
          <a:prstGeom prst="chevron">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83403" y="5486400"/>
            <a:ext cx="1494390" cy="548640"/>
          </a:xfrm>
          <a:prstGeom prst="rect">
            <a:avLst/>
          </a:prstGeom>
          <a:noFill/>
        </p:spPr>
        <p:txBody>
          <a:bodyPr wrap="square" anchor="ctr" lIns="18288" rIns="18288">
            <a:spAutoFit/>
          </a:bodyPr>
          <a:lstStyle/>
          <a:p>
            <a:pPr algn="ctr">
              <a:spcAft>
                <a:spcPts val="400"/>
              </a:spcAft>
            </a:pPr>
            <a:r>
              <a:rPr sz="1300" b="1" i="0">
                <a:solidFill>
                  <a:srgbClr val="2B2B2B"/>
                </a:solidFill>
                <a:latin typeface="Century Gothic"/>
              </a:rPr>
              <a:t>Dashboard</a:t>
            </a:r>
          </a:p>
        </p:txBody>
      </p:sp>
      <p:sp>
        <p:nvSpPr>
          <p:cNvPr id="26" name="Chevron 25"/>
          <p:cNvSpPr/>
          <p:nvPr/>
        </p:nvSpPr>
        <p:spPr>
          <a:xfrm>
            <a:off x="8477794" y="5486400"/>
            <a:ext cx="1631550" cy="548640"/>
          </a:xfrm>
          <a:prstGeom prst="chevron">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69234" y="5486400"/>
            <a:ext cx="1494390" cy="548640"/>
          </a:xfrm>
          <a:prstGeom prst="rect">
            <a:avLst/>
          </a:prstGeom>
          <a:noFill/>
        </p:spPr>
        <p:txBody>
          <a:bodyPr wrap="square" anchor="ctr" lIns="18288" rIns="18288">
            <a:spAutoFit/>
          </a:bodyPr>
          <a:lstStyle/>
          <a:p>
            <a:pPr algn="ctr">
              <a:spcAft>
                <a:spcPts val="400"/>
              </a:spcAft>
            </a:pPr>
            <a:r>
              <a:rPr sz="1300" b="1" i="0">
                <a:solidFill>
                  <a:srgbClr val="FFFFFF"/>
                </a:solidFill>
                <a:latin typeface="Century Gothic"/>
              </a:rPr>
              <a:t>Funder deck</a:t>
            </a:r>
          </a:p>
        </p:txBody>
      </p:sp>
      <p:sp>
        <p:nvSpPr>
          <p:cNvPr id="28" name="Chevron 27"/>
          <p:cNvSpPr/>
          <p:nvPr/>
        </p:nvSpPr>
        <p:spPr>
          <a:xfrm>
            <a:off x="10063625" y="5486400"/>
            <a:ext cx="1631550" cy="548640"/>
          </a:xfrm>
          <a:prstGeom prst="chevron">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55065" y="5486400"/>
            <a:ext cx="1494390" cy="548640"/>
          </a:xfrm>
          <a:prstGeom prst="rect">
            <a:avLst/>
          </a:prstGeom>
          <a:noFill/>
        </p:spPr>
        <p:txBody>
          <a:bodyPr wrap="square" anchor="ctr" lIns="18288" rIns="18288">
            <a:spAutoFit/>
          </a:bodyPr>
          <a:lstStyle/>
          <a:p>
            <a:pPr algn="ctr">
              <a:spcAft>
                <a:spcPts val="400"/>
              </a:spcAft>
            </a:pPr>
            <a:r>
              <a:rPr sz="1300" b="1" i="0">
                <a:solidFill>
                  <a:srgbClr val="FFFFFF"/>
                </a:solidFill>
                <a:latin typeface="Century Gothic"/>
              </a:rPr>
              <a:t>Grant draft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502920" cy="64008"/>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9144000" cy="320040"/>
          </a:xfrm>
          <a:prstGeom prst="rect">
            <a:avLst/>
          </a:prstGeom>
          <a:noFill/>
        </p:spPr>
        <p:txBody>
          <a:bodyPr wrap="square" anchor="t" lIns="18288" rIns="18288">
            <a:spAutoFit/>
          </a:bodyPr>
          <a:lstStyle/>
          <a:p>
            <a:pPr algn="l">
              <a:spcAft>
                <a:spcPts val="400"/>
              </a:spcAft>
            </a:pPr>
            <a:r>
              <a:rPr sz="1100" b="1" i="0">
                <a:solidFill>
                  <a:srgbClr val="6F6A63"/>
                </a:solidFill>
                <a:latin typeface="Segoe UI"/>
              </a:rPr>
              <a:t>AGENTS</a:t>
            </a:r>
          </a:p>
        </p:txBody>
      </p:sp>
      <p:sp>
        <p:nvSpPr>
          <p:cNvPr id="4" name="TextBox 3"/>
          <p:cNvSpPr txBox="1"/>
          <p:nvPr/>
        </p:nvSpPr>
        <p:spPr>
          <a:xfrm>
            <a:off x="548640" y="914400"/>
            <a:ext cx="11064240" cy="914400"/>
          </a:xfrm>
          <a:prstGeom prst="rect">
            <a:avLst/>
          </a:prstGeom>
          <a:noFill/>
        </p:spPr>
        <p:txBody>
          <a:bodyPr wrap="square" anchor="t" lIns="18288" rIns="18288">
            <a:spAutoFit/>
          </a:bodyPr>
          <a:lstStyle/>
          <a:p>
            <a:pPr algn="l">
              <a:spcAft>
                <a:spcPts val="400"/>
              </a:spcAft>
            </a:pPr>
            <a:r>
              <a:rPr sz="3000" b="1" i="0">
                <a:solidFill>
                  <a:srgbClr val="2B2B2B"/>
                </a:solidFill>
                <a:latin typeface="Century Gothic"/>
              </a:rPr>
              <a:t>Nine agents, one model, plain-code orchestration</a:t>
            </a:r>
          </a:p>
        </p:txBody>
      </p:sp>
      <p:sp>
        <p:nvSpPr>
          <p:cNvPr id="5" name="Oval 4"/>
          <p:cNvSpPr/>
          <p:nvPr/>
        </p:nvSpPr>
        <p:spPr>
          <a:xfrm>
            <a:off x="548640" y="6400800"/>
            <a:ext cx="118872" cy="118872"/>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7230" y="6400800"/>
            <a:ext cx="118872" cy="11887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845820" y="6400800"/>
            <a:ext cx="130759" cy="118872"/>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6327648"/>
            <a:ext cx="5486400" cy="274320"/>
          </a:xfrm>
          <a:prstGeom prst="rect">
            <a:avLst/>
          </a:prstGeom>
          <a:noFill/>
        </p:spPr>
        <p:txBody>
          <a:bodyPr wrap="square" anchor="t" lIns="18288" rIns="18288">
            <a:spAutoFit/>
          </a:bodyPr>
          <a:lstStyle/>
          <a:p>
            <a:pPr algn="l">
              <a:spcAft>
                <a:spcPts val="400"/>
              </a:spcAft>
            </a:pPr>
            <a:r>
              <a:rPr sz="1000" b="0" i="0">
                <a:solidFill>
                  <a:srgbClr val="6F6A63"/>
                </a:solidFill>
                <a:latin typeface="Segoe UI"/>
              </a:rPr>
              <a:t>Through Line · AI Foundations · Yale SOM</a:t>
            </a:r>
          </a:p>
        </p:txBody>
      </p:sp>
      <p:sp>
        <p:nvSpPr>
          <p:cNvPr id="9" name="TextBox 8"/>
          <p:cNvSpPr txBox="1"/>
          <p:nvPr/>
        </p:nvSpPr>
        <p:spPr>
          <a:xfrm>
            <a:off x="11155680" y="6327648"/>
            <a:ext cx="548640" cy="274320"/>
          </a:xfrm>
          <a:prstGeom prst="rect">
            <a:avLst/>
          </a:prstGeom>
          <a:noFill/>
        </p:spPr>
        <p:txBody>
          <a:bodyPr wrap="square" anchor="t" lIns="18288" rIns="18288">
            <a:spAutoFit/>
          </a:bodyPr>
          <a:lstStyle/>
          <a:p>
            <a:pPr algn="r">
              <a:spcAft>
                <a:spcPts val="400"/>
              </a:spcAft>
            </a:pPr>
            <a:r>
              <a:rPr sz="1000" b="1" i="0">
                <a:solidFill>
                  <a:srgbClr val="6F6A63"/>
                </a:solidFill>
                <a:latin typeface="Segoe UI"/>
              </a:rPr>
              <a:t>4</a:t>
            </a:r>
          </a:p>
        </p:txBody>
      </p:sp>
      <p:pic>
        <p:nvPicPr>
          <p:cNvPr id="10" name="Picture 9" descr="agents_diagram.png"/>
          <p:cNvPicPr>
            <a:picLocks noChangeAspect="1"/>
          </p:cNvPicPr>
          <p:nvPr/>
        </p:nvPicPr>
        <p:blipFill>
          <a:blip r:embed="rId3"/>
          <a:stretch>
            <a:fillRect/>
          </a:stretch>
        </p:blipFill>
        <p:spPr>
          <a:xfrm>
            <a:off x="548640" y="1783080"/>
            <a:ext cx="7863840" cy="3760967"/>
          </a:xfrm>
          <a:prstGeom prst="rect">
            <a:avLst/>
          </a:prstGeom>
        </p:spPr>
      </p:pic>
      <p:sp>
        <p:nvSpPr>
          <p:cNvPr id="11" name="Rounded Rectangle 10"/>
          <p:cNvSpPr/>
          <p:nvPr/>
        </p:nvSpPr>
        <p:spPr>
          <a:xfrm>
            <a:off x="8641080" y="1783080"/>
            <a:ext cx="3008376" cy="434340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41080" y="1783080"/>
            <a:ext cx="3008376"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0" y="2011680"/>
            <a:ext cx="2606040" cy="4114800"/>
          </a:xfrm>
          <a:prstGeom prst="rect">
            <a:avLst/>
          </a:prstGeom>
          <a:noFill/>
        </p:spPr>
        <p:txBody>
          <a:bodyPr wrap="square" anchor="t" lIns="18288" rIns="18288">
            <a:spAutoFit/>
          </a:bodyPr>
          <a:lstStyle/>
          <a:p>
            <a:pPr algn="l">
              <a:spcAft>
                <a:spcPts val="600"/>
              </a:spcAft>
            </a:pPr>
            <a:r>
              <a:rPr sz="1700" b="1" i="0">
                <a:solidFill>
                  <a:srgbClr val="2B2B2B"/>
                </a:solidFill>
                <a:latin typeface="Century Gothic"/>
              </a:rPr>
              <a:t>Model</a:t>
            </a:r>
          </a:p>
          <a:p>
            <a:pPr algn="l">
              <a:spcAft>
                <a:spcPts val="600"/>
              </a:spcAft>
            </a:pPr>
            <a:r>
              <a:rPr sz="1300" b="0" i="0">
                <a:solidFill>
                  <a:srgbClr val="2B2B2B"/>
                </a:solidFill>
                <a:latin typeface="Segoe UI"/>
              </a:rPr>
              <a:t>gpt-6-luna for every agent, via Portkey (Responses API). $0.10 / $0.50 per million tokens: 20× cheaper than gpt-6-sol, and good enough in testing.</a:t>
            </a:r>
          </a:p>
          <a:p>
            <a:pPr algn="l">
              <a:spcAft>
                <a:spcPts val="600"/>
              </a:spcAft>
            </a:pPr>
            <a:r>
              <a:rPr sz="1700" b="1" i="0">
                <a:solidFill>
                  <a:srgbClr val="2B2B2B"/>
                </a:solidFill>
                <a:latin typeface="Century Gothic"/>
              </a:rPr>
              <a:t>Tools</a:t>
            </a:r>
          </a:p>
          <a:p>
            <a:pPr algn="l">
              <a:spcAft>
                <a:spcPts val="600"/>
              </a:spcAft>
            </a:pPr>
            <a:r>
              <a:rPr sz="1300" b="0" i="0">
                <a:solidFill>
                  <a:srgbClr val="2B2B2B"/>
                </a:solidFill>
                <a:latin typeface="Segoe UI"/>
              </a:rPr>
              <a:t>Live web search (Funder Researcher), consult and context tools (Studio). Everyone else works only from the data code gives them.</a:t>
            </a:r>
          </a:p>
          <a:p>
            <a:pPr algn="l">
              <a:spcAft>
                <a:spcPts val="600"/>
              </a:spcAft>
            </a:pPr>
            <a:r>
              <a:rPr sz="1700" b="1" i="0">
                <a:solidFill>
                  <a:srgbClr val="2B2B2B"/>
                </a:solidFill>
                <a:latin typeface="Century Gothic"/>
              </a:rPr>
              <a:t>Typed outputs</a:t>
            </a:r>
          </a:p>
          <a:p>
            <a:pPr algn="l">
              <a:spcAft>
                <a:spcPts val="600"/>
              </a:spcAft>
            </a:pPr>
            <a:r>
              <a:rPr sz="1300" b="0" i="0">
                <a:solidFill>
                  <a:srgbClr val="2B2B2B"/>
                </a:solidFill>
                <a:latin typeface="Segoe UI"/>
              </a:rPr>
              <a:t>Every agent returns a checked Pydantic object.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502920" cy="64008"/>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9144000" cy="320040"/>
          </a:xfrm>
          <a:prstGeom prst="rect">
            <a:avLst/>
          </a:prstGeom>
          <a:noFill/>
        </p:spPr>
        <p:txBody>
          <a:bodyPr wrap="square" anchor="t" lIns="18288" rIns="18288">
            <a:spAutoFit/>
          </a:bodyPr>
          <a:lstStyle/>
          <a:p>
            <a:pPr algn="l">
              <a:spcAft>
                <a:spcPts val="400"/>
              </a:spcAft>
            </a:pPr>
            <a:r>
              <a:rPr sz="1100" b="1" i="0">
                <a:solidFill>
                  <a:srgbClr val="6F6A63"/>
                </a:solidFill>
                <a:latin typeface="Segoe UI"/>
              </a:rPr>
              <a:t>DEMO · A LIVE RUN ON GPT-6-LUNA</a:t>
            </a:r>
          </a:p>
        </p:txBody>
      </p:sp>
      <p:sp>
        <p:nvSpPr>
          <p:cNvPr id="4" name="TextBox 3"/>
          <p:cNvSpPr txBox="1"/>
          <p:nvPr/>
        </p:nvSpPr>
        <p:spPr>
          <a:xfrm>
            <a:off x="548640" y="914400"/>
            <a:ext cx="11064240" cy="914400"/>
          </a:xfrm>
          <a:prstGeom prst="rect">
            <a:avLst/>
          </a:prstGeom>
          <a:noFill/>
        </p:spPr>
        <p:txBody>
          <a:bodyPr wrap="square" anchor="t" lIns="18288" rIns="18288">
            <a:spAutoFit/>
          </a:bodyPr>
          <a:lstStyle/>
          <a:p>
            <a:pPr algn="l">
              <a:spcAft>
                <a:spcPts val="400"/>
              </a:spcAft>
            </a:pPr>
            <a:r>
              <a:rPr sz="3000" b="1" i="0">
                <a:solidFill>
                  <a:srgbClr val="2B2B2B"/>
                </a:solidFill>
                <a:latin typeface="Century Gothic"/>
              </a:rPr>
              <a:t>Keystone Family Housing, from documents to grant draft</a:t>
            </a:r>
          </a:p>
        </p:txBody>
      </p:sp>
      <p:sp>
        <p:nvSpPr>
          <p:cNvPr id="5" name="Oval 4"/>
          <p:cNvSpPr/>
          <p:nvPr/>
        </p:nvSpPr>
        <p:spPr>
          <a:xfrm>
            <a:off x="548640" y="6400800"/>
            <a:ext cx="118872" cy="118872"/>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7230" y="6400800"/>
            <a:ext cx="118872" cy="11887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845820" y="6400800"/>
            <a:ext cx="130759" cy="118872"/>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6327648"/>
            <a:ext cx="5486400" cy="274320"/>
          </a:xfrm>
          <a:prstGeom prst="rect">
            <a:avLst/>
          </a:prstGeom>
          <a:noFill/>
        </p:spPr>
        <p:txBody>
          <a:bodyPr wrap="square" anchor="t" lIns="18288" rIns="18288">
            <a:spAutoFit/>
          </a:bodyPr>
          <a:lstStyle/>
          <a:p>
            <a:pPr algn="l">
              <a:spcAft>
                <a:spcPts val="400"/>
              </a:spcAft>
            </a:pPr>
            <a:r>
              <a:rPr sz="1000" b="0" i="0">
                <a:solidFill>
                  <a:srgbClr val="6F6A63"/>
                </a:solidFill>
                <a:latin typeface="Segoe UI"/>
              </a:rPr>
              <a:t>Through Line · AI Foundations · Yale SOM</a:t>
            </a:r>
          </a:p>
        </p:txBody>
      </p:sp>
      <p:sp>
        <p:nvSpPr>
          <p:cNvPr id="9" name="TextBox 8"/>
          <p:cNvSpPr txBox="1"/>
          <p:nvPr/>
        </p:nvSpPr>
        <p:spPr>
          <a:xfrm>
            <a:off x="11155680" y="6327648"/>
            <a:ext cx="548640" cy="274320"/>
          </a:xfrm>
          <a:prstGeom prst="rect">
            <a:avLst/>
          </a:prstGeom>
          <a:noFill/>
        </p:spPr>
        <p:txBody>
          <a:bodyPr wrap="square" anchor="t" lIns="18288" rIns="18288">
            <a:spAutoFit/>
          </a:bodyPr>
          <a:lstStyle/>
          <a:p>
            <a:pPr algn="r">
              <a:spcAft>
                <a:spcPts val="400"/>
              </a:spcAft>
            </a:pPr>
            <a:r>
              <a:rPr sz="1000" b="1" i="0">
                <a:solidFill>
                  <a:srgbClr val="6F6A63"/>
                </a:solidFill>
                <a:latin typeface="Segoe UI"/>
              </a:rPr>
              <a:t>5</a:t>
            </a:r>
          </a:p>
        </p:txBody>
      </p:sp>
      <p:sp>
        <p:nvSpPr>
          <p:cNvPr id="10" name="Rounded Rectangle 9"/>
          <p:cNvSpPr/>
          <p:nvPr/>
        </p:nvSpPr>
        <p:spPr>
          <a:xfrm>
            <a:off x="548640" y="1783080"/>
            <a:ext cx="3611880" cy="2103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ive_07_interview_thinking.jpg"/>
          <p:cNvPicPr>
            <a:picLocks noChangeAspect="1"/>
          </p:cNvPicPr>
          <p:nvPr/>
        </p:nvPicPr>
        <p:blipFill>
          <a:blip r:embed="rId3"/>
          <a:srcRect b="28205"/>
          <a:stretch>
            <a:fillRect/>
          </a:stretch>
        </p:blipFill>
        <p:spPr>
          <a:xfrm>
            <a:off x="640080" y="1874519"/>
            <a:ext cx="3429000" cy="1600200"/>
          </a:xfrm>
          <a:prstGeom prst="rect">
            <a:avLst/>
          </a:prstGeom>
        </p:spPr>
      </p:pic>
      <p:sp>
        <p:nvSpPr>
          <p:cNvPr id="12" name="TextBox 11"/>
          <p:cNvSpPr txBox="1"/>
          <p:nvPr/>
        </p:nvSpPr>
        <p:spPr>
          <a:xfrm>
            <a:off x="685800" y="3520439"/>
            <a:ext cx="3383280" cy="320040"/>
          </a:xfrm>
          <a:prstGeom prst="rect">
            <a:avLst/>
          </a:prstGeom>
          <a:noFill/>
        </p:spPr>
        <p:txBody>
          <a:bodyPr wrap="square" anchor="t" lIns="18288" rIns="18288">
            <a:spAutoFit/>
          </a:bodyPr>
          <a:lstStyle/>
          <a:p>
            <a:pPr algn="l">
              <a:spcAft>
                <a:spcPts val="400"/>
              </a:spcAft>
            </a:pPr>
            <a:r>
              <a:rPr sz="1200" b="1" i="0">
                <a:solidFill>
                  <a:srgbClr val="2B2B2B"/>
                </a:solidFill>
                <a:latin typeface="Segoe UI"/>
              </a:rPr>
              <a:t>Five questions, with the live team huddle</a:t>
            </a:r>
          </a:p>
        </p:txBody>
      </p:sp>
      <p:sp>
        <p:nvSpPr>
          <p:cNvPr id="13" name="Rounded Rectangle 12"/>
          <p:cNvSpPr/>
          <p:nvPr/>
        </p:nvSpPr>
        <p:spPr>
          <a:xfrm>
            <a:off x="4297679" y="1783080"/>
            <a:ext cx="3611880" cy="2103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live_10_logic_model_grid.jpg"/>
          <p:cNvPicPr>
            <a:picLocks noChangeAspect="1"/>
          </p:cNvPicPr>
          <p:nvPr/>
        </p:nvPicPr>
        <p:blipFill>
          <a:blip r:embed="rId4"/>
          <a:srcRect b="28205"/>
          <a:stretch>
            <a:fillRect/>
          </a:stretch>
        </p:blipFill>
        <p:spPr>
          <a:xfrm>
            <a:off x="4389119" y="1874519"/>
            <a:ext cx="3429000" cy="1600200"/>
          </a:xfrm>
          <a:prstGeom prst="rect">
            <a:avLst/>
          </a:prstGeom>
        </p:spPr>
      </p:pic>
      <p:sp>
        <p:nvSpPr>
          <p:cNvPr id="15" name="TextBox 14"/>
          <p:cNvSpPr txBox="1"/>
          <p:nvPr/>
        </p:nvSpPr>
        <p:spPr>
          <a:xfrm>
            <a:off x="4434840" y="3520439"/>
            <a:ext cx="3383280" cy="320040"/>
          </a:xfrm>
          <a:prstGeom prst="rect">
            <a:avLst/>
          </a:prstGeom>
          <a:noFill/>
        </p:spPr>
        <p:txBody>
          <a:bodyPr wrap="square" anchor="t" lIns="18288" rIns="18288">
            <a:spAutoFit/>
          </a:bodyPr>
          <a:lstStyle/>
          <a:p>
            <a:pPr algn="l">
              <a:spcAft>
                <a:spcPts val="400"/>
              </a:spcAft>
            </a:pPr>
            <a:r>
              <a:rPr sz="1200" b="1" i="0">
                <a:solidFill>
                  <a:srgbClr val="2B2B2B"/>
                </a:solidFill>
                <a:latin typeface="Segoe UI"/>
              </a:rPr>
              <a:t>Logic model in their own words</a:t>
            </a:r>
          </a:p>
        </p:txBody>
      </p:sp>
      <p:sp>
        <p:nvSpPr>
          <p:cNvPr id="16" name="Rounded Rectangle 15"/>
          <p:cNvSpPr/>
          <p:nvPr/>
        </p:nvSpPr>
        <p:spPr>
          <a:xfrm>
            <a:off x="8046719" y="1783080"/>
            <a:ext cx="3611880" cy="2103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ive_16_metrics_plan.jpg"/>
          <p:cNvPicPr>
            <a:picLocks noChangeAspect="1"/>
          </p:cNvPicPr>
          <p:nvPr/>
        </p:nvPicPr>
        <p:blipFill>
          <a:blip r:embed="rId5"/>
          <a:srcRect b="28205"/>
          <a:stretch>
            <a:fillRect/>
          </a:stretch>
        </p:blipFill>
        <p:spPr>
          <a:xfrm>
            <a:off x="8138159" y="1874519"/>
            <a:ext cx="3429000" cy="1600200"/>
          </a:xfrm>
          <a:prstGeom prst="rect">
            <a:avLst/>
          </a:prstGeom>
        </p:spPr>
      </p:pic>
      <p:sp>
        <p:nvSpPr>
          <p:cNvPr id="18" name="TextBox 17"/>
          <p:cNvSpPr txBox="1"/>
          <p:nvPr/>
        </p:nvSpPr>
        <p:spPr>
          <a:xfrm>
            <a:off x="8183879" y="3520439"/>
            <a:ext cx="3383280" cy="320040"/>
          </a:xfrm>
          <a:prstGeom prst="rect">
            <a:avLst/>
          </a:prstGeom>
          <a:noFill/>
        </p:spPr>
        <p:txBody>
          <a:bodyPr wrap="square" anchor="t" lIns="18288" rIns="18288">
            <a:spAutoFit/>
          </a:bodyPr>
          <a:lstStyle/>
          <a:p>
            <a:pPr algn="l">
              <a:spcAft>
                <a:spcPts val="400"/>
              </a:spcAft>
            </a:pPr>
            <a:r>
              <a:rPr sz="1200" b="1" i="0">
                <a:solidFill>
                  <a:srgbClr val="2B2B2B"/>
                </a:solidFill>
                <a:latin typeface="Segoe UI"/>
              </a:rPr>
              <a:t>Metrics with cited questions</a:t>
            </a:r>
          </a:p>
        </p:txBody>
      </p:sp>
      <p:sp>
        <p:nvSpPr>
          <p:cNvPr id="19" name="Rounded Rectangle 18"/>
          <p:cNvSpPr/>
          <p:nvPr/>
        </p:nvSpPr>
        <p:spPr>
          <a:xfrm>
            <a:off x="548640" y="4023360"/>
            <a:ext cx="3611880" cy="2103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dashboard.jpg"/>
          <p:cNvPicPr>
            <a:picLocks noChangeAspect="1"/>
          </p:cNvPicPr>
          <p:nvPr/>
        </p:nvPicPr>
        <p:blipFill>
          <a:blip r:embed="rId6"/>
          <a:srcRect b="25333"/>
          <a:stretch>
            <a:fillRect/>
          </a:stretch>
        </p:blipFill>
        <p:spPr>
          <a:xfrm>
            <a:off x="640080" y="4114800"/>
            <a:ext cx="3429000" cy="1600200"/>
          </a:xfrm>
          <a:prstGeom prst="rect">
            <a:avLst/>
          </a:prstGeom>
        </p:spPr>
      </p:pic>
      <p:sp>
        <p:nvSpPr>
          <p:cNvPr id="21" name="TextBox 20"/>
          <p:cNvSpPr txBox="1"/>
          <p:nvPr/>
        </p:nvSpPr>
        <p:spPr>
          <a:xfrm>
            <a:off x="685800" y="5760720"/>
            <a:ext cx="3383280" cy="320040"/>
          </a:xfrm>
          <a:prstGeom prst="rect">
            <a:avLst/>
          </a:prstGeom>
          <a:noFill/>
        </p:spPr>
        <p:txBody>
          <a:bodyPr wrap="square" anchor="t" lIns="18288" rIns="18288">
            <a:spAutoFit/>
          </a:bodyPr>
          <a:lstStyle/>
          <a:p>
            <a:pPr algn="l">
              <a:spcAft>
                <a:spcPts val="400"/>
              </a:spcAft>
            </a:pPr>
            <a:r>
              <a:rPr sz="1200" b="1" i="0">
                <a:solidFill>
                  <a:srgbClr val="2B2B2B"/>
                </a:solidFill>
                <a:latin typeface="Segoe UI"/>
              </a:rPr>
              <a:t>Dashboard: 85% · 60% · 70% improved</a:t>
            </a:r>
          </a:p>
        </p:txBody>
      </p:sp>
      <p:sp>
        <p:nvSpPr>
          <p:cNvPr id="22" name="Rounded Rectangle 21"/>
          <p:cNvSpPr/>
          <p:nvPr/>
        </p:nvSpPr>
        <p:spPr>
          <a:xfrm>
            <a:off x="4297679" y="4023360"/>
            <a:ext cx="3611880" cy="2103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review_funder_deck.jpg"/>
          <p:cNvPicPr>
            <a:picLocks noChangeAspect="1"/>
          </p:cNvPicPr>
          <p:nvPr/>
        </p:nvPicPr>
        <p:blipFill>
          <a:blip r:embed="rId7"/>
          <a:srcRect b="50715"/>
          <a:stretch>
            <a:fillRect/>
          </a:stretch>
        </p:blipFill>
        <p:spPr>
          <a:xfrm>
            <a:off x="4389119" y="4114800"/>
            <a:ext cx="3429000" cy="1600200"/>
          </a:xfrm>
          <a:prstGeom prst="rect">
            <a:avLst/>
          </a:prstGeom>
        </p:spPr>
      </p:pic>
      <p:sp>
        <p:nvSpPr>
          <p:cNvPr id="24" name="TextBox 23"/>
          <p:cNvSpPr txBox="1"/>
          <p:nvPr/>
        </p:nvSpPr>
        <p:spPr>
          <a:xfrm>
            <a:off x="4434840" y="5760720"/>
            <a:ext cx="3383280" cy="320040"/>
          </a:xfrm>
          <a:prstGeom prst="rect">
            <a:avLst/>
          </a:prstGeom>
          <a:noFill/>
        </p:spPr>
        <p:txBody>
          <a:bodyPr wrap="square" anchor="t" lIns="18288" rIns="18288">
            <a:spAutoFit/>
          </a:bodyPr>
          <a:lstStyle/>
          <a:p>
            <a:pPr algn="l">
              <a:spcAft>
                <a:spcPts val="400"/>
              </a:spcAft>
            </a:pPr>
            <a:r>
              <a:rPr sz="1200" b="1" i="0">
                <a:solidFill>
                  <a:srgbClr val="2B2B2B"/>
                </a:solidFill>
                <a:latin typeface="Segoe UI"/>
              </a:rPr>
              <a:t>14-slide funder deck, live numbers</a:t>
            </a:r>
          </a:p>
        </p:txBody>
      </p:sp>
      <p:sp>
        <p:nvSpPr>
          <p:cNvPr id="25" name="Rounded Rectangle 24"/>
          <p:cNvSpPr/>
          <p:nvPr/>
        </p:nvSpPr>
        <p:spPr>
          <a:xfrm>
            <a:off x="8046719" y="4023360"/>
            <a:ext cx="3611880" cy="2103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grants_answers.jpg"/>
          <p:cNvPicPr>
            <a:picLocks noChangeAspect="1"/>
          </p:cNvPicPr>
          <p:nvPr/>
        </p:nvPicPr>
        <p:blipFill>
          <a:blip r:embed="rId8"/>
          <a:srcRect b="25333"/>
          <a:stretch>
            <a:fillRect/>
          </a:stretch>
        </p:blipFill>
        <p:spPr>
          <a:xfrm>
            <a:off x="8138159" y="4114800"/>
            <a:ext cx="3429000" cy="1600200"/>
          </a:xfrm>
          <a:prstGeom prst="rect">
            <a:avLst/>
          </a:prstGeom>
        </p:spPr>
      </p:pic>
      <p:sp>
        <p:nvSpPr>
          <p:cNvPr id="27" name="TextBox 26"/>
          <p:cNvSpPr txBox="1"/>
          <p:nvPr/>
        </p:nvSpPr>
        <p:spPr>
          <a:xfrm>
            <a:off x="8183879" y="5760720"/>
            <a:ext cx="3383280" cy="320040"/>
          </a:xfrm>
          <a:prstGeom prst="rect">
            <a:avLst/>
          </a:prstGeom>
          <a:noFill/>
        </p:spPr>
        <p:txBody>
          <a:bodyPr wrap="square" anchor="t" lIns="18288" rIns="18288">
            <a:spAutoFit/>
          </a:bodyPr>
          <a:lstStyle/>
          <a:p>
            <a:pPr algn="l">
              <a:spcAft>
                <a:spcPts val="400"/>
              </a:spcAft>
            </a:pPr>
            <a:r>
              <a:rPr sz="1200" b="1" i="0">
                <a:solidFill>
                  <a:srgbClr val="2B2B2B"/>
                </a:solidFill>
                <a:latin typeface="Segoe UI"/>
              </a:rPr>
              <a:t>Grant draft for one foundation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502920" cy="64008"/>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9144000" cy="320040"/>
          </a:xfrm>
          <a:prstGeom prst="rect">
            <a:avLst/>
          </a:prstGeom>
          <a:noFill/>
        </p:spPr>
        <p:txBody>
          <a:bodyPr wrap="square" anchor="t" lIns="18288" rIns="18288">
            <a:spAutoFit/>
          </a:bodyPr>
          <a:lstStyle/>
          <a:p>
            <a:pPr algn="l">
              <a:spcAft>
                <a:spcPts val="400"/>
              </a:spcAft>
            </a:pPr>
            <a:r>
              <a:rPr sz="1100" b="1" i="0">
                <a:solidFill>
                  <a:srgbClr val="6F6A63"/>
                </a:solidFill>
                <a:latin typeface="Segoe UI"/>
              </a:rPr>
              <a:t>COST TO RUN</a:t>
            </a:r>
          </a:p>
        </p:txBody>
      </p:sp>
      <p:sp>
        <p:nvSpPr>
          <p:cNvPr id="4" name="TextBox 3"/>
          <p:cNvSpPr txBox="1"/>
          <p:nvPr/>
        </p:nvSpPr>
        <p:spPr>
          <a:xfrm>
            <a:off x="548640" y="914400"/>
            <a:ext cx="11064240" cy="914400"/>
          </a:xfrm>
          <a:prstGeom prst="rect">
            <a:avLst/>
          </a:prstGeom>
          <a:noFill/>
        </p:spPr>
        <p:txBody>
          <a:bodyPr wrap="square" anchor="t" lIns="18288" rIns="18288">
            <a:spAutoFit/>
          </a:bodyPr>
          <a:lstStyle/>
          <a:p>
            <a:pPr algn="l">
              <a:spcAft>
                <a:spcPts val="400"/>
              </a:spcAft>
            </a:pPr>
            <a:r>
              <a:rPr sz="3000" b="1" i="0">
                <a:solidFill>
                  <a:srgbClr val="2B2B2B"/>
                </a:solidFill>
                <a:latin typeface="Century Gothic"/>
              </a:rPr>
              <a:t>Cents per organization, not thousands of dollars</a:t>
            </a:r>
          </a:p>
        </p:txBody>
      </p:sp>
      <p:sp>
        <p:nvSpPr>
          <p:cNvPr id="5" name="Oval 4"/>
          <p:cNvSpPr/>
          <p:nvPr/>
        </p:nvSpPr>
        <p:spPr>
          <a:xfrm>
            <a:off x="548640" y="6400800"/>
            <a:ext cx="118872" cy="118872"/>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7230" y="6400800"/>
            <a:ext cx="118872" cy="11887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845820" y="6400800"/>
            <a:ext cx="130759" cy="118872"/>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6327648"/>
            <a:ext cx="5486400" cy="274320"/>
          </a:xfrm>
          <a:prstGeom prst="rect">
            <a:avLst/>
          </a:prstGeom>
          <a:noFill/>
        </p:spPr>
        <p:txBody>
          <a:bodyPr wrap="square" anchor="t" lIns="18288" rIns="18288">
            <a:spAutoFit/>
          </a:bodyPr>
          <a:lstStyle/>
          <a:p>
            <a:pPr algn="l">
              <a:spcAft>
                <a:spcPts val="400"/>
              </a:spcAft>
            </a:pPr>
            <a:r>
              <a:rPr sz="1000" b="0" i="0">
                <a:solidFill>
                  <a:srgbClr val="6F6A63"/>
                </a:solidFill>
                <a:latin typeface="Segoe UI"/>
              </a:rPr>
              <a:t>Through Line · AI Foundations · Yale SOM</a:t>
            </a:r>
          </a:p>
        </p:txBody>
      </p:sp>
      <p:sp>
        <p:nvSpPr>
          <p:cNvPr id="9" name="TextBox 8"/>
          <p:cNvSpPr txBox="1"/>
          <p:nvPr/>
        </p:nvSpPr>
        <p:spPr>
          <a:xfrm>
            <a:off x="11155680" y="6327648"/>
            <a:ext cx="548640" cy="274320"/>
          </a:xfrm>
          <a:prstGeom prst="rect">
            <a:avLst/>
          </a:prstGeom>
          <a:noFill/>
        </p:spPr>
        <p:txBody>
          <a:bodyPr wrap="square" anchor="t" lIns="18288" rIns="18288">
            <a:spAutoFit/>
          </a:bodyPr>
          <a:lstStyle/>
          <a:p>
            <a:pPr algn="r">
              <a:spcAft>
                <a:spcPts val="400"/>
              </a:spcAft>
            </a:pPr>
            <a:r>
              <a:rPr sz="1000" b="1" i="0">
                <a:solidFill>
                  <a:srgbClr val="6F6A63"/>
                </a:solidFill>
                <a:latin typeface="Segoe UI"/>
              </a:rPr>
              <a:t>6</a:t>
            </a:r>
          </a:p>
        </p:txBody>
      </p:sp>
      <p:sp>
        <p:nvSpPr>
          <p:cNvPr id="10" name="Rounded Rectangle 9"/>
          <p:cNvSpPr/>
          <p:nvPr/>
        </p:nvSpPr>
        <p:spPr>
          <a:xfrm>
            <a:off x="548640" y="1874519"/>
            <a:ext cx="3291840" cy="1874519"/>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74519"/>
            <a:ext cx="3291840" cy="73152"/>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148839"/>
            <a:ext cx="2743200" cy="914400"/>
          </a:xfrm>
          <a:prstGeom prst="rect">
            <a:avLst/>
          </a:prstGeom>
          <a:noFill/>
        </p:spPr>
        <p:txBody>
          <a:bodyPr wrap="square" anchor="t" lIns="18288" rIns="18288">
            <a:spAutoFit/>
          </a:bodyPr>
          <a:lstStyle/>
          <a:p>
            <a:pPr algn="l">
              <a:spcAft>
                <a:spcPts val="400"/>
              </a:spcAft>
            </a:pPr>
            <a:r>
              <a:rPr sz="3600" b="1" i="0">
                <a:solidFill>
                  <a:srgbClr val="2B2B2B"/>
                </a:solidFill>
                <a:latin typeface="Century Gothic"/>
              </a:rPr>
              <a:t>$0.24</a:t>
            </a:r>
          </a:p>
        </p:txBody>
      </p:sp>
      <p:sp>
        <p:nvSpPr>
          <p:cNvPr id="13" name="TextBox 12"/>
          <p:cNvSpPr txBox="1"/>
          <p:nvPr/>
        </p:nvSpPr>
        <p:spPr>
          <a:xfrm>
            <a:off x="822959" y="3108960"/>
            <a:ext cx="2743200" cy="502919"/>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Keystone's whole journey, upper bound ($0.06 tokens + ≤ $0.18 web search)</a:t>
            </a:r>
          </a:p>
        </p:txBody>
      </p:sp>
      <p:graphicFrame>
        <p:nvGraphicFramePr>
          <p:cNvPr id="14" name="Chart 13"/>
          <p:cNvGraphicFramePr>
            <a:graphicFrameLocks noGrp="1"/>
          </p:cNvGraphicFramePr>
          <p:nvPr/>
        </p:nvGraphicFramePr>
        <p:xfrm>
          <a:off x="4069080" y="1783080"/>
          <a:ext cx="4206240" cy="2103120"/>
        </p:xfrm>
        <a:graphic>
          <a:graphicData uri="http://schemas.openxmlformats.org/drawingml/2006/chart">
            <c:chart xmlns:c="http://schemas.openxmlformats.org/drawingml/2006/chart" r:id="rId3"/>
          </a:graphicData>
        </a:graphic>
      </p:graphicFrame>
      <p:sp>
        <p:nvSpPr>
          <p:cNvPr id="15" name="TextBox 14"/>
          <p:cNvSpPr txBox="1"/>
          <p:nvPr/>
        </p:nvSpPr>
        <p:spPr>
          <a:xfrm>
            <a:off x="4069080" y="1600200"/>
            <a:ext cx="4206240" cy="274320"/>
          </a:xfrm>
          <a:prstGeom prst="rect">
            <a:avLst/>
          </a:prstGeom>
          <a:noFill/>
        </p:spPr>
        <p:txBody>
          <a:bodyPr wrap="square" anchor="t" lIns="18288" rIns="18288">
            <a:spAutoFit/>
          </a:bodyPr>
          <a:lstStyle/>
          <a:p>
            <a:pPr algn="l">
              <a:spcAft>
                <a:spcPts val="400"/>
              </a:spcAft>
            </a:pPr>
            <a:r>
              <a:rPr sz="1100" b="1" i="0">
                <a:solidFill>
                  <a:srgbClr val="6F6A63"/>
                </a:solidFill>
                <a:latin typeface="Segoe UI"/>
              </a:rPr>
              <a:t>Keystone cost by task, in cents</a:t>
            </a:r>
          </a:p>
        </p:txBody>
      </p:sp>
      <p:sp>
        <p:nvSpPr>
          <p:cNvPr id="16" name="Rounded Rectangle 15"/>
          <p:cNvSpPr/>
          <p:nvPr/>
        </p:nvSpPr>
        <p:spPr>
          <a:xfrm>
            <a:off x="8503920" y="1874519"/>
            <a:ext cx="3145536" cy="1874519"/>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0" y="1965960"/>
            <a:ext cx="2834640" cy="1737360"/>
          </a:xfrm>
          <a:prstGeom prst="rect">
            <a:avLst/>
          </a:prstGeom>
          <a:noFill/>
        </p:spPr>
        <p:txBody>
          <a:bodyPr wrap="square" anchor="t" lIns="18288" rIns="18288">
            <a:spAutoFit/>
          </a:bodyPr>
          <a:lstStyle/>
          <a:p>
            <a:pPr algn="l">
              <a:spcAft>
                <a:spcPts val="400"/>
              </a:spcAft>
            </a:pPr>
            <a:r>
              <a:rPr sz="1300" b="1" i="0">
                <a:solidFill>
                  <a:srgbClr val="2B2B2B"/>
                </a:solidFill>
                <a:latin typeface="Segoe UI"/>
              </a:rPr>
              <a:t>At scale (AI fees / year)</a:t>
            </a:r>
          </a:p>
          <a:p>
            <a:pPr algn="l">
              <a:spcAft>
                <a:spcPts val="400"/>
              </a:spcAft>
            </a:pPr>
            <a:r>
              <a:rPr sz="1800" b="1" i="0">
                <a:solidFill>
                  <a:srgbClr val="2B2B2B"/>
                </a:solidFill>
                <a:latin typeface="Century Gothic"/>
              </a:rPr>
              <a:t>100 orgs  </a:t>
            </a:r>
            <a:r>
              <a:rPr sz="1300" b="0" i="0">
                <a:solidFill>
                  <a:srgbClr val="2B2B2B"/>
                </a:solidFill>
                <a:latin typeface="Segoe UI"/>
              </a:rPr>
              <a:t>≈ $100</a:t>
            </a:r>
          </a:p>
          <a:p>
            <a:pPr algn="l">
              <a:spcAft>
                <a:spcPts val="400"/>
              </a:spcAft>
            </a:pPr>
            <a:r>
              <a:rPr sz="1800" b="1" i="0">
                <a:solidFill>
                  <a:srgbClr val="2B2B2B"/>
                </a:solidFill>
                <a:latin typeface="Century Gothic"/>
              </a:rPr>
              <a:t>10,000 orgs  </a:t>
            </a:r>
            <a:r>
              <a:rPr sz="1300" b="0" i="0">
                <a:solidFill>
                  <a:srgbClr val="2B2B2B"/>
                </a:solidFill>
                <a:latin typeface="Segoe UI"/>
              </a:rPr>
              <a:t>≈ $10,000</a:t>
            </a:r>
          </a:p>
          <a:p>
            <a:pPr algn="l">
              <a:spcAft>
                <a:spcPts val="400"/>
              </a:spcAft>
            </a:pPr>
            <a:r>
              <a:rPr sz="1300" b="1" i="0">
                <a:solidFill>
                  <a:srgbClr val="2B2B2B"/>
                </a:solidFill>
                <a:latin typeface="Segoe UI"/>
              </a:rPr>
              <a:t>Worst case </a:t>
            </a:r>
            <a:r>
              <a:rPr sz="1300" b="0" i="0">
                <a:solidFill>
                  <a:srgbClr val="2B2B2B"/>
                </a:solidFill>
                <a:latin typeface="Segoe UI"/>
              </a:rPr>
              <a:t>≈ $8 per org</a:t>
            </a:r>
          </a:p>
        </p:txBody>
      </p:sp>
      <p:sp>
        <p:nvSpPr>
          <p:cNvPr id="18" name="Rounded Rectangle 17"/>
          <p:cNvSpPr/>
          <p:nvPr/>
        </p:nvSpPr>
        <p:spPr>
          <a:xfrm>
            <a:off x="548640" y="4069080"/>
            <a:ext cx="11100816" cy="2011680"/>
          </a:xfrm>
          <a:prstGeom prst="roundRect">
            <a:avLst>
              <a:gd name="adj" fmla="val 6000"/>
            </a:avLst>
          </a:prstGeom>
          <a:solidFill>
            <a:srgbClr val="EBF3F0"/>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206240"/>
            <a:ext cx="10607040" cy="1828800"/>
          </a:xfrm>
          <a:prstGeom prst="rect">
            <a:avLst/>
          </a:prstGeom>
          <a:noFill/>
        </p:spPr>
        <p:txBody>
          <a:bodyPr wrap="square" anchor="t" lIns="18288" rIns="18288">
            <a:spAutoFit/>
          </a:bodyPr>
          <a:lstStyle/>
          <a:p>
            <a:pPr algn="l">
              <a:spcAft>
                <a:spcPts val="600"/>
              </a:spcAft>
            </a:pPr>
            <a:r>
              <a:rPr sz="1600" b="1" i="0">
                <a:solidFill>
                  <a:srgbClr val="2B2B2B"/>
                </a:solidFill>
                <a:latin typeface="Century Gothic"/>
              </a:rPr>
              <a:t>Keeping costs down: limit how often the bots run</a:t>
            </a:r>
          </a:p>
          <a:p>
            <a:pPr algn="l">
              <a:spcAft>
                <a:spcPts val="600"/>
              </a:spcAft>
            </a:pPr>
            <a:r>
              <a:rPr sz="1300" b="0" i="0">
                <a:solidFill>
                  <a:srgbClr val="2B2B2B"/>
                </a:solidFill>
                <a:latin typeface="Segoe UI"/>
              </a:rPr>
              <a:t>Studio: 2 sessions, 5 questions, ≤ 2 revision rounds   ·   Survey Review Bot: 2 per survey   ·   Impact report: 1 design + 1 feedback round, then free refreshes   ·   Grants: 3 a month   ·   Privacy check: any time (unchanged drafts are free)</a:t>
            </a:r>
          </a:p>
          <a:p>
            <a:pPr algn="l">
              <a:spcAft>
                <a:spcPts val="600"/>
              </a:spcAft>
            </a:pPr>
            <a:r>
              <a:rPr sz="1300" b="1" i="0">
                <a:solidFill>
                  <a:srgbClr val="2B2B2B"/>
                </a:solidFill>
                <a:latin typeface="Segoe UI"/>
              </a:rPr>
              <a:t>Did it make the app worse? </a:t>
            </a:r>
            <a:r>
              <a:rPr sz="1300" b="0" i="0">
                <a:solidFill>
                  <a:srgbClr val="2B2B2B"/>
                </a:solidFill>
                <a:latin typeface="Segoe UI"/>
              </a:rPr>
              <a:t>In our runs, rarely: Keystone used 1 of 2 revision rounds, and refused consults didn't hurt quality. Testers' view: PENDING.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502920" cy="64008"/>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9144000" cy="320040"/>
          </a:xfrm>
          <a:prstGeom prst="rect">
            <a:avLst/>
          </a:prstGeom>
          <a:noFill/>
        </p:spPr>
        <p:txBody>
          <a:bodyPr wrap="square" anchor="t" lIns="18288" rIns="18288">
            <a:spAutoFit/>
          </a:bodyPr>
          <a:lstStyle/>
          <a:p>
            <a:pPr algn="l">
              <a:spcAft>
                <a:spcPts val="400"/>
              </a:spcAft>
            </a:pPr>
            <a:r>
              <a:rPr sz="1100" b="1" i="0">
                <a:solidFill>
                  <a:srgbClr val="6F6A63"/>
                </a:solidFill>
                <a:latin typeface="Segoe UI"/>
              </a:rPr>
              <a:t>SAFETY</a:t>
            </a:r>
          </a:p>
        </p:txBody>
      </p:sp>
      <p:sp>
        <p:nvSpPr>
          <p:cNvPr id="4" name="TextBox 3"/>
          <p:cNvSpPr txBox="1"/>
          <p:nvPr/>
        </p:nvSpPr>
        <p:spPr>
          <a:xfrm>
            <a:off x="548640" y="914400"/>
            <a:ext cx="11064240" cy="914400"/>
          </a:xfrm>
          <a:prstGeom prst="rect">
            <a:avLst/>
          </a:prstGeom>
          <a:noFill/>
        </p:spPr>
        <p:txBody>
          <a:bodyPr wrap="square" anchor="t" lIns="18288" rIns="18288">
            <a:spAutoFit/>
          </a:bodyPr>
          <a:lstStyle/>
          <a:p>
            <a:pPr algn="l">
              <a:spcAft>
                <a:spcPts val="400"/>
              </a:spcAft>
            </a:pPr>
            <a:r>
              <a:rPr sz="3000" b="1" i="0">
                <a:solidFill>
                  <a:srgbClr val="2B2B2B"/>
                </a:solidFill>
                <a:latin typeface="Century Gothic"/>
              </a:rPr>
              <a:t>Built for people's private information</a:t>
            </a:r>
          </a:p>
        </p:txBody>
      </p:sp>
      <p:sp>
        <p:nvSpPr>
          <p:cNvPr id="5" name="Oval 4"/>
          <p:cNvSpPr/>
          <p:nvPr/>
        </p:nvSpPr>
        <p:spPr>
          <a:xfrm>
            <a:off x="548640" y="6400800"/>
            <a:ext cx="118872" cy="118872"/>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7230" y="6400800"/>
            <a:ext cx="118872" cy="11887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845820" y="6400800"/>
            <a:ext cx="130759" cy="118872"/>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6327648"/>
            <a:ext cx="5486400" cy="274320"/>
          </a:xfrm>
          <a:prstGeom prst="rect">
            <a:avLst/>
          </a:prstGeom>
          <a:noFill/>
        </p:spPr>
        <p:txBody>
          <a:bodyPr wrap="square" anchor="t" lIns="18288" rIns="18288">
            <a:spAutoFit/>
          </a:bodyPr>
          <a:lstStyle/>
          <a:p>
            <a:pPr algn="l">
              <a:spcAft>
                <a:spcPts val="400"/>
              </a:spcAft>
            </a:pPr>
            <a:r>
              <a:rPr sz="1000" b="0" i="0">
                <a:solidFill>
                  <a:srgbClr val="6F6A63"/>
                </a:solidFill>
                <a:latin typeface="Segoe UI"/>
              </a:rPr>
              <a:t>Through Line · AI Foundations · Yale SOM</a:t>
            </a:r>
          </a:p>
        </p:txBody>
      </p:sp>
      <p:sp>
        <p:nvSpPr>
          <p:cNvPr id="9" name="TextBox 8"/>
          <p:cNvSpPr txBox="1"/>
          <p:nvPr/>
        </p:nvSpPr>
        <p:spPr>
          <a:xfrm>
            <a:off x="11155680" y="6327648"/>
            <a:ext cx="548640" cy="274320"/>
          </a:xfrm>
          <a:prstGeom prst="rect">
            <a:avLst/>
          </a:prstGeom>
          <a:noFill/>
        </p:spPr>
        <p:txBody>
          <a:bodyPr wrap="square" anchor="t" lIns="18288" rIns="18288">
            <a:spAutoFit/>
          </a:bodyPr>
          <a:lstStyle/>
          <a:p>
            <a:pPr algn="r">
              <a:spcAft>
                <a:spcPts val="400"/>
              </a:spcAft>
            </a:pPr>
            <a:r>
              <a:rPr sz="1000" b="1" i="0">
                <a:solidFill>
                  <a:srgbClr val="6F6A63"/>
                </a:solidFill>
                <a:latin typeface="Segoe UI"/>
              </a:rPr>
              <a:t>7</a:t>
            </a:r>
          </a:p>
        </p:txBody>
      </p:sp>
      <p:sp>
        <p:nvSpPr>
          <p:cNvPr id="10" name="Rounded Rectangle 9"/>
          <p:cNvSpPr/>
          <p:nvPr/>
        </p:nvSpPr>
        <p:spPr>
          <a:xfrm>
            <a:off x="548640" y="1783080"/>
            <a:ext cx="6035040" cy="960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83080"/>
            <a:ext cx="91440" cy="960120"/>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1874519"/>
            <a:ext cx="5669280" cy="365760"/>
          </a:xfrm>
          <a:prstGeom prst="rect">
            <a:avLst/>
          </a:prstGeom>
          <a:noFill/>
        </p:spPr>
        <p:txBody>
          <a:bodyPr wrap="square" anchor="t" lIns="18288" rIns="18288">
            <a:spAutoFit/>
          </a:bodyPr>
          <a:lstStyle/>
          <a:p>
            <a:pPr algn="l">
              <a:spcAft>
                <a:spcPts val="400"/>
              </a:spcAft>
            </a:pPr>
            <a:r>
              <a:rPr sz="1600" b="1" i="0">
                <a:solidFill>
                  <a:srgbClr val="2B2B2B"/>
                </a:solidFill>
                <a:latin typeface="Century Gothic"/>
              </a:rPr>
              <a:t>Staff accounts</a:t>
            </a:r>
          </a:p>
        </p:txBody>
      </p:sp>
      <p:sp>
        <p:nvSpPr>
          <p:cNvPr id="13" name="TextBox 12"/>
          <p:cNvSpPr txBox="1"/>
          <p:nvPr/>
        </p:nvSpPr>
        <p:spPr>
          <a:xfrm>
            <a:off x="822960" y="2221991"/>
            <a:ext cx="5669280" cy="502920"/>
          </a:xfrm>
          <a:prstGeom prst="rect">
            <a:avLst/>
          </a:prstGeom>
          <a:noFill/>
        </p:spPr>
        <p:txBody>
          <a:bodyPr wrap="square" anchor="t" lIns="18288" rIns="18288">
            <a:spAutoFit/>
          </a:bodyPr>
          <a:lstStyle/>
          <a:p>
            <a:pPr algn="l">
              <a:spcAft>
                <a:spcPts val="400"/>
              </a:spcAft>
            </a:pPr>
            <a:r>
              <a:rPr sz="1200" b="0" i="0">
                <a:solidFill>
                  <a:srgbClr val="2B2B2B"/>
                </a:solidFill>
                <a:latin typeface="Segoe UI"/>
              </a:rPr>
              <a:t>Argon2id passwords · usernames stored only as hashes · strict cookies · lockouts · each organization walled off</a:t>
            </a:r>
          </a:p>
        </p:txBody>
      </p:sp>
      <p:sp>
        <p:nvSpPr>
          <p:cNvPr id="14" name="Rounded Rectangle 13"/>
          <p:cNvSpPr/>
          <p:nvPr/>
        </p:nvSpPr>
        <p:spPr>
          <a:xfrm>
            <a:off x="548640" y="2862072"/>
            <a:ext cx="6035040" cy="960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862072"/>
            <a:ext cx="91440" cy="960120"/>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953512"/>
            <a:ext cx="5669280" cy="365760"/>
          </a:xfrm>
          <a:prstGeom prst="rect">
            <a:avLst/>
          </a:prstGeom>
          <a:noFill/>
        </p:spPr>
        <p:txBody>
          <a:bodyPr wrap="square" anchor="t" lIns="18288" rIns="18288">
            <a:spAutoFit/>
          </a:bodyPr>
          <a:lstStyle/>
          <a:p>
            <a:pPr algn="l">
              <a:spcAft>
                <a:spcPts val="400"/>
              </a:spcAft>
            </a:pPr>
            <a:r>
              <a:rPr sz="1600" b="1" i="0">
                <a:solidFill>
                  <a:srgbClr val="2B2B2B"/>
                </a:solidFill>
                <a:latin typeface="Century Gothic"/>
              </a:rPr>
              <a:t>Codes, not names</a:t>
            </a:r>
          </a:p>
        </p:txBody>
      </p:sp>
      <p:sp>
        <p:nvSpPr>
          <p:cNvPr id="17" name="TextBox 16"/>
          <p:cNvSpPr txBox="1"/>
          <p:nvPr/>
        </p:nvSpPr>
        <p:spPr>
          <a:xfrm>
            <a:off x="822960" y="3300984"/>
            <a:ext cx="5669280" cy="502920"/>
          </a:xfrm>
          <a:prstGeom prst="rect">
            <a:avLst/>
          </a:prstGeom>
          <a:noFill/>
        </p:spPr>
        <p:txBody>
          <a:bodyPr wrap="square" anchor="t" lIns="18288" rIns="18288">
            <a:spAutoFit/>
          </a:bodyPr>
          <a:lstStyle/>
          <a:p>
            <a:pPr algn="l">
              <a:spcAft>
                <a:spcPts val="400"/>
              </a:spcAft>
            </a:pPr>
            <a:r>
              <a:rPr sz="1200" b="0" i="0">
                <a:solidFill>
                  <a:srgbClr val="2B2B2B"/>
                </a:solidFill>
                <a:latin typeface="Segoe UI"/>
              </a:rPr>
              <a:t>Participants sign in with a code + PIN. No names or contact details, ever. Groups under 5 hidden.</a:t>
            </a:r>
          </a:p>
        </p:txBody>
      </p:sp>
      <p:sp>
        <p:nvSpPr>
          <p:cNvPr id="18" name="Rounded Rectangle 17"/>
          <p:cNvSpPr/>
          <p:nvPr/>
        </p:nvSpPr>
        <p:spPr>
          <a:xfrm>
            <a:off x="548640" y="3941063"/>
            <a:ext cx="6035040" cy="960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941063"/>
            <a:ext cx="91440" cy="960120"/>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032503"/>
            <a:ext cx="5669280" cy="365760"/>
          </a:xfrm>
          <a:prstGeom prst="rect">
            <a:avLst/>
          </a:prstGeom>
          <a:noFill/>
        </p:spPr>
        <p:txBody>
          <a:bodyPr wrap="square" anchor="t" lIns="18288" rIns="18288">
            <a:spAutoFit/>
          </a:bodyPr>
          <a:lstStyle/>
          <a:p>
            <a:pPr algn="l">
              <a:spcAft>
                <a:spcPts val="400"/>
              </a:spcAft>
            </a:pPr>
            <a:r>
              <a:rPr sz="1600" b="1" i="0">
                <a:solidFill>
                  <a:srgbClr val="2B2B2B"/>
                </a:solidFill>
                <a:latin typeface="Century Gothic"/>
              </a:rPr>
              <a:t>Privacy Reviewer</a:t>
            </a:r>
          </a:p>
        </p:txBody>
      </p:sp>
      <p:sp>
        <p:nvSpPr>
          <p:cNvPr id="21" name="TextBox 20"/>
          <p:cNvSpPr txBox="1"/>
          <p:nvPr/>
        </p:nvSpPr>
        <p:spPr>
          <a:xfrm>
            <a:off x="822960" y="4379975"/>
            <a:ext cx="5669280" cy="502920"/>
          </a:xfrm>
          <a:prstGeom prst="rect">
            <a:avLst/>
          </a:prstGeom>
          <a:noFill/>
        </p:spPr>
        <p:txBody>
          <a:bodyPr wrap="square" anchor="t" lIns="18288" rIns="18288">
            <a:spAutoFit/>
          </a:bodyPr>
          <a:lstStyle/>
          <a:p>
            <a:pPr algn="l">
              <a:spcAft>
                <a:spcPts val="400"/>
              </a:spcAft>
            </a:pPr>
            <a:r>
              <a:rPr sz="1200" b="0" i="0">
                <a:solidFill>
                  <a:srgbClr val="2B2B2B"/>
                </a:solidFill>
                <a:latin typeface="Segoe UI"/>
              </a:rPr>
              <a:t>Code scrub → AI review → code scan on every deck, flyer, and grant draft before it leaves</a:t>
            </a:r>
          </a:p>
        </p:txBody>
      </p:sp>
      <p:sp>
        <p:nvSpPr>
          <p:cNvPr id="22" name="Rounded Rectangle 21"/>
          <p:cNvSpPr/>
          <p:nvPr/>
        </p:nvSpPr>
        <p:spPr>
          <a:xfrm>
            <a:off x="548640" y="5020056"/>
            <a:ext cx="6035040" cy="96012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5020056"/>
            <a:ext cx="91440" cy="960120"/>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111496"/>
            <a:ext cx="5669280" cy="365760"/>
          </a:xfrm>
          <a:prstGeom prst="rect">
            <a:avLst/>
          </a:prstGeom>
          <a:noFill/>
        </p:spPr>
        <p:txBody>
          <a:bodyPr wrap="square" anchor="t" lIns="18288" rIns="18288">
            <a:spAutoFit/>
          </a:bodyPr>
          <a:lstStyle/>
          <a:p>
            <a:pPr algn="l">
              <a:spcAft>
                <a:spcPts val="400"/>
              </a:spcAft>
            </a:pPr>
            <a:r>
              <a:rPr sz="1600" b="1" i="0">
                <a:solidFill>
                  <a:srgbClr val="2B2B2B"/>
                </a:solidFill>
                <a:latin typeface="Century Gothic"/>
              </a:rPr>
              <a:t>Usage limits</a:t>
            </a:r>
          </a:p>
        </p:txBody>
      </p:sp>
      <p:sp>
        <p:nvSpPr>
          <p:cNvPr id="25" name="TextBox 24"/>
          <p:cNvSpPr txBox="1"/>
          <p:nvPr/>
        </p:nvSpPr>
        <p:spPr>
          <a:xfrm>
            <a:off x="822960" y="5458968"/>
            <a:ext cx="5669280" cy="502920"/>
          </a:xfrm>
          <a:prstGeom prst="rect">
            <a:avLst/>
          </a:prstGeom>
          <a:noFill/>
        </p:spPr>
        <p:txBody>
          <a:bodyPr wrap="square" anchor="t" lIns="18288" rIns="18288">
            <a:spAutoFit/>
          </a:bodyPr>
          <a:lstStyle/>
          <a:p>
            <a:pPr algn="l">
              <a:spcAft>
                <a:spcPts val="400"/>
              </a:spcAft>
            </a:pPr>
            <a:r>
              <a:rPr sz="1200" b="0" i="0">
                <a:solidFill>
                  <a:srgbClr val="2B2B2B"/>
                </a:solidFill>
                <a:latin typeface="Segoe UI"/>
              </a:rPr>
              <a:t>Per-organization allowances + per-run token caps stop overspending</a:t>
            </a:r>
          </a:p>
        </p:txBody>
      </p:sp>
      <p:sp>
        <p:nvSpPr>
          <p:cNvPr id="26" name="Rounded Rectangle 25"/>
          <p:cNvSpPr/>
          <p:nvPr/>
        </p:nvSpPr>
        <p:spPr>
          <a:xfrm>
            <a:off x="6812280" y="1783080"/>
            <a:ext cx="4837176" cy="420624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12280" y="1783080"/>
            <a:ext cx="4837176" cy="73152"/>
          </a:xfrm>
          <a:prstGeom prst="rect">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40880" y="1965960"/>
            <a:ext cx="4389120" cy="457200"/>
          </a:xfrm>
          <a:prstGeom prst="rect">
            <a:avLst/>
          </a:prstGeom>
          <a:noFill/>
        </p:spPr>
        <p:txBody>
          <a:bodyPr wrap="square" anchor="t" lIns="18288" rIns="18288">
            <a:spAutoFit/>
          </a:bodyPr>
          <a:lstStyle/>
          <a:p>
            <a:pPr algn="l">
              <a:spcAft>
                <a:spcPts val="400"/>
              </a:spcAft>
            </a:pPr>
            <a:r>
              <a:rPr sz="1600" b="1" i="0">
                <a:solidFill>
                  <a:srgbClr val="2B2B2B"/>
                </a:solidFill>
                <a:latin typeface="Century Gothic"/>
              </a:rPr>
              <a:t>Agents read only what a person can see</a:t>
            </a:r>
          </a:p>
        </p:txBody>
      </p:sp>
      <p:pic>
        <p:nvPicPr>
          <p:cNvPr id="29" name="Picture 28" descr="hidden_text_page.jpg"/>
          <p:cNvPicPr>
            <a:picLocks noChangeAspect="1"/>
          </p:cNvPicPr>
          <p:nvPr/>
        </p:nvPicPr>
        <p:blipFill>
          <a:blip r:embed="rId3"/>
          <a:stretch>
            <a:fillRect/>
          </a:stretch>
        </p:blipFill>
        <p:spPr>
          <a:xfrm>
            <a:off x="7086600" y="2514600"/>
            <a:ext cx="4297680" cy="2522768"/>
          </a:xfrm>
          <a:prstGeom prst="rect">
            <a:avLst/>
          </a:prstGeom>
        </p:spPr>
      </p:pic>
      <p:sp>
        <p:nvSpPr>
          <p:cNvPr id="30" name="TextBox 29"/>
          <p:cNvSpPr txBox="1"/>
          <p:nvPr/>
        </p:nvSpPr>
        <p:spPr>
          <a:xfrm>
            <a:off x="7040880" y="5029200"/>
            <a:ext cx="4434840" cy="914400"/>
          </a:xfrm>
          <a:prstGeom prst="rect">
            <a:avLst/>
          </a:prstGeom>
          <a:noFill/>
        </p:spPr>
        <p:txBody>
          <a:bodyPr wrap="square" anchor="t" lIns="18288" rIns="18288">
            <a:spAutoFit/>
          </a:bodyPr>
          <a:lstStyle/>
          <a:p>
            <a:pPr algn="l">
              <a:spcAft>
                <a:spcPts val="200"/>
              </a:spcAft>
            </a:pPr>
            <a:r>
              <a:rPr sz="1200" b="1" i="0">
                <a:solidFill>
                  <a:srgbClr val="2B2B2B"/>
                </a:solidFill>
                <a:latin typeface="Segoe UI"/>
              </a:rPr>
              <a:t>Hidden 6 ways: </a:t>
            </a:r>
            <a:r>
              <a:rPr sz="1200" b="0" i="0">
                <a:solidFill>
                  <a:srgbClr val="2B2B2B"/>
                </a:solidFill>
                <a:latin typeface="Segoe UI"/>
              </a:rPr>
              <a:t>white, tiny, off-page, invisible, transparent, under a box.</a:t>
            </a:r>
          </a:p>
          <a:p>
            <a:pPr algn="l">
              <a:spcAft>
                <a:spcPts val="200"/>
              </a:spcAft>
            </a:pPr>
            <a:r>
              <a:rPr sz="1200" b="1" i="0">
                <a:solidFill>
                  <a:srgbClr val="2B2B2B"/>
                </a:solidFill>
                <a:latin typeface="Segoe UI"/>
              </a:rPr>
              <a:t>Standard reader: </a:t>
            </a:r>
            <a:r>
              <a:rPr sz="1200" b="0" i="0">
                <a:solidFill>
                  <a:srgbClr val="2B2B2B"/>
                </a:solidFill>
                <a:latin typeface="Segoe UI"/>
              </a:rPr>
              <a:t>extracts all 6.  </a:t>
            </a:r>
            <a:r>
              <a:rPr sz="1200" b="1" i="0">
                <a:solidFill>
                  <a:srgbClr val="2B2B2B"/>
                </a:solidFill>
                <a:latin typeface="Segoe UI"/>
              </a:rPr>
              <a:t>Through Line: </a:t>
            </a:r>
            <a:r>
              <a:rPr sz="1200" b="0" i="0">
                <a:solidFill>
                  <a:srgbClr val="2B2B2B"/>
                </a:solidFill>
                <a:latin typeface="Segoe UI"/>
              </a:rPr>
              <a:t>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502920" cy="64008"/>
          </a:xfrm>
          <a:prstGeom prst="rect">
            <a:avLst/>
          </a:prstGeom>
          <a:solidFill>
            <a:srgbClr val="8A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9144000" cy="320040"/>
          </a:xfrm>
          <a:prstGeom prst="rect">
            <a:avLst/>
          </a:prstGeom>
          <a:noFill/>
        </p:spPr>
        <p:txBody>
          <a:bodyPr wrap="square" anchor="t" lIns="18288" rIns="18288">
            <a:spAutoFit/>
          </a:bodyPr>
          <a:lstStyle/>
          <a:p>
            <a:pPr algn="l">
              <a:spcAft>
                <a:spcPts val="400"/>
              </a:spcAft>
            </a:pPr>
            <a:r>
              <a:rPr sz="1100" b="1" i="0">
                <a:solidFill>
                  <a:srgbClr val="6F6A63"/>
                </a:solidFill>
                <a:latin typeface="Segoe UI"/>
              </a:rPr>
              <a:t>IMPACT · THE NUMBERS</a:t>
            </a:r>
          </a:p>
        </p:txBody>
      </p:sp>
      <p:sp>
        <p:nvSpPr>
          <p:cNvPr id="4" name="TextBox 3"/>
          <p:cNvSpPr txBox="1"/>
          <p:nvPr/>
        </p:nvSpPr>
        <p:spPr>
          <a:xfrm>
            <a:off x="548640" y="914400"/>
            <a:ext cx="11064240" cy="914400"/>
          </a:xfrm>
          <a:prstGeom prst="rect">
            <a:avLst/>
          </a:prstGeom>
          <a:noFill/>
        </p:spPr>
        <p:txBody>
          <a:bodyPr wrap="square" anchor="t" lIns="18288" rIns="18288">
            <a:spAutoFit/>
          </a:bodyPr>
          <a:lstStyle/>
          <a:p>
            <a:pPr algn="l">
              <a:spcAft>
                <a:spcPts val="400"/>
              </a:spcAft>
            </a:pPr>
            <a:r>
              <a:rPr sz="3000" b="1" i="0">
                <a:solidFill>
                  <a:srgbClr val="2B2B2B"/>
                </a:solidFill>
                <a:latin typeface="Century Gothic"/>
              </a:rPr>
              <a:t>What it does for an organization</a:t>
            </a:r>
          </a:p>
        </p:txBody>
      </p:sp>
      <p:sp>
        <p:nvSpPr>
          <p:cNvPr id="5" name="Oval 4"/>
          <p:cNvSpPr/>
          <p:nvPr/>
        </p:nvSpPr>
        <p:spPr>
          <a:xfrm>
            <a:off x="548640" y="6400800"/>
            <a:ext cx="118872" cy="118872"/>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7230" y="6400800"/>
            <a:ext cx="118872" cy="11887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845820" y="6400800"/>
            <a:ext cx="130759" cy="118872"/>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6327648"/>
            <a:ext cx="5486400" cy="274320"/>
          </a:xfrm>
          <a:prstGeom prst="rect">
            <a:avLst/>
          </a:prstGeom>
          <a:noFill/>
        </p:spPr>
        <p:txBody>
          <a:bodyPr wrap="square" anchor="t" lIns="18288" rIns="18288">
            <a:spAutoFit/>
          </a:bodyPr>
          <a:lstStyle/>
          <a:p>
            <a:pPr algn="l">
              <a:spcAft>
                <a:spcPts val="400"/>
              </a:spcAft>
            </a:pPr>
            <a:r>
              <a:rPr sz="1000" b="0" i="0">
                <a:solidFill>
                  <a:srgbClr val="6F6A63"/>
                </a:solidFill>
                <a:latin typeface="Segoe UI"/>
              </a:rPr>
              <a:t>Through Line · AI Foundations · Yale SOM</a:t>
            </a:r>
          </a:p>
        </p:txBody>
      </p:sp>
      <p:sp>
        <p:nvSpPr>
          <p:cNvPr id="9" name="TextBox 8"/>
          <p:cNvSpPr txBox="1"/>
          <p:nvPr/>
        </p:nvSpPr>
        <p:spPr>
          <a:xfrm>
            <a:off x="11155680" y="6327648"/>
            <a:ext cx="548640" cy="274320"/>
          </a:xfrm>
          <a:prstGeom prst="rect">
            <a:avLst/>
          </a:prstGeom>
          <a:noFill/>
        </p:spPr>
        <p:txBody>
          <a:bodyPr wrap="square" anchor="t" lIns="18288" rIns="18288">
            <a:spAutoFit/>
          </a:bodyPr>
          <a:lstStyle/>
          <a:p>
            <a:pPr algn="r">
              <a:spcAft>
                <a:spcPts val="400"/>
              </a:spcAft>
            </a:pPr>
            <a:r>
              <a:rPr sz="1000" b="1" i="0">
                <a:solidFill>
                  <a:srgbClr val="6F6A63"/>
                </a:solidFill>
                <a:latin typeface="Segoe UI"/>
              </a:rPr>
              <a:t>8</a:t>
            </a:r>
          </a:p>
        </p:txBody>
      </p:sp>
      <p:sp>
        <p:nvSpPr>
          <p:cNvPr id="10" name="Rounded Rectangle 9"/>
          <p:cNvSpPr/>
          <p:nvPr/>
        </p:nvSpPr>
        <p:spPr>
          <a:xfrm>
            <a:off x="548640" y="1783080"/>
            <a:ext cx="2679192" cy="214884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83080"/>
            <a:ext cx="2679192" cy="73152"/>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057400"/>
            <a:ext cx="2130552" cy="914400"/>
          </a:xfrm>
          <a:prstGeom prst="rect">
            <a:avLst/>
          </a:prstGeom>
          <a:noFill/>
        </p:spPr>
        <p:txBody>
          <a:bodyPr wrap="square" anchor="t" lIns="18288" rIns="18288">
            <a:spAutoFit/>
          </a:bodyPr>
          <a:lstStyle/>
          <a:p>
            <a:pPr algn="l">
              <a:spcAft>
                <a:spcPts val="400"/>
              </a:spcAft>
            </a:pPr>
            <a:r>
              <a:rPr sz="3400" b="1" i="0">
                <a:solidFill>
                  <a:srgbClr val="2B2B2B"/>
                </a:solidFill>
                <a:latin typeface="Century Gothic"/>
              </a:rPr>
              <a:t>~10 min</a:t>
            </a:r>
          </a:p>
        </p:txBody>
      </p:sp>
      <p:sp>
        <p:nvSpPr>
          <p:cNvPr id="13" name="TextBox 12"/>
          <p:cNvSpPr txBox="1"/>
          <p:nvPr/>
        </p:nvSpPr>
        <p:spPr>
          <a:xfrm>
            <a:off x="822959" y="3017520"/>
            <a:ext cx="2130552" cy="777240"/>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documents → approved logic model + 5 metrics</a:t>
            </a:r>
          </a:p>
        </p:txBody>
      </p:sp>
      <p:sp>
        <p:nvSpPr>
          <p:cNvPr id="14" name="Rounded Rectangle 13"/>
          <p:cNvSpPr/>
          <p:nvPr/>
        </p:nvSpPr>
        <p:spPr>
          <a:xfrm>
            <a:off x="3364992" y="1783080"/>
            <a:ext cx="2679192" cy="214884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1783080"/>
            <a:ext cx="2679192" cy="7315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39312" y="2057400"/>
            <a:ext cx="2130552" cy="914400"/>
          </a:xfrm>
          <a:prstGeom prst="rect">
            <a:avLst/>
          </a:prstGeom>
          <a:noFill/>
        </p:spPr>
        <p:txBody>
          <a:bodyPr wrap="square" anchor="t" lIns="18288" rIns="18288">
            <a:spAutoFit/>
          </a:bodyPr>
          <a:lstStyle/>
          <a:p>
            <a:pPr algn="l">
              <a:spcAft>
                <a:spcPts val="400"/>
              </a:spcAft>
            </a:pPr>
            <a:r>
              <a:rPr sz="3400" b="1" i="0">
                <a:solidFill>
                  <a:srgbClr val="2B2B2B"/>
                </a:solidFill>
                <a:latin typeface="Century Gothic"/>
              </a:rPr>
              <a:t>20</a:t>
            </a:r>
          </a:p>
        </p:txBody>
      </p:sp>
      <p:sp>
        <p:nvSpPr>
          <p:cNvPr id="17" name="TextBox 16"/>
          <p:cNvSpPr txBox="1"/>
          <p:nvPr/>
        </p:nvSpPr>
        <p:spPr>
          <a:xfrm>
            <a:off x="3639312" y="3017520"/>
            <a:ext cx="2130552" cy="777240"/>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verified sources behind the metrics</a:t>
            </a:r>
          </a:p>
        </p:txBody>
      </p:sp>
      <p:sp>
        <p:nvSpPr>
          <p:cNvPr id="18" name="Rounded Rectangle 17"/>
          <p:cNvSpPr/>
          <p:nvPr/>
        </p:nvSpPr>
        <p:spPr>
          <a:xfrm>
            <a:off x="6181344" y="1783080"/>
            <a:ext cx="2679192" cy="214884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81344" y="1783080"/>
            <a:ext cx="2679192"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057400"/>
            <a:ext cx="2130552" cy="914400"/>
          </a:xfrm>
          <a:prstGeom prst="rect">
            <a:avLst/>
          </a:prstGeom>
          <a:noFill/>
        </p:spPr>
        <p:txBody>
          <a:bodyPr wrap="square" anchor="t" lIns="18288" rIns="18288">
            <a:spAutoFit/>
          </a:bodyPr>
          <a:lstStyle/>
          <a:p>
            <a:pPr algn="l">
              <a:spcAft>
                <a:spcPts val="400"/>
              </a:spcAft>
            </a:pPr>
            <a:r>
              <a:rPr sz="3400" b="1" i="0">
                <a:solidFill>
                  <a:srgbClr val="2B2B2B"/>
                </a:solidFill>
                <a:latin typeface="Century Gothic"/>
              </a:rPr>
              <a:t>85%</a:t>
            </a:r>
          </a:p>
        </p:txBody>
      </p:sp>
      <p:sp>
        <p:nvSpPr>
          <p:cNvPr id="21" name="TextBox 20"/>
          <p:cNvSpPr txBox="1"/>
          <p:nvPr/>
        </p:nvSpPr>
        <p:spPr>
          <a:xfrm>
            <a:off x="6455664" y="3017520"/>
            <a:ext cx="2130552" cy="777240"/>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of matched participants improved on housing confidence</a:t>
            </a:r>
          </a:p>
        </p:txBody>
      </p:sp>
      <p:sp>
        <p:nvSpPr>
          <p:cNvPr id="22" name="Rounded Rectangle 21"/>
          <p:cNvSpPr/>
          <p:nvPr/>
        </p:nvSpPr>
        <p:spPr>
          <a:xfrm>
            <a:off x="8997696" y="1783080"/>
            <a:ext cx="2679192" cy="214884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997696" y="1783080"/>
            <a:ext cx="2679192" cy="73152"/>
          </a:xfrm>
          <a:prstGeom prst="rect">
            <a:avLst/>
          </a:prstGeom>
          <a:solidFill>
            <a:srgbClr val="4E8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72016" y="2057400"/>
            <a:ext cx="2130552" cy="914400"/>
          </a:xfrm>
          <a:prstGeom prst="rect">
            <a:avLst/>
          </a:prstGeom>
          <a:noFill/>
        </p:spPr>
        <p:txBody>
          <a:bodyPr wrap="square" anchor="t" lIns="18288" rIns="18288">
            <a:spAutoFit/>
          </a:bodyPr>
          <a:lstStyle/>
          <a:p>
            <a:pPr algn="l">
              <a:spcAft>
                <a:spcPts val="400"/>
              </a:spcAft>
            </a:pPr>
            <a:r>
              <a:rPr sz="3400" b="1" i="0">
                <a:solidFill>
                  <a:srgbClr val="2B2B2B"/>
                </a:solidFill>
                <a:latin typeface="Century Gothic"/>
              </a:rPr>
              <a:t>&lt; $1</a:t>
            </a:r>
          </a:p>
        </p:txBody>
      </p:sp>
      <p:sp>
        <p:nvSpPr>
          <p:cNvPr id="25" name="TextBox 24"/>
          <p:cNvSpPr txBox="1"/>
          <p:nvPr/>
        </p:nvSpPr>
        <p:spPr>
          <a:xfrm>
            <a:off x="9272016" y="3017520"/>
            <a:ext cx="2130552" cy="777240"/>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AI cost, vs. $3,000+ for a consultant-led logic model</a:t>
            </a:r>
          </a:p>
        </p:txBody>
      </p:sp>
      <p:sp>
        <p:nvSpPr>
          <p:cNvPr id="26" name="Rounded Rectangle 25"/>
          <p:cNvSpPr/>
          <p:nvPr/>
        </p:nvSpPr>
        <p:spPr>
          <a:xfrm>
            <a:off x="548640" y="4160520"/>
            <a:ext cx="5486400" cy="1874519"/>
          </a:xfrm>
          <a:prstGeom prst="roundRect">
            <a:avLst/>
          </a:prstGeom>
          <a:solidFill>
            <a:srgbClr val="FCF5E4"/>
          </a:solidFill>
          <a:ln w="12700">
            <a:solidFill>
              <a:srgbClr val="C99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270248"/>
            <a:ext cx="5120640" cy="1691639"/>
          </a:xfrm>
          <a:prstGeom prst="rect">
            <a:avLst/>
          </a:prstGeom>
          <a:noFill/>
        </p:spPr>
        <p:txBody>
          <a:bodyPr wrap="square" anchor="t" lIns="18288" rIns="18288">
            <a:spAutoFit/>
          </a:bodyPr>
          <a:lstStyle/>
          <a:p>
            <a:pPr algn="l">
              <a:spcAft>
                <a:spcPts val="400"/>
              </a:spcAft>
            </a:pPr>
            <a:r>
              <a:rPr sz="1300" b="1" i="0">
                <a:solidFill>
                  <a:srgbClr val="7A5A12"/>
                </a:solidFill>
                <a:latin typeface="Segoe UI"/>
              </a:rPr>
              <a:t>PENDING  </a:t>
            </a:r>
            <a:r>
              <a:rPr sz="1300" b="0" i="0">
                <a:solidFill>
                  <a:srgbClr val="5B4510"/>
                </a:solidFill>
                <a:latin typeface="Segoe UI"/>
              </a:rPr>
              <a:t>Kids at Their Best (Jodi Walker): how far she got, time spent, would she use it, and one quote.</a:t>
            </a:r>
          </a:p>
        </p:txBody>
      </p:sp>
      <p:sp>
        <p:nvSpPr>
          <p:cNvPr id="28" name="Rounded Rectangle 27"/>
          <p:cNvSpPr/>
          <p:nvPr/>
        </p:nvSpPr>
        <p:spPr>
          <a:xfrm>
            <a:off x="6163056" y="4160520"/>
            <a:ext cx="5486400" cy="1874519"/>
          </a:xfrm>
          <a:prstGeom prst="roundRect">
            <a:avLst/>
          </a:prstGeom>
          <a:solidFill>
            <a:srgbClr val="FCF5E4"/>
          </a:solidFill>
          <a:ln w="12700">
            <a:solidFill>
              <a:srgbClr val="C99A2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4270248"/>
            <a:ext cx="5120640" cy="1691639"/>
          </a:xfrm>
          <a:prstGeom prst="rect">
            <a:avLst/>
          </a:prstGeom>
          <a:noFill/>
        </p:spPr>
        <p:txBody>
          <a:bodyPr wrap="square" anchor="t" lIns="18288" rIns="18288">
            <a:spAutoFit/>
          </a:bodyPr>
          <a:lstStyle/>
          <a:p>
            <a:pPr algn="l">
              <a:spcAft>
                <a:spcPts val="400"/>
              </a:spcAft>
            </a:pPr>
            <a:r>
              <a:rPr sz="1300" b="1" i="0">
                <a:solidFill>
                  <a:srgbClr val="7A5A12"/>
                </a:solidFill>
                <a:latin typeface="Segoe UI"/>
              </a:rPr>
              <a:t>PENDING  </a:t>
            </a:r>
            <a:r>
              <a:rPr sz="1300" b="0" i="0">
                <a:solidFill>
                  <a:srgbClr val="5B4510"/>
                </a:solidFill>
                <a:latin typeface="Segoe UI"/>
              </a:rPr>
              <a:t>Sara: how far she got, time spent, would she use it, and one quote.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502920" cy="64008"/>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9144000" cy="320040"/>
          </a:xfrm>
          <a:prstGeom prst="rect">
            <a:avLst/>
          </a:prstGeom>
          <a:noFill/>
        </p:spPr>
        <p:txBody>
          <a:bodyPr wrap="square" anchor="t" lIns="18288" rIns="18288">
            <a:spAutoFit/>
          </a:bodyPr>
          <a:lstStyle/>
          <a:p>
            <a:pPr algn="l">
              <a:spcAft>
                <a:spcPts val="400"/>
              </a:spcAft>
            </a:pPr>
            <a:r>
              <a:rPr sz="1100" b="1" i="0">
                <a:solidFill>
                  <a:srgbClr val="6F6A63"/>
                </a:solidFill>
                <a:latin typeface="Segoe UI"/>
              </a:rPr>
              <a:t>LIMITS AND NEXT STEPS</a:t>
            </a:r>
          </a:p>
        </p:txBody>
      </p:sp>
      <p:sp>
        <p:nvSpPr>
          <p:cNvPr id="4" name="TextBox 3"/>
          <p:cNvSpPr txBox="1"/>
          <p:nvPr/>
        </p:nvSpPr>
        <p:spPr>
          <a:xfrm>
            <a:off x="548640" y="914400"/>
            <a:ext cx="11064240" cy="914400"/>
          </a:xfrm>
          <a:prstGeom prst="rect">
            <a:avLst/>
          </a:prstGeom>
          <a:noFill/>
        </p:spPr>
        <p:txBody>
          <a:bodyPr wrap="square" anchor="t" lIns="18288" rIns="18288">
            <a:spAutoFit/>
          </a:bodyPr>
          <a:lstStyle/>
          <a:p>
            <a:pPr algn="l">
              <a:spcAft>
                <a:spcPts val="400"/>
              </a:spcAft>
            </a:pPr>
            <a:r>
              <a:rPr sz="3000" b="1" i="0">
                <a:solidFill>
                  <a:srgbClr val="2B2B2B"/>
                </a:solidFill>
                <a:latin typeface="Century Gothic"/>
              </a:rPr>
              <a:t>What's next</a:t>
            </a:r>
          </a:p>
        </p:txBody>
      </p:sp>
      <p:sp>
        <p:nvSpPr>
          <p:cNvPr id="5" name="Oval 4"/>
          <p:cNvSpPr/>
          <p:nvPr/>
        </p:nvSpPr>
        <p:spPr>
          <a:xfrm>
            <a:off x="548640" y="6400800"/>
            <a:ext cx="118872" cy="118872"/>
          </a:xfrm>
          <a:prstGeom prst="ellipse">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97230" y="6400800"/>
            <a:ext cx="118872" cy="11887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a:off x="845820" y="6400800"/>
            <a:ext cx="130759" cy="118872"/>
          </a:xfrm>
          <a:prstGeom prst="triangle">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6327648"/>
            <a:ext cx="5486400" cy="274320"/>
          </a:xfrm>
          <a:prstGeom prst="rect">
            <a:avLst/>
          </a:prstGeom>
          <a:noFill/>
        </p:spPr>
        <p:txBody>
          <a:bodyPr wrap="square" anchor="t" lIns="18288" rIns="18288">
            <a:spAutoFit/>
          </a:bodyPr>
          <a:lstStyle/>
          <a:p>
            <a:pPr algn="l">
              <a:spcAft>
                <a:spcPts val="400"/>
              </a:spcAft>
            </a:pPr>
            <a:r>
              <a:rPr sz="1000" b="0" i="0">
                <a:solidFill>
                  <a:srgbClr val="6F6A63"/>
                </a:solidFill>
                <a:latin typeface="Segoe UI"/>
              </a:rPr>
              <a:t>Through Line · AI Foundations · Yale SOM</a:t>
            </a:r>
          </a:p>
        </p:txBody>
      </p:sp>
      <p:sp>
        <p:nvSpPr>
          <p:cNvPr id="9" name="TextBox 8"/>
          <p:cNvSpPr txBox="1"/>
          <p:nvPr/>
        </p:nvSpPr>
        <p:spPr>
          <a:xfrm>
            <a:off x="11155680" y="6327648"/>
            <a:ext cx="548640" cy="274320"/>
          </a:xfrm>
          <a:prstGeom prst="rect">
            <a:avLst/>
          </a:prstGeom>
          <a:noFill/>
        </p:spPr>
        <p:txBody>
          <a:bodyPr wrap="square" anchor="t" lIns="18288" rIns="18288">
            <a:spAutoFit/>
          </a:bodyPr>
          <a:lstStyle/>
          <a:p>
            <a:pPr algn="r">
              <a:spcAft>
                <a:spcPts val="400"/>
              </a:spcAft>
            </a:pPr>
            <a:r>
              <a:rPr sz="1000" b="1" i="0">
                <a:solidFill>
                  <a:srgbClr val="6F6A63"/>
                </a:solidFill>
                <a:latin typeface="Segoe UI"/>
              </a:rPr>
              <a:t>9</a:t>
            </a:r>
          </a:p>
        </p:txBody>
      </p:sp>
      <p:sp>
        <p:nvSpPr>
          <p:cNvPr id="10" name="Rounded Rectangle 9"/>
          <p:cNvSpPr/>
          <p:nvPr/>
        </p:nvSpPr>
        <p:spPr>
          <a:xfrm>
            <a:off x="548640" y="1828800"/>
            <a:ext cx="3611880" cy="292608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28800"/>
            <a:ext cx="3611880" cy="73152"/>
          </a:xfrm>
          <a:prstGeom prst="rect">
            <a:avLst/>
          </a:prstGeom>
          <a:solidFill>
            <a:srgbClr val="D96C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2103120"/>
            <a:ext cx="3108960" cy="822960"/>
          </a:xfrm>
          <a:prstGeom prst="rect">
            <a:avLst/>
          </a:prstGeom>
          <a:noFill/>
        </p:spPr>
        <p:txBody>
          <a:bodyPr wrap="square" anchor="t" lIns="18288" rIns="18288">
            <a:spAutoFit/>
          </a:bodyPr>
          <a:lstStyle/>
          <a:p>
            <a:pPr algn="l">
              <a:spcAft>
                <a:spcPts val="400"/>
              </a:spcAft>
            </a:pPr>
            <a:r>
              <a:rPr sz="1900" b="1" i="0">
                <a:solidFill>
                  <a:srgbClr val="2B2B2B"/>
                </a:solidFill>
                <a:latin typeface="Century Gothic"/>
              </a:rPr>
              <a:t>Beyond one program</a:t>
            </a:r>
          </a:p>
        </p:txBody>
      </p:sp>
      <p:sp>
        <p:nvSpPr>
          <p:cNvPr id="13" name="TextBox 12"/>
          <p:cNvSpPr txBox="1"/>
          <p:nvPr/>
        </p:nvSpPr>
        <p:spPr>
          <a:xfrm>
            <a:off x="822959" y="2880360"/>
            <a:ext cx="3108960" cy="1828800"/>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Logic models per program, rolled up across the organization; shared participants and outcomes.</a:t>
            </a:r>
          </a:p>
        </p:txBody>
      </p:sp>
      <p:sp>
        <p:nvSpPr>
          <p:cNvPr id="14" name="Rounded Rectangle 13"/>
          <p:cNvSpPr/>
          <p:nvPr/>
        </p:nvSpPr>
        <p:spPr>
          <a:xfrm>
            <a:off x="4297679" y="1828800"/>
            <a:ext cx="3611880" cy="292608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79" y="1828800"/>
            <a:ext cx="3611880" cy="73152"/>
          </a:xfrm>
          <a:prstGeom prst="rect">
            <a:avLst/>
          </a:prstGeom>
          <a:solidFill>
            <a:srgbClr val="3E63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1999" y="2103120"/>
            <a:ext cx="3108960" cy="822960"/>
          </a:xfrm>
          <a:prstGeom prst="rect">
            <a:avLst/>
          </a:prstGeom>
          <a:noFill/>
        </p:spPr>
        <p:txBody>
          <a:bodyPr wrap="square" anchor="t" lIns="18288" rIns="18288">
            <a:spAutoFit/>
          </a:bodyPr>
          <a:lstStyle/>
          <a:p>
            <a:pPr algn="l">
              <a:spcAft>
                <a:spcPts val="400"/>
              </a:spcAft>
            </a:pPr>
            <a:r>
              <a:rPr sz="1900" b="1" i="0">
                <a:solidFill>
                  <a:srgbClr val="2B2B2B"/>
                </a:solidFill>
                <a:latin typeface="Century Gothic"/>
              </a:rPr>
              <a:t>Connect their data (MCP)</a:t>
            </a:r>
          </a:p>
        </p:txBody>
      </p:sp>
      <p:sp>
        <p:nvSpPr>
          <p:cNvPr id="17" name="TextBox 16"/>
          <p:cNvSpPr txBox="1"/>
          <p:nvPr/>
        </p:nvSpPr>
        <p:spPr>
          <a:xfrm>
            <a:off x="4571999" y="2880360"/>
            <a:ext cx="3108960" cy="1828800"/>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A Through Line MCP server (import responses, add program numbers, read the dashboard) that works with the official Google Sheets, Airtable, and Salesforce MCP servers.</a:t>
            </a:r>
          </a:p>
        </p:txBody>
      </p:sp>
      <p:sp>
        <p:nvSpPr>
          <p:cNvPr id="18" name="Rounded Rectangle 17"/>
          <p:cNvSpPr/>
          <p:nvPr/>
        </p:nvSpPr>
        <p:spPr>
          <a:xfrm>
            <a:off x="8046719" y="1828800"/>
            <a:ext cx="3611880" cy="2926080"/>
          </a:xfrm>
          <a:prstGeom prst="roundRect">
            <a:avLst>
              <a:gd name="adj" fmla="val 6000"/>
            </a:avLst>
          </a:prstGeom>
          <a:solidFill>
            <a:srgbClr val="FFFFFF"/>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19" y="1828800"/>
            <a:ext cx="3611880" cy="73152"/>
          </a:xfrm>
          <a:prstGeom prst="rect">
            <a:avLst/>
          </a:prstGeom>
          <a:solidFill>
            <a:srgbClr val="E8B8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2103120"/>
            <a:ext cx="3108960" cy="822960"/>
          </a:xfrm>
          <a:prstGeom prst="rect">
            <a:avLst/>
          </a:prstGeom>
          <a:noFill/>
        </p:spPr>
        <p:txBody>
          <a:bodyPr wrap="square" anchor="t" lIns="18288" rIns="18288">
            <a:spAutoFit/>
          </a:bodyPr>
          <a:lstStyle/>
          <a:p>
            <a:pPr algn="l">
              <a:spcAft>
                <a:spcPts val="400"/>
              </a:spcAft>
            </a:pPr>
            <a:r>
              <a:rPr sz="1900" b="1" i="0">
                <a:solidFill>
                  <a:srgbClr val="2B2B2B"/>
                </a:solidFill>
                <a:latin typeface="Century Gothic"/>
              </a:rPr>
              <a:t>Richer reporting</a:t>
            </a:r>
          </a:p>
        </p:txBody>
      </p:sp>
      <p:sp>
        <p:nvSpPr>
          <p:cNvPr id="21" name="TextBox 20"/>
          <p:cNvSpPr txBox="1"/>
          <p:nvPr/>
        </p:nvSpPr>
        <p:spPr>
          <a:xfrm>
            <a:off x="8321040" y="2880360"/>
            <a:ext cx="3108960" cy="1828800"/>
          </a:xfrm>
          <a:prstGeom prst="rect">
            <a:avLst/>
          </a:prstGeom>
          <a:noFill/>
        </p:spPr>
        <p:txBody>
          <a:bodyPr wrap="square" anchor="t" lIns="18288" rIns="18288">
            <a:spAutoFit/>
          </a:bodyPr>
          <a:lstStyle/>
          <a:p>
            <a:pPr algn="l">
              <a:spcAft>
                <a:spcPts val="400"/>
              </a:spcAft>
            </a:pPr>
            <a:r>
              <a:rPr sz="1400" b="0" i="0">
                <a:solidFill>
                  <a:srgbClr val="2B2B2B"/>
                </a:solidFill>
                <a:latin typeface="Segoe UI"/>
              </a:rPr>
              <a:t>More chart types, benchmarks from the field, annual-report pages, and coding of open answers.</a:t>
            </a:r>
          </a:p>
        </p:txBody>
      </p:sp>
      <p:sp>
        <p:nvSpPr>
          <p:cNvPr id="22" name="Rounded Rectangle 21"/>
          <p:cNvSpPr/>
          <p:nvPr/>
        </p:nvSpPr>
        <p:spPr>
          <a:xfrm>
            <a:off x="548640" y="4983480"/>
            <a:ext cx="11100816" cy="1051560"/>
          </a:xfrm>
          <a:prstGeom prst="roundRect">
            <a:avLst>
              <a:gd name="adj" fmla="val 6000"/>
            </a:avLst>
          </a:prstGeom>
          <a:solidFill>
            <a:srgbClr val="FCF5E4"/>
          </a:solidFill>
          <a:ln w="12700">
            <a:solidFill>
              <a:srgbClr val="E5DF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102352"/>
            <a:ext cx="10607040" cy="914400"/>
          </a:xfrm>
          <a:prstGeom prst="rect">
            <a:avLst/>
          </a:prstGeom>
          <a:noFill/>
        </p:spPr>
        <p:txBody>
          <a:bodyPr wrap="square" anchor="t" lIns="18288" rIns="18288">
            <a:spAutoFit/>
          </a:bodyPr>
          <a:lstStyle/>
          <a:p>
            <a:pPr algn="l">
              <a:spcAft>
                <a:spcPts val="400"/>
              </a:spcAft>
            </a:pPr>
            <a:r>
              <a:rPr sz="1400" b="1" i="0">
                <a:solidFill>
                  <a:srgbClr val="2B2B2B"/>
                </a:solidFill>
                <a:latin typeface="Segoe UI"/>
              </a:rPr>
              <a:t>Fixes we'd make first: </a:t>
            </a:r>
            <a:r>
              <a:rPr sz="1400" b="0" i="0">
                <a:solidFill>
                  <a:srgbClr val="2B2B2B"/>
                </a:solidFill>
                <a:latin typeface="Segoe UI"/>
              </a:rPr>
              <a:t>catch near-duplicate interview questions; a library of validated, licensed survey scales; and check that a cited page actually supports the claim, not just that it exists.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