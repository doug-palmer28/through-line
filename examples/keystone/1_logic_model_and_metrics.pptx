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Oval 1"/>
          <p:cNvSpPr/>
          <p:nvPr/>
        </p:nvSpPr>
        <p:spPr>
          <a:xfrm>
            <a:off x="7680960" y="822960"/>
            <a:ext cx="3291840" cy="3291840"/>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26880" y="3291840"/>
            <a:ext cx="2377440" cy="2377440"/>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6949440" y="3840480"/>
            <a:ext cx="2377440" cy="2377440"/>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6583680" cy="457200"/>
          </a:xfrm>
          <a:prstGeom prst="rect">
            <a:avLst/>
          </a:prstGeom>
          <a:noFill/>
        </p:spPr>
        <p:txBody>
          <a:bodyPr wrap="square">
            <a:spAutoFit/>
          </a:bodyPr>
          <a:lstStyle/>
          <a:p>
            <a:pPr>
              <a:spcAft>
                <a:spcPts val="600"/>
              </a:spcAft>
            </a:pPr>
            <a:r>
              <a:rPr sz="1600" b="1">
                <a:solidFill>
                  <a:srgbClr val="2B2B2B"/>
                </a:solidFill>
                <a:latin typeface="Century Gothic"/>
              </a:rPr>
              <a:t>LOGIC MODEL</a:t>
            </a:r>
          </a:p>
        </p:txBody>
      </p:sp>
      <p:sp>
        <p:nvSpPr>
          <p:cNvPr id="6" name="TextBox 5"/>
          <p:cNvSpPr txBox="1"/>
          <p:nvPr/>
        </p:nvSpPr>
        <p:spPr>
          <a:xfrm>
            <a:off x="731520" y="1920240"/>
            <a:ext cx="6583680" cy="1463040"/>
          </a:xfrm>
          <a:prstGeom prst="rect">
            <a:avLst/>
          </a:prstGeom>
          <a:noFill/>
        </p:spPr>
        <p:txBody>
          <a:bodyPr wrap="square">
            <a:spAutoFit/>
          </a:bodyPr>
          <a:lstStyle/>
          <a:p>
            <a:pPr>
              <a:spcAft>
                <a:spcPts val="600"/>
              </a:spcAft>
            </a:pPr>
            <a:r>
              <a:rPr sz="4000" b="1">
                <a:solidFill>
                  <a:srgbClr val="2B2B2B"/>
                </a:solidFill>
                <a:latin typeface="Century Gothic"/>
              </a:rPr>
              <a:t>KEYSTONE FAMILY HOUSING PARTNERS</a:t>
            </a:r>
          </a:p>
        </p:txBody>
      </p:sp>
      <p:sp>
        <p:nvSpPr>
          <p:cNvPr id="7" name="TL_program_name"/>
          <p:cNvSpPr txBox="1"/>
          <p:nvPr/>
        </p:nvSpPr>
        <p:spPr>
          <a:xfrm>
            <a:off x="731520" y="3566160"/>
            <a:ext cx="6400800" cy="731520"/>
          </a:xfrm>
          <a:prstGeom prst="rect">
            <a:avLst/>
          </a:prstGeom>
          <a:noFill/>
        </p:spPr>
        <p:txBody>
          <a:bodyPr wrap="square">
            <a:spAutoFit/>
          </a:bodyPr>
          <a:lstStyle/>
          <a:p>
            <a:pPr>
              <a:spcAft>
                <a:spcPts val="600"/>
              </a:spcAft>
            </a:pPr>
            <a:r>
              <a:rPr sz="2200" b="0">
                <a:solidFill>
                  <a:srgbClr val="2B2B2B"/>
                </a:solidFill>
                <a:latin typeface="Century Gothic"/>
              </a:rPr>
              <a:t>Keystone Family Housing: Rapid Rehousing, Stay Housed, and Fresh Start Furniture</a:t>
            </a:r>
          </a:p>
        </p:txBody>
      </p:sp>
      <p:sp>
        <p:nvSpPr>
          <p:cNvPr id="8" name="TextBox 7"/>
          <p:cNvSpPr txBox="1"/>
          <p:nvPr/>
        </p:nvSpPr>
        <p:spPr>
          <a:xfrm>
            <a:off x="731520" y="5943600"/>
            <a:ext cx="6858000" cy="457200"/>
          </a:xfrm>
          <a:prstGeom prst="rect">
            <a:avLst/>
          </a:prstGeom>
          <a:noFill/>
        </p:spPr>
        <p:txBody>
          <a:bodyPr wrap="square">
            <a:spAutoFit/>
          </a:bodyPr>
          <a:lstStyle/>
          <a:p>
            <a:pPr>
              <a:spcAft>
                <a:spcPts val="600"/>
              </a:spcAft>
            </a:pPr>
            <a:r>
              <a:rPr sz="1100" b="0">
                <a:solidFill>
                  <a:srgbClr val="555555"/>
                </a:solidFill>
                <a:latin typeface="Century Gothic"/>
              </a:rPr>
              <a:t>Version 2 · Made with Through 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THEORY OF CHANGE</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L_theory_of_change"/>
          <p:cNvSpPr txBox="1"/>
          <p:nvPr/>
        </p:nvSpPr>
        <p:spPr>
          <a:xfrm>
            <a:off x="731520" y="1828800"/>
            <a:ext cx="10607040" cy="3657600"/>
          </a:xfrm>
          <a:prstGeom prst="rect">
            <a:avLst/>
          </a:prstGeom>
          <a:noFill/>
        </p:spPr>
        <p:txBody>
          <a:bodyPr wrap="square">
            <a:spAutoFit/>
          </a:bodyPr>
          <a:lstStyle/>
          <a:p>
            <a:pPr>
              <a:spcAft>
                <a:spcPts val="600"/>
              </a:spcAft>
            </a:pPr>
            <a:r>
              <a:rPr sz="2600" b="0">
                <a:solidFill>
                  <a:srgbClr val="2B2B2B"/>
                </a:solidFill>
                <a:latin typeface="Century Gothic"/>
              </a:rPr>
              <a:t>If Keystone helps families move quickly into permanent housing with time-limited rent assistance, move-in essentials, and voluntary, individualized case management, then families can settle into housing and address barriers that threaten stability. This support is intended to help families remain housed after assistance ends, though housing stability also depends on factors outside Keystone’s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LOGIC MODEL</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L_logic_model"/>
          <p:cNvGraphicFramePr>
            <a:graphicFrameLocks noGrp="1"/>
          </p:cNvGraphicFramePr>
          <p:nvPr/>
        </p:nvGraphicFramePr>
        <p:xfrm>
          <a:off x="548640" y="1463040"/>
          <a:ext cx="11064240" cy="49377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548640">
                <a:tc>
                  <a:txBody>
                    <a:bodyPr/>
                    <a:lstStyle/>
                    <a:p>
                      <a:pPr algn="l"/>
                      <a:r>
                        <a:rPr sz="1300" b="1">
                          <a:solidFill>
                            <a:srgbClr val="FFFFFF"/>
                          </a:solidFill>
                          <a:latin typeface="Century Gothic"/>
                        </a:rPr>
                        <a:t>INPUTS</a:t>
                      </a:r>
                    </a:p>
                  </a:txBody>
                  <a:tcPr>
                    <a:solidFill>
                      <a:srgbClr val="2B2B2B"/>
                    </a:solidFill>
                  </a:tcPr>
                </a:tc>
                <a:tc>
                  <a:txBody>
                    <a:bodyPr/>
                    <a:lstStyle/>
                    <a:p>
                      <a:pPr algn="l"/>
                      <a:r>
                        <a:rPr sz="1300" b="1">
                          <a:solidFill>
                            <a:srgbClr val="FFFFFF"/>
                          </a:solidFill>
                          <a:latin typeface="Century Gothic"/>
                        </a:rPr>
                        <a:t>ACTIVITIES</a:t>
                      </a:r>
                    </a:p>
                  </a:txBody>
                  <a:tcPr>
                    <a:solidFill>
                      <a:srgbClr val="D96C4F"/>
                    </a:solidFill>
                  </a:tcPr>
                </a:tc>
                <a:tc>
                  <a:txBody>
                    <a:bodyPr/>
                    <a:lstStyle/>
                    <a:p>
                      <a:pPr algn="l"/>
                      <a:r>
                        <a:rPr sz="1300" b="1">
                          <a:solidFill>
                            <a:srgbClr val="FFFFFF"/>
                          </a:solidFill>
                          <a:latin typeface="Century Gothic"/>
                        </a:rPr>
                        <a:t>OUTPUTS</a:t>
                      </a:r>
                    </a:p>
                  </a:txBody>
                  <a:tcPr>
                    <a:solidFill>
                      <a:srgbClr val="3E63B0"/>
                    </a:solidFill>
                  </a:tcPr>
                </a:tc>
                <a:tc>
                  <a:txBody>
                    <a:bodyPr/>
                    <a:lstStyle/>
                    <a:p>
                      <a:pPr algn="l"/>
                      <a:r>
                        <a:rPr sz="1300" b="1">
                          <a:solidFill>
                            <a:srgbClr val="2B2B2B"/>
                          </a:solidFill>
                          <a:latin typeface="Century Gothic"/>
                        </a:rPr>
                        <a:t>SHORT-TERM OUTCOMES</a:t>
                      </a:r>
                    </a:p>
                  </a:txBody>
                  <a:tcPr>
                    <a:solidFill>
                      <a:srgbClr val="E8B84A"/>
                    </a:solidFill>
                  </a:tcPr>
                </a:tc>
                <a:tc>
                  <a:txBody>
                    <a:bodyPr/>
                    <a:lstStyle/>
                    <a:p>
                      <a:pPr algn="l"/>
                      <a:r>
                        <a:rPr sz="1300" b="1">
                          <a:solidFill>
                            <a:srgbClr val="FFFFFF"/>
                          </a:solidFill>
                          <a:latin typeface="Century Gothic"/>
                        </a:rPr>
                        <a:t>LONG-TERM OUTCOMES</a:t>
                      </a:r>
                    </a:p>
                  </a:txBody>
                  <a:tcPr>
                    <a:solidFill>
                      <a:srgbClr val="D96C4F"/>
                    </a:solidFill>
                  </a:tcPr>
                </a:tc>
              </a:tr>
              <a:tr h="4389120">
                <a:tc>
                  <a:txBody>
                    <a:bodyPr wrap="square"/>
                    <a:lstStyle/>
                    <a:p>
                      <a:pPr>
                        <a:spcAft>
                          <a:spcPts val="600"/>
                        </a:spcAft>
                      </a:pPr>
                      <a:r>
                        <a:rPr sz="1200">
                          <a:solidFill>
                            <a:srgbClr val="2B2B2B"/>
                          </a:solidFill>
                          <a:latin typeface="Century Gothic"/>
                        </a:rPr>
                        <a:t>• Executive director, four case managers, housing locator, and part-time finance manager</a:t>
                      </a:r>
                    </a:p>
                    <a:p>
                      <a:pPr>
                        <a:spcAft>
                          <a:spcPts val="600"/>
                        </a:spcAft>
                      </a:pPr>
                      <a:r>
                        <a:rPr sz="1200">
                          <a:solidFill>
                            <a:srgbClr val="2B2B2B"/>
                          </a:solidFill>
                          <a:latin typeface="Century Gothic"/>
                        </a:rPr>
                        <a:t>• Rental assistance and program operating funds</a:t>
                      </a:r>
                    </a:p>
                    <a:p>
                      <a:pPr>
                        <a:spcAft>
                          <a:spcPts val="600"/>
                        </a:spcAft>
                      </a:pPr>
                      <a:r>
                        <a:rPr sz="1200">
                          <a:solidFill>
                            <a:srgbClr val="2B2B2B"/>
                          </a:solidFill>
                          <a:latin typeface="Century Gothic"/>
                        </a:rPr>
                        <a:t>• About 20 volunteers and donated furniture</a:t>
                      </a:r>
                    </a:p>
                    <a:p>
                      <a:pPr>
                        <a:spcAft>
                          <a:spcPts val="600"/>
                        </a:spcAft>
                      </a:pPr>
                      <a:r>
                        <a:rPr sz="1200">
                          <a:solidFill>
                            <a:srgbClr val="2B2B2B"/>
                          </a:solidFill>
                          <a:latin typeface="Century Gothic"/>
                        </a:rPr>
                        <a:t>• Small office and regional homeless response system</a:t>
                      </a:r>
                    </a:p>
                    <a:p>
                      <a:pPr>
                        <a:spcAft>
                          <a:spcPts val="600"/>
                        </a:spcAft>
                      </a:pPr>
                      <a:r>
                        <a:rPr sz="1200">
                          <a:solidFill>
                            <a:srgbClr val="2B2B2B"/>
                          </a:solidFill>
                          <a:latin typeface="Century Gothic"/>
                        </a:rPr>
                        <a:t>• Referrals through regional coordinated entry</a:t>
                      </a:r>
                    </a:p>
                  </a:txBody>
                  <a:tcPr>
                    <a:solidFill>
                      <a:srgbClr val="FFFFFF"/>
                    </a:solidFill>
                  </a:tcPr>
                </a:tc>
                <a:tc>
                  <a:txBody>
                    <a:bodyPr wrap="square"/>
                    <a:lstStyle/>
                    <a:p>
                      <a:pPr>
                        <a:spcAft>
                          <a:spcPts val="600"/>
                        </a:spcAft>
                      </a:pPr>
                      <a:r>
                        <a:rPr sz="1200">
                          <a:solidFill>
                            <a:srgbClr val="2B2B2B"/>
                          </a:solidFill>
                          <a:latin typeface="Century Gothic"/>
                        </a:rPr>
                        <a:t>• Identify apartments and help families move into permanent housing</a:t>
                      </a:r>
                    </a:p>
                    <a:p>
                      <a:pPr>
                        <a:spcAft>
                          <a:spcPts val="600"/>
                        </a:spcAft>
                      </a:pPr>
                      <a:r>
                        <a:rPr sz="1200">
                          <a:solidFill>
                            <a:srgbClr val="2B2B2B"/>
                          </a:solidFill>
                          <a:latin typeface="Century Gothic"/>
                        </a:rPr>
                        <a:t>• Pay security deposits and first month’s rent, then step down rent help for up to 12 months</a:t>
                      </a:r>
                    </a:p>
                    <a:p>
                      <a:pPr>
                        <a:spcAft>
                          <a:spcPts val="600"/>
                        </a:spcAft>
                      </a:pPr>
                      <a:r>
                        <a:rPr sz="1200">
                          <a:solidFill>
                            <a:srgbClr val="2B2B2B"/>
                          </a:solidFill>
                          <a:latin typeface="Century Gothic"/>
                        </a:rPr>
                        <a:t>• Offer voluntary, individualized Stay Housed case management through home visits; frequency is adjusted with each family, with more frequent visits early when appropriate</a:t>
                      </a:r>
                    </a:p>
                    <a:p>
                      <a:pPr>
                        <a:spcAft>
                          <a:spcPts val="600"/>
                        </a:spcAft>
                      </a:pPr>
                      <a:r>
                        <a:rPr sz="1200">
                          <a:solidFill>
                            <a:srgbClr val="2B2B2B"/>
                          </a:solidFill>
                          <a:latin typeface="Century Gothic"/>
                        </a:rPr>
                        <a:t>• Help families address budgeting, landlord issues, benefits, child care, and school enrollment based on their priorities</a:t>
                      </a:r>
                    </a:p>
                    <a:p>
                      <a:pPr>
                        <a:spcAft>
                          <a:spcPts val="600"/>
                        </a:spcAft>
                      </a:pPr>
                      <a:r>
                        <a:rPr sz="1200">
                          <a:solidFill>
                            <a:srgbClr val="2B2B2B"/>
                          </a:solidFill>
                          <a:latin typeface="Century Gothic"/>
                        </a:rPr>
                        <a:t>• Provide Fresh Start Furniture move-in support by furnishing apartments before move-in</a:t>
                      </a:r>
                    </a:p>
                  </a:txBody>
                  <a:tcPr>
                    <a:solidFill>
                      <a:srgbClr val="FFFFFF"/>
                    </a:solidFill>
                  </a:tcPr>
                </a:tc>
                <a:tc>
                  <a:txBody>
                    <a:bodyPr wrap="square"/>
                    <a:lstStyle/>
                    <a:p>
                      <a:pPr>
                        <a:spcAft>
                          <a:spcPts val="600"/>
                        </a:spcAft>
                      </a:pPr>
                      <a:r>
                        <a:rPr sz="1200">
                          <a:solidFill>
                            <a:srgbClr val="2B2B2B"/>
                          </a:solidFill>
                          <a:latin typeface="Century Gothic"/>
                        </a:rPr>
                        <a:t>• Families enrolled</a:t>
                      </a:r>
                    </a:p>
                    <a:p>
                      <a:pPr>
                        <a:spcAft>
                          <a:spcPts val="600"/>
                        </a:spcAft>
                      </a:pPr>
                      <a:r>
                        <a:rPr sz="1200">
                          <a:solidFill>
                            <a:srgbClr val="2B2B2B"/>
                          </a:solidFill>
                          <a:latin typeface="Century Gothic"/>
                        </a:rPr>
                        <a:t>• Families moved into permanent housing and days from enrollment to move-in</a:t>
                      </a:r>
                    </a:p>
                    <a:p>
                      <a:pPr>
                        <a:spcAft>
                          <a:spcPts val="600"/>
                        </a:spcAft>
                      </a:pPr>
                      <a:r>
                        <a:rPr sz="1200">
                          <a:solidFill>
                            <a:srgbClr val="2B2B2B"/>
                          </a:solidFill>
                          <a:latin typeface="Century Gothic"/>
                        </a:rPr>
                        <a:t>• Rental assistance payments and duration of assistance</a:t>
                      </a:r>
                    </a:p>
                    <a:p>
                      <a:pPr>
                        <a:spcAft>
                          <a:spcPts val="600"/>
                        </a:spcAft>
                      </a:pPr>
                      <a:r>
                        <a:rPr sz="1200">
                          <a:solidFill>
                            <a:srgbClr val="2B2B2B"/>
                          </a:solidFill>
                          <a:latin typeface="Century Gothic"/>
                        </a:rPr>
                        <a:t>• Stay Housed home visits completed</a:t>
                      </a:r>
                    </a:p>
                    <a:p>
                      <a:pPr>
                        <a:spcAft>
                          <a:spcPts val="600"/>
                        </a:spcAft>
                      </a:pPr>
                      <a:r>
                        <a:rPr sz="1200">
                          <a:solidFill>
                            <a:srgbClr val="2B2B2B"/>
                          </a:solidFill>
                          <a:latin typeface="Century Gothic"/>
                        </a:rPr>
                        <a:t>• Apartments furnished before move-in</a:t>
                      </a:r>
                    </a:p>
                  </a:txBody>
                  <a:tcPr>
                    <a:solidFill>
                      <a:srgbClr val="FFFFFF"/>
                    </a:solidFill>
                  </a:tcPr>
                </a:tc>
                <a:tc>
                  <a:txBody>
                    <a:bodyPr wrap="square"/>
                    <a:lstStyle/>
                    <a:p>
                      <a:pPr>
                        <a:spcAft>
                          <a:spcPts val="600"/>
                        </a:spcAft>
                      </a:pPr>
                      <a:r>
                        <a:rPr sz="1200">
                          <a:solidFill>
                            <a:srgbClr val="2B2B2B"/>
                          </a:solidFill>
                          <a:latin typeface="Century Gothic"/>
                        </a:rPr>
                        <a:t>• Families move from homelessness into permanent housing</a:t>
                      </a:r>
                    </a:p>
                    <a:p>
                      <a:pPr>
                        <a:spcAft>
                          <a:spcPts val="600"/>
                        </a:spcAft>
                      </a:pPr>
                      <a:r>
                        <a:rPr sz="1200">
                          <a:solidFill>
                            <a:srgbClr val="2B2B2B"/>
                          </a:solidFill>
                          <a:latin typeface="Century Gothic"/>
                        </a:rPr>
                        <a:t>• Families report greater confidence taking a next step to address a rent or landlord issue</a:t>
                      </a:r>
                    </a:p>
                    <a:p>
                      <a:pPr>
                        <a:spcAft>
                          <a:spcPts val="600"/>
                        </a:spcAft>
                      </a:pPr>
                      <a:r>
                        <a:rPr sz="1200">
                          <a:solidFill>
                            <a:srgbClr val="2B2B2B"/>
                          </a:solidFill>
                          <a:latin typeface="Century Gothic"/>
                        </a:rPr>
                        <a:t>• Parents report feeling more in control and less stressed</a:t>
                      </a:r>
                    </a:p>
                    <a:p>
                      <a:pPr>
                        <a:spcAft>
                          <a:spcPts val="600"/>
                        </a:spcAft>
                      </a:pPr>
                      <a:r>
                        <a:rPr sz="1200">
                          <a:solidFill>
                            <a:srgbClr val="2B2B2B"/>
                          </a:solidFill>
                          <a:latin typeface="Century Gothic"/>
                        </a:rPr>
                        <a:t>• Parents can identify where to seek help for at least one priority need they selected</a:t>
                      </a:r>
                    </a:p>
                  </a:txBody>
                  <a:tcPr>
                    <a:solidFill>
                      <a:srgbClr val="FFFFFF"/>
                    </a:solidFill>
                  </a:tcPr>
                </a:tc>
                <a:tc>
                  <a:txBody>
                    <a:bodyPr wrap="square"/>
                    <a:lstStyle/>
                    <a:p>
                      <a:pPr>
                        <a:spcAft>
                          <a:spcPts val="600"/>
                        </a:spcAft>
                      </a:pPr>
                      <a:r>
                        <a:rPr sz="1200">
                          <a:solidFill>
                            <a:srgbClr val="2B2B2B"/>
                          </a:solidFill>
                          <a:latin typeface="Century Gothic"/>
                        </a:rPr>
                        <a:t>• Families remain housed after time-limited rental assistance ends</a:t>
                      </a:r>
                    </a:p>
                    <a:p>
                      <a:pPr>
                        <a:spcAft>
                          <a:spcPts val="600"/>
                        </a:spcAft>
                      </a:pPr>
                      <a:r>
                        <a:rPr sz="1200">
                          <a:solidFill>
                            <a:srgbClr val="2B2B2B"/>
                          </a:solidFill>
                          <a:latin typeface="Century Gothic"/>
                        </a:rPr>
                        <a:t>• Fewer families return to homelessness or shelter</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ASSUMPTIONS &amp; EXTERNAL FACTORS</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5120640" cy="457200"/>
          </a:xfrm>
          <a:prstGeom prst="rect">
            <a:avLst/>
          </a:prstGeom>
          <a:noFill/>
        </p:spPr>
        <p:txBody>
          <a:bodyPr wrap="square">
            <a:spAutoFit/>
          </a:bodyPr>
          <a:lstStyle/>
          <a:p>
            <a:pPr>
              <a:spcAft>
                <a:spcPts val="600"/>
              </a:spcAft>
            </a:pPr>
            <a:r>
              <a:rPr sz="1600" b="1">
                <a:solidFill>
                  <a:srgbClr val="D96C4F"/>
                </a:solidFill>
                <a:latin typeface="Century Gothic"/>
              </a:rPr>
              <a:t>ASSUMPTIONS</a:t>
            </a:r>
          </a:p>
        </p:txBody>
      </p:sp>
      <p:sp>
        <p:nvSpPr>
          <p:cNvPr id="8" name="TL_assumptions"/>
          <p:cNvSpPr txBox="1"/>
          <p:nvPr/>
        </p:nvSpPr>
        <p:spPr>
          <a:xfrm>
            <a:off x="731520" y="2103120"/>
            <a:ext cx="5120640" cy="4114800"/>
          </a:xfrm>
          <a:prstGeom prst="rect">
            <a:avLst/>
          </a:prstGeom>
          <a:noFill/>
        </p:spPr>
        <p:txBody>
          <a:bodyPr wrap="square">
            <a:spAutoFit/>
          </a:bodyPr>
          <a:lstStyle/>
          <a:p>
            <a:pPr>
              <a:spcAft>
                <a:spcPts val="600"/>
              </a:spcAft>
            </a:pPr>
            <a:r>
              <a:rPr sz="1600" b="0">
                <a:solidFill>
                  <a:srgbClr val="2B2B2B"/>
                </a:solidFill>
                <a:latin typeface="Century Gothic"/>
              </a:rPr>
              <a:t>• Families can access suitable, affordable apartments in the local housing market</a:t>
            </a:r>
          </a:p>
          <a:p>
            <a:pPr>
              <a:spcAft>
                <a:spcPts val="600"/>
              </a:spcAft>
            </a:pPr>
            <a:r>
              <a:rPr sz="1600" b="0">
                <a:solidFill>
                  <a:srgbClr val="2B2B2B"/>
                </a:solidFill>
                <a:latin typeface="Century Gothic"/>
              </a:rPr>
              <a:t>• Families can choose whether to engage in case management and identify supports that fit their needs</a:t>
            </a:r>
          </a:p>
          <a:p>
            <a:pPr>
              <a:spcAft>
                <a:spcPts val="600"/>
              </a:spcAft>
            </a:pPr>
            <a:r>
              <a:rPr sz="1600" b="0">
                <a:solidFill>
                  <a:srgbClr val="2B2B2B"/>
                </a:solidFill>
                <a:latin typeface="Century Gothic"/>
              </a:rPr>
              <a:t>• Rent assistance, practical move-in support, and case management can address different barriers to housing stability</a:t>
            </a:r>
          </a:p>
        </p:txBody>
      </p:sp>
      <p:sp>
        <p:nvSpPr>
          <p:cNvPr id="9" name="TextBox 8"/>
          <p:cNvSpPr txBox="1"/>
          <p:nvPr/>
        </p:nvSpPr>
        <p:spPr>
          <a:xfrm>
            <a:off x="6400800" y="1554480"/>
            <a:ext cx="5120640" cy="457200"/>
          </a:xfrm>
          <a:prstGeom prst="rect">
            <a:avLst/>
          </a:prstGeom>
          <a:noFill/>
        </p:spPr>
        <p:txBody>
          <a:bodyPr wrap="square">
            <a:spAutoFit/>
          </a:bodyPr>
          <a:lstStyle/>
          <a:p>
            <a:pPr>
              <a:spcAft>
                <a:spcPts val="600"/>
              </a:spcAft>
            </a:pPr>
            <a:r>
              <a:rPr sz="1600" b="1">
                <a:solidFill>
                  <a:srgbClr val="3E63B0"/>
                </a:solidFill>
                <a:latin typeface="Century Gothic"/>
              </a:rPr>
              <a:t>EXTERNAL FACTORS</a:t>
            </a:r>
          </a:p>
        </p:txBody>
      </p:sp>
      <p:sp>
        <p:nvSpPr>
          <p:cNvPr id="10" name="TL_external_factors"/>
          <p:cNvSpPr txBox="1"/>
          <p:nvPr/>
        </p:nvSpPr>
        <p:spPr>
          <a:xfrm>
            <a:off x="6400800" y="2103120"/>
            <a:ext cx="5120640" cy="4114800"/>
          </a:xfrm>
          <a:prstGeom prst="rect">
            <a:avLst/>
          </a:prstGeom>
          <a:noFill/>
        </p:spPr>
        <p:txBody>
          <a:bodyPr wrap="square">
            <a:spAutoFit/>
          </a:bodyPr>
          <a:lstStyle/>
          <a:p>
            <a:pPr>
              <a:spcAft>
                <a:spcPts val="600"/>
              </a:spcAft>
            </a:pPr>
            <a:r>
              <a:rPr sz="1600" b="0">
                <a:solidFill>
                  <a:srgbClr val="2B2B2B"/>
                </a:solidFill>
                <a:latin typeface="Century Gothic"/>
              </a:rPr>
              <a:t>• Availability and affordability of rental housing</a:t>
            </a:r>
          </a:p>
          <a:p>
            <a:pPr>
              <a:spcAft>
                <a:spcPts val="600"/>
              </a:spcAft>
            </a:pPr>
            <a:r>
              <a:rPr sz="1600" b="0">
                <a:solidFill>
                  <a:srgbClr val="2B2B2B"/>
                </a:solidFill>
                <a:latin typeface="Century Gothic"/>
              </a:rPr>
              <a:t>• Changes in household income, employment, and benefit access</a:t>
            </a:r>
          </a:p>
          <a:p>
            <a:pPr>
              <a:spcAft>
                <a:spcPts val="600"/>
              </a:spcAft>
            </a:pPr>
            <a:r>
              <a:rPr sz="1600" b="0">
                <a:solidFill>
                  <a:srgbClr val="2B2B2B"/>
                </a:solidFill>
                <a:latin typeface="Century Gothic"/>
              </a:rPr>
              <a:t>• Landlord decisions and housing conditions</a:t>
            </a:r>
          </a:p>
          <a:p>
            <a:pPr>
              <a:spcAft>
                <a:spcPts val="600"/>
              </a:spcAft>
            </a:pPr>
            <a:r>
              <a:rPr sz="1600" b="0">
                <a:solidFill>
                  <a:srgbClr val="2B2B2B"/>
                </a:solidFill>
                <a:latin typeface="Century Gothic"/>
              </a:rPr>
              <a:t>• Availability of child care, school supports, and other community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4E8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MEASUREMENT PLAN</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43000"/>
            <a:ext cx="10789920" cy="640080"/>
          </a:xfrm>
          <a:prstGeom prst="rect">
            <a:avLst/>
          </a:prstGeom>
          <a:noFill/>
        </p:spPr>
        <p:txBody>
          <a:bodyPr wrap="square">
            <a:spAutoFit/>
          </a:bodyPr>
          <a:lstStyle/>
          <a:p>
            <a:pPr>
              <a:spcAft>
                <a:spcPts val="600"/>
              </a:spcAft>
            </a:pPr>
            <a:r>
              <a:rPr sz="1300" b="0">
                <a:solidFill>
                  <a:srgbClr val="2B2B2B"/>
                </a:solidFill>
                <a:latin typeface="Century Gothic"/>
              </a:rPr>
              <a:t>This plan pairs existing program/HMIS records with a brief, voluntary participant check-in to track housing move-in, families’ confidence, stress, and resource knowledge. It also checks families’ housing status 12 months after move-in, where follow-up is feasible; results are reported as outcomes Keystone contributes to, not outcomes it alone causes. The participant survey has four recommended questions, below the requested limit of about eight.</a:t>
            </a:r>
          </a:p>
        </p:txBody>
      </p:sp>
      <p:graphicFrame>
        <p:nvGraphicFramePr>
          <p:cNvPr id="8" name="Table 7"/>
          <p:cNvGraphicFramePr>
            <a:graphicFrameLocks noGrp="1"/>
          </p:cNvGraphicFramePr>
          <p:nvPr/>
        </p:nvGraphicFramePr>
        <p:xfrm>
          <a:off x="548640" y="1874519"/>
          <a:ext cx="11064240" cy="2743200"/>
        </p:xfrm>
        <a:graphic>
          <a:graphicData uri="http://schemas.openxmlformats.org/drawingml/2006/table">
            <a:tbl>
              <a:tblPr firstRow="1" bandRow="1">
                <a:tableStyleId>{5C22544A-7EE6-4342-B048-85BDC9FD1C3A}</a:tableStyleId>
              </a:tblPr>
              <a:tblGrid>
                <a:gridCol w="2011680"/>
                <a:gridCol w="2651760"/>
                <a:gridCol w="1737360"/>
                <a:gridCol w="2103120"/>
                <a:gridCol w="2560320"/>
              </a:tblGrid>
              <a:tr h="457200">
                <a:tc>
                  <a:txBody>
                    <a:bodyPr wrap="square"/>
                    <a:lstStyle/>
                    <a:p>
                      <a:r>
                        <a:rPr sz="1100" b="1">
                          <a:solidFill>
                            <a:srgbClr val="FFFFFF"/>
                          </a:solidFill>
                          <a:latin typeface="Century Gothic"/>
                        </a:rPr>
                        <a:t>METRIC</a:t>
                      </a:r>
                    </a:p>
                  </a:txBody>
                  <a:tcPr>
                    <a:solidFill>
                      <a:srgbClr val="2B2B2B"/>
                    </a:solidFill>
                  </a:tcPr>
                </a:tc>
                <a:tc>
                  <a:txBody>
                    <a:bodyPr wrap="square"/>
                    <a:lstStyle/>
                    <a:p>
                      <a:r>
                        <a:rPr sz="1100" b="1">
                          <a:solidFill>
                            <a:srgbClr val="FFFFFF"/>
                          </a:solidFill>
                          <a:latin typeface="Century Gothic"/>
                        </a:rPr>
                        <a:t>OUTCOME IT TRACKS</a:t>
                      </a:r>
                    </a:p>
                  </a:txBody>
                  <a:tcPr>
                    <a:solidFill>
                      <a:srgbClr val="2B2B2B"/>
                    </a:solidFill>
                  </a:tcPr>
                </a:tc>
                <a:tc>
                  <a:txBody>
                    <a:bodyPr wrap="square"/>
                    <a:lstStyle/>
                    <a:p>
                      <a:r>
                        <a:rPr sz="1100" b="1">
                          <a:solidFill>
                            <a:srgbClr val="FFFFFF"/>
                          </a:solidFill>
                          <a:latin typeface="Century Gothic"/>
                        </a:rPr>
                        <a:t>METHOD</a:t>
                      </a:r>
                    </a:p>
                  </a:txBody>
                  <a:tcPr>
                    <a:solidFill>
                      <a:srgbClr val="2B2B2B"/>
                    </a:solidFill>
                  </a:tcPr>
                </a:tc>
                <a:tc>
                  <a:txBody>
                    <a:bodyPr wrap="square"/>
                    <a:lstStyle/>
                    <a:p>
                      <a:r>
                        <a:rPr sz="1100" b="1">
                          <a:solidFill>
                            <a:srgbClr val="FFFFFF"/>
                          </a:solidFill>
                          <a:latin typeface="Century Gothic"/>
                        </a:rPr>
                        <a:t>WHEN</a:t>
                      </a:r>
                    </a:p>
                  </a:txBody>
                  <a:tcPr>
                    <a:solidFill>
                      <a:srgbClr val="2B2B2B"/>
                    </a:solidFill>
                  </a:tcPr>
                </a:tc>
                <a:tc>
                  <a:txBody>
                    <a:bodyPr wrap="square"/>
                    <a:lstStyle/>
                    <a:p>
                      <a:r>
                        <a:rPr sz="1100" b="1">
                          <a:solidFill>
                            <a:srgbClr val="FFFFFF"/>
                          </a:solidFill>
                          <a:latin typeface="Century Gothic"/>
                        </a:rPr>
                        <a:t>HOW IT'S SCORED</a:t>
                      </a:r>
                    </a:p>
                  </a:txBody>
                  <a:tcPr>
                    <a:solidFill>
                      <a:srgbClr val="2B2B2B"/>
                    </a:solidFill>
                  </a:tcPr>
                </a:tc>
              </a:tr>
              <a:tr h="457200">
                <a:tc>
                  <a:txBody>
                    <a:bodyPr wrap="square"/>
                    <a:lstStyle/>
                    <a:p>
                      <a:r>
                        <a:rPr sz="1000" b="1">
                          <a:solidFill>
                            <a:srgbClr val="2B2B2B"/>
                          </a:solidFill>
                          <a:latin typeface="Century Gothic"/>
                        </a:rPr>
                        <a:t>Permanent-housing move-in and time to move-in</a:t>
                      </a:r>
                    </a:p>
                  </a:txBody>
                  <a:tcPr>
                    <a:solidFill>
                      <a:srgbClr val="FFFFFF"/>
                    </a:solidFill>
                  </a:tcPr>
                </a:tc>
                <a:tc>
                  <a:txBody>
                    <a:bodyPr wrap="square"/>
                    <a:lstStyle/>
                    <a:p>
                      <a:r>
                        <a:rPr sz="1000" b="0">
                          <a:solidFill>
                            <a:srgbClr val="2B2B2B"/>
                          </a:solidFill>
                          <a:latin typeface="Century Gothic"/>
                        </a:rPr>
                        <a:t>Families move from homelessness into permanent housing</a:t>
                      </a:r>
                    </a:p>
                  </a:txBody>
                  <a:tcPr>
                    <a:solidFill>
                      <a:srgbClr val="FFFFFF"/>
                    </a:solidFill>
                  </a:tcPr>
                </a:tc>
                <a:tc>
                  <a:txBody>
                    <a:bodyPr wrap="square"/>
                    <a:lstStyle/>
                    <a:p>
                      <a:r>
                        <a:rPr sz="1000" b="0">
                          <a:solidFill>
                            <a:srgbClr val="2B2B2B"/>
                          </a:solidFill>
                          <a:latin typeface="Century Gothic"/>
                        </a:rPr>
                        <a:t>Program records</a:t>
                      </a:r>
                    </a:p>
                  </a:txBody>
                  <a:tcPr>
                    <a:solidFill>
                      <a:srgbClr val="FFFFFF"/>
                    </a:solidFill>
                  </a:tcPr>
                </a:tc>
                <a:tc>
                  <a:txBody>
                    <a:bodyPr wrap="square"/>
                    <a:lstStyle/>
                    <a:p>
                      <a:r>
                        <a:rPr sz="1000" b="0">
                          <a:solidFill>
                            <a:srgbClr val="2B2B2B"/>
                          </a:solidFill>
                          <a:latin typeface="Century Gothic"/>
                        </a:rPr>
                        <a:t>Update enrollment and move-in records as they occur; review by reporting period using a consistent cohort and observation window. Separately show households not yet observed for the full window.</a:t>
                      </a:r>
                    </a:p>
                  </a:txBody>
                  <a:tcPr>
                    <a:solidFill>
                      <a:srgbClr val="FFFFFF"/>
                    </a:solidFill>
                  </a:tcPr>
                </a:tc>
                <a:tc>
                  <a:txBody>
                    <a:bodyPr wrap="square"/>
                    <a:lstStyle/>
                    <a:p>
                      <a:r>
                        <a:rPr sz="1000" b="0">
                          <a:solidFill>
                            <a:srgbClr val="2B2B2B"/>
                          </a:solidFill>
                          <a:latin typeface="Century Gothic"/>
                        </a:rPr>
                        <a:t>Report the count and share of families in the fully observed cohort who moved into permanent housing, plus median days from enrollment to move-in among those who moved in. Show the cohort size and the not-yet-fully-observed count; align definitions with applicable HMIS and award rules.</a:t>
                      </a:r>
                    </a:p>
                  </a:txBody>
                  <a:tcPr>
                    <a:solidFill>
                      <a:srgbClr val="FFFFFF"/>
                    </a:solidFill>
                  </a:tcPr>
                </a:tc>
              </a:tr>
              <a:tr h="457200">
                <a:tc>
                  <a:txBody>
                    <a:bodyPr wrap="square"/>
                    <a:lstStyle/>
                    <a:p>
                      <a:r>
                        <a:rPr sz="1000" b="1">
                          <a:solidFill>
                            <a:srgbClr val="2B2B2B"/>
                          </a:solidFill>
                          <a:latin typeface="Century Gothic"/>
                        </a:rPr>
                        <a:t>Confidence addressing a rent or landlord issue</a:t>
                      </a:r>
                    </a:p>
                  </a:txBody>
                  <a:tcPr>
                    <a:solidFill>
                      <a:srgbClr val="FFFFFF"/>
                    </a:solidFill>
                  </a:tcPr>
                </a:tc>
                <a:tc>
                  <a:txBody>
                    <a:bodyPr wrap="square"/>
                    <a:lstStyle/>
                    <a:p>
                      <a:r>
                        <a:rPr sz="1000" b="0">
                          <a:solidFill>
                            <a:srgbClr val="2B2B2B"/>
                          </a:solidFill>
                          <a:latin typeface="Century Gothic"/>
                        </a:rPr>
                        <a:t>Families report greater confidence taking a next step to address a rent or landlord issue</a:t>
                      </a:r>
                    </a:p>
                  </a:txBody>
                  <a:tcPr>
                    <a:solidFill>
                      <a:srgbClr val="FFFFFF"/>
                    </a:solidFill>
                  </a:tcPr>
                </a:tc>
                <a:tc>
                  <a:txBody>
                    <a:bodyPr wrap="square"/>
                    <a:lstStyle/>
                    <a:p>
                      <a:r>
                        <a:rPr sz="1000" b="0">
                          <a:solidFill>
                            <a:srgbClr val="2B2B2B"/>
                          </a:solidFill>
                          <a:latin typeface="Century Gothic"/>
                        </a:rPr>
                        <a:t>Participant survey</a:t>
                      </a:r>
                    </a:p>
                  </a:txBody>
                  <a:tcPr>
                    <a:solidFill>
                      <a:srgbClr val="FFFFFF"/>
                    </a:solidFill>
                  </a:tcPr>
                </a:tc>
                <a:tc>
                  <a:txBody>
                    <a:bodyPr wrap="square"/>
                    <a:lstStyle/>
                    <a:p>
                      <a:r>
                        <a:rPr sz="1000" b="0">
                          <a:solidFill>
                            <a:srgbClr val="2B2B2B"/>
                          </a:solidFill>
                          <a:latin typeface="Century Gothic"/>
                        </a:rPr>
                        <a:t>At program entry and at a consistent later point, such as program exit or the end of case-management support. Ask the same hypothetical scenario and item both times, after urgent intake needs are addressed.</a:t>
                      </a:r>
                    </a:p>
                  </a:txBody>
                  <a:tcPr>
                    <a:solidFill>
                      <a:srgbClr val="FFFFFF"/>
                    </a:solidFill>
                  </a:tcPr>
                </a:tc>
                <a:tc>
                  <a:txBody>
                    <a:bodyPr wrap="square"/>
                    <a:lstStyle/>
                    <a:p>
                      <a:r>
                        <a:rPr sz="1000" b="0">
                          <a:solidFill>
                            <a:srgbClr val="2B2B2B"/>
                          </a:solidFill>
                          <a:latin typeface="Century Gothic"/>
                        </a:rPr>
                        <a:t>Report the item’s score distribution and median change for participants with paired answers, alongside baseline, follow-up, paired-response, and missing counts. Do not use a 1-point improvement threshold as a validated measure of meaningful change.</a:t>
                      </a:r>
                    </a:p>
                  </a:txBody>
                  <a:tcPr>
                    <a:solidFill>
                      <a:srgbClr val="FFFFFF"/>
                    </a:solidFill>
                  </a:tcPr>
                </a:tc>
              </a:tr>
              <a:tr h="457200">
                <a:tc>
                  <a:txBody>
                    <a:bodyPr wrap="square"/>
                    <a:lstStyle/>
                    <a:p>
                      <a:r>
                        <a:rPr sz="1000" b="1">
                          <a:solidFill>
                            <a:srgbClr val="2B2B2B"/>
                          </a:solidFill>
                          <a:latin typeface="Century Gothic"/>
                        </a:rPr>
                        <a:t>Parent-reported stress</a:t>
                      </a:r>
                    </a:p>
                  </a:txBody>
                  <a:tcPr>
                    <a:solidFill>
                      <a:srgbClr val="FFFFFF"/>
                    </a:solidFill>
                  </a:tcPr>
                </a:tc>
                <a:tc>
                  <a:txBody>
                    <a:bodyPr wrap="square"/>
                    <a:lstStyle/>
                    <a:p>
                      <a:r>
                        <a:rPr sz="1000" b="0">
                          <a:solidFill>
                            <a:srgbClr val="2B2B2B"/>
                          </a:solidFill>
                          <a:latin typeface="Century Gothic"/>
                        </a:rPr>
                        <a:t>Parents report feeling more in control and less stressed</a:t>
                      </a:r>
                    </a:p>
                  </a:txBody>
                  <a:tcPr>
                    <a:solidFill>
                      <a:srgbClr val="FFFFFF"/>
                    </a:solidFill>
                  </a:tcPr>
                </a:tc>
                <a:tc>
                  <a:txBody>
                    <a:bodyPr wrap="square"/>
                    <a:lstStyle/>
                    <a:p>
                      <a:r>
                        <a:rPr sz="1000" b="0">
                          <a:solidFill>
                            <a:srgbClr val="2B2B2B"/>
                          </a:solidFill>
                          <a:latin typeface="Century Gothic"/>
                        </a:rPr>
                        <a:t>Participant survey</a:t>
                      </a:r>
                    </a:p>
                  </a:txBody>
                  <a:tcPr>
                    <a:solidFill>
                      <a:srgbClr val="FFFFFF"/>
                    </a:solidFill>
                  </a:tcPr>
                </a:tc>
                <a:tc>
                  <a:txBody>
                    <a:bodyPr wrap="square"/>
                    <a:lstStyle/>
                    <a:p>
                      <a:r>
                        <a:rPr sz="1000" b="0">
                          <a:solidFill>
                            <a:srgbClr val="2B2B2B"/>
                          </a:solidFill>
                          <a:latin typeface="Century Gothic"/>
                        </a:rPr>
                        <a:t>At program entry and at the same later point used for the other check-in items; use the same past-month time frame and response choices.</a:t>
                      </a:r>
                    </a:p>
                  </a:txBody>
                  <a:tcPr>
                    <a:solidFill>
                      <a:srgbClr val="FFFFFF"/>
                    </a:solidFill>
                  </a:tcPr>
                </a:tc>
                <a:tc>
                  <a:txBody>
                    <a:bodyPr wrap="square"/>
                    <a:lstStyle/>
                    <a:p>
                      <a:r>
                        <a:rPr sz="1000" b="0">
                          <a:solidFill>
                            <a:srgbClr val="2B2B2B"/>
                          </a:solidFill>
                          <a:latin typeface="Century Gothic"/>
                        </a:rPr>
                        <a:t>Report responses to each item separately, with paired-response and missing counts. Lower frequency on the two included stress items suggests improvement. These are locally written items, not a validated scale; do not calculate a PSS-10 score. Confirm permission terms before reproducing or adapting any PSS-10 wording.</a:t>
                      </a:r>
                    </a:p>
                  </a:txBody>
                  <a:tcPr>
                    <a:solidFill>
                      <a:srgbClr val="FFFFFF"/>
                    </a:solidFill>
                  </a:tcPr>
                </a:tc>
              </a:tr>
              <a:tr h="457200">
                <a:tc>
                  <a:txBody>
                    <a:bodyPr wrap="square"/>
                    <a:lstStyle/>
                    <a:p>
                      <a:r>
                        <a:rPr sz="1000" b="1">
                          <a:solidFill>
                            <a:srgbClr val="2B2B2B"/>
                          </a:solidFill>
                          <a:latin typeface="Century Gothic"/>
                        </a:rPr>
                        <a:t>Knowing where to seek help for a chosen need</a:t>
                      </a:r>
                    </a:p>
                  </a:txBody>
                  <a:tcPr>
                    <a:solidFill>
                      <a:srgbClr val="FFFFFF"/>
                    </a:solidFill>
                  </a:tcPr>
                </a:tc>
                <a:tc>
                  <a:txBody>
                    <a:bodyPr wrap="square"/>
                    <a:lstStyle/>
                    <a:p>
                      <a:r>
                        <a:rPr sz="1000" b="0">
                          <a:solidFill>
                            <a:srgbClr val="2B2B2B"/>
                          </a:solidFill>
                          <a:latin typeface="Century Gothic"/>
                        </a:rPr>
                        <a:t>Parents can identify where to seek help for at least one priority need they selected</a:t>
                      </a:r>
                    </a:p>
                  </a:txBody>
                  <a:tcPr>
                    <a:solidFill>
                      <a:srgbClr val="FFFFFF"/>
                    </a:solidFill>
                  </a:tcPr>
                </a:tc>
                <a:tc>
                  <a:txBody>
                    <a:bodyPr wrap="square"/>
                    <a:lstStyle/>
                    <a:p>
                      <a:r>
                        <a:rPr sz="1000" b="0">
                          <a:solidFill>
                            <a:srgbClr val="2B2B2B"/>
                          </a:solidFill>
                          <a:latin typeface="Century Gothic"/>
                        </a:rPr>
                        <a:t>Participant survey</a:t>
                      </a:r>
                    </a:p>
                  </a:txBody>
                  <a:tcPr>
                    <a:solidFill>
                      <a:srgbClr val="FFFFFF"/>
                    </a:solidFill>
                  </a:tcPr>
                </a:tc>
                <a:tc>
                  <a:txBody>
                    <a:bodyPr wrap="square"/>
                    <a:lstStyle/>
                    <a:p>
                      <a:r>
                        <a:rPr sz="1000" b="0">
                          <a:solidFill>
                            <a:srgbClr val="2B2B2B"/>
                          </a:solidFill>
                          <a:latin typeface="Century Gothic"/>
                        </a:rPr>
                        <a:t>At program entry and at the same later point used for the other check-in items. Compare answers over time only when the same broad need category is being discussed; if it changed or is unknown, report the answers separately rather than as a direct change.</a:t>
                      </a:r>
                    </a:p>
                  </a:txBody>
                  <a:tcPr>
                    <a:solidFill>
                      <a:srgbClr val="FFFFFF"/>
                    </a:solidFill>
                  </a:tcPr>
                </a:tc>
                <a:tc>
                  <a:txBody>
                    <a:bodyPr wrap="square"/>
                    <a:lstStyle/>
                    <a:p>
                      <a:r>
                        <a:rPr sz="1000" b="0">
                          <a:solidFill>
                            <a:srgbClr val="2B2B2B"/>
                          </a:solidFill>
                          <a:latin typeface="Century Gothic"/>
                        </a:rPr>
                        <a:t>Report Yes, No, skipped, and missing responses separately. For paired comparisons, include only participants whose broad need category stayed the same. Record whether resource information was offered or accessed only if this can be done without personal details.</a:t>
                      </a:r>
                    </a:p>
                  </a:txBody>
                  <a:tcPr>
                    <a:solidFill>
                      <a:srgbClr val="FFFFFF"/>
                    </a:solidFill>
                  </a:tcPr>
                </a:tc>
              </a:tr>
              <a:tr h="457200">
                <a:tc>
                  <a:txBody>
                    <a:bodyPr wrap="square"/>
                    <a:lstStyle/>
                    <a:p>
                      <a:r>
                        <a:rPr sz="1000" b="1">
                          <a:solidFill>
                            <a:srgbClr val="2B2B2B"/>
                          </a:solidFill>
                          <a:latin typeface="Century Gothic"/>
                        </a:rPr>
                        <a:t>Housing status 12 months after move-in</a:t>
                      </a:r>
                    </a:p>
                  </a:txBody>
                  <a:tcPr>
                    <a:solidFill>
                      <a:srgbClr val="FFFFFF"/>
                    </a:solidFill>
                  </a:tcPr>
                </a:tc>
                <a:tc>
                  <a:txBody>
                    <a:bodyPr wrap="square"/>
                    <a:lstStyle/>
                    <a:p>
                      <a:r>
                        <a:rPr sz="1000" b="0">
                          <a:solidFill>
                            <a:srgbClr val="2B2B2B"/>
                          </a:solidFill>
                          <a:latin typeface="Century Gothic"/>
                        </a:rPr>
                        <a:t>Families remain housed after time-limited rental assistance ends</a:t>
                      </a:r>
                    </a:p>
                  </a:txBody>
                  <a:tcPr>
                    <a:solidFill>
                      <a:srgbClr val="FFFFFF"/>
                    </a:solidFill>
                  </a:tcPr>
                </a:tc>
                <a:tc>
                  <a:txBody>
                    <a:bodyPr wrap="square"/>
                    <a:lstStyle/>
                    <a:p>
                      <a:r>
                        <a:rPr sz="1000" b="0">
                          <a:solidFill>
                            <a:srgbClr val="2B2B2B"/>
                          </a:solidFill>
                          <a:latin typeface="Century Gothic"/>
                        </a:rPr>
                        <a:t>Program records</a:t>
                      </a:r>
                    </a:p>
                  </a:txBody>
                  <a:tcPr>
                    <a:solidFill>
                      <a:srgbClr val="FFFFFF"/>
                    </a:solidFill>
                  </a:tcPr>
                </a:tc>
                <a:tc>
                  <a:txBody>
                    <a:bodyPr wrap="square"/>
                    <a:lstStyle/>
                    <a:p>
                      <a:r>
                        <a:rPr sz="1000" b="0">
                          <a:solidFill>
                            <a:srgbClr val="2B2B2B"/>
                          </a:solidFill>
                          <a:latin typeface="Century Gothic"/>
                        </a:rPr>
                        <a:t>Prioritize a follow-up 12 months after each family’s recorded physical move-in date; collect a 6-month status after move-in too only where feasible. Use HMIS or a consent-based, brief follow-up with the family’s preferred contact method and a limited, pre-set number of attempts. Do not imply every family can be reached.</a:t>
                      </a:r>
                    </a:p>
                  </a:txBody>
                  <a:tcPr>
                    <a:solidFill>
                      <a:srgbClr val="FFFFFF"/>
                    </a:solidFill>
                  </a:tcPr>
                </a:tc>
                <a:tc>
                  <a:txBody>
                    <a:bodyPr wrap="square"/>
                    <a:lstStyle/>
                    <a:p>
                      <a:r>
                        <a:rPr sz="1000" b="0">
                          <a:solidFill>
                            <a:srgbClr val="2B2B2B"/>
                          </a:solidFill>
                          <a:latin typeface="Century Gothic"/>
                        </a:rPr>
                        <a:t>For each follow-up window, report the number due, contacted, with known status, and with unknown status. Among families with known status, report permanent housing, homelessness, and other/unstable housing separately; include the numerator and denominator for the share housed. Also show the number in permanent housing out of all families due, clearly labeled as including unknowns in the denominator. Unknown status is not evidence of either retention or housing loss. Treat any self-reported return as supplementary to, not equivalent to, the HMIS-based system measure; this is a contribution measure, not proof of program-caused retention.</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BRIEF PARTICIPANT CHECK-IN</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43000"/>
            <a:ext cx="10789920" cy="457200"/>
          </a:xfrm>
          <a:prstGeom prst="rect">
            <a:avLst/>
          </a:prstGeom>
          <a:noFill/>
        </p:spPr>
        <p:txBody>
          <a:bodyPr wrap="square">
            <a:spAutoFit/>
          </a:bodyPr>
          <a:lstStyle/>
          <a:p>
            <a:pPr>
              <a:spcAft>
                <a:spcPts val="600"/>
              </a:spcAft>
            </a:pPr>
            <a:r>
              <a:rPr sz="1300" b="0">
                <a:solidFill>
                  <a:srgbClr val="4E8C7A"/>
                </a:solidFill>
                <a:latin typeface="Century Gothic"/>
              </a:rPr>
              <a:t>Participant survey · Offer at entry and at a consistent later point, after urgent intake needs are addressed. Use a short script: taking part is voluntary, any question may be skipped, and answers will not affect services. Offer read-aloud and translated options where available; use the same wording and response choices each time. The four included questions cover confidence, stress, and resource knowledge; optional items remain off unless Keystone chooses to add them.</a:t>
            </a:r>
          </a:p>
        </p:txBody>
      </p:sp>
      <p:sp>
        <p:nvSpPr>
          <p:cNvPr id="8" name="TextBox 7"/>
          <p:cNvSpPr txBox="1"/>
          <p:nvPr/>
        </p:nvSpPr>
        <p:spPr>
          <a:xfrm>
            <a:off x="731520" y="1737360"/>
            <a:ext cx="10789920" cy="4754880"/>
          </a:xfrm>
          <a:prstGeom prst="rect">
            <a:avLst/>
          </a:prstGeom>
          <a:noFill/>
        </p:spPr>
        <p:txBody>
          <a:bodyPr wrap="square">
            <a:spAutoFit/>
          </a:bodyPr>
          <a:lstStyle/>
          <a:p>
            <a:pPr>
              <a:spcAft>
                <a:spcPts val="600"/>
              </a:spcAft>
            </a:pPr>
            <a:r>
              <a:rPr sz="1300" b="0">
                <a:solidFill>
                  <a:srgbClr val="2B2B2B"/>
                </a:solidFill>
                <a:latin typeface="Century Gothic"/>
              </a:rPr>
              <a:t>CONFIDENCE ADDRESSING A RENT OR LANDLORD ISSUE</a:t>
            </a:r>
          </a:p>
          <a:p>
            <a:pPr>
              <a:spcAft>
                <a:spcPts val="600"/>
              </a:spcAft>
            </a:pPr>
            <a:r>
              <a:rPr sz="1300" b="0">
                <a:solidFill>
                  <a:srgbClr val="2B2B2B"/>
                </a:solidFill>
                <a:latin typeface="Century Gothic"/>
              </a:rPr>
              <a:t>• Think about this same situation each time: you have a problem paying rent or with your landlord. How confident are you that you can take one next step to address it?   [0–10 rating]  (S20)</a:t>
            </a:r>
          </a:p>
          <a:p>
            <a:pPr>
              <a:spcAft>
                <a:spcPts val="600"/>
              </a:spcAft>
            </a:pPr>
            <a:r>
              <a:rPr sz="1300" b="0">
                <a:solidFill>
                  <a:srgbClr val="2B2B2B"/>
                </a:solidFill>
                <a:latin typeface="Century Gothic"/>
              </a:rPr>
              <a:t>PARENT-REPORTED STRESS</a:t>
            </a:r>
          </a:p>
          <a:p>
            <a:pPr>
              <a:spcAft>
                <a:spcPts val="600"/>
              </a:spcAft>
            </a:pPr>
            <a:r>
              <a:rPr sz="1300" b="0">
                <a:solidFill>
                  <a:srgbClr val="2B2B2B"/>
                </a:solidFill>
                <a:latin typeface="Century Gothic"/>
              </a:rPr>
              <a:t>• In the past month, how often did you feel that problems were too much to handle?   [Never → Always (1–5)]  (S21, S22)</a:t>
            </a:r>
          </a:p>
          <a:p>
            <a:pPr>
              <a:spcAft>
                <a:spcPts val="600"/>
              </a:spcAft>
            </a:pPr>
            <a:r>
              <a:rPr sz="1300" b="0">
                <a:solidFill>
                  <a:srgbClr val="2B2B2B"/>
                </a:solidFill>
                <a:latin typeface="Century Gothic"/>
              </a:rPr>
              <a:t>• In the past month, how often did you feel worried about things you could not control?   [Never → Always (1–5)]  (S21, S22)</a:t>
            </a:r>
          </a:p>
          <a:p>
            <a:pPr>
              <a:spcAft>
                <a:spcPts val="600"/>
              </a:spcAft>
            </a:pPr>
            <a:r>
              <a:rPr sz="1300" b="0">
                <a:solidFill>
                  <a:srgbClr val="2B2B2B"/>
                </a:solidFill>
                <a:latin typeface="Century Gothic"/>
              </a:rPr>
              <a:t>KNOWING WHERE TO SEEK HELP FOR A CHOSEN NEED</a:t>
            </a:r>
          </a:p>
          <a:p>
            <a:pPr>
              <a:spcAft>
                <a:spcPts val="600"/>
              </a:spcAft>
            </a:pPr>
            <a:r>
              <a:rPr sz="1300" b="0">
                <a:solidFill>
                  <a:srgbClr val="2B2B2B"/>
                </a:solidFill>
                <a:latin typeface="Century Gothic"/>
              </a:rPr>
              <a:t>• If you wanted help with a need you chose, do you know who you could contact?   [Yes / No]  (S23, S24)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HOUSING OUTCOMES AND FOLLOW-UP RECORDS</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43000"/>
            <a:ext cx="10789920" cy="457200"/>
          </a:xfrm>
          <a:prstGeom prst="rect">
            <a:avLst/>
          </a:prstGeom>
          <a:noFill/>
        </p:spPr>
        <p:txBody>
          <a:bodyPr wrap="square">
            <a:spAutoFit/>
          </a:bodyPr>
          <a:lstStyle/>
          <a:p>
            <a:pPr>
              <a:spcAft>
                <a:spcPts val="600"/>
              </a:spcAft>
            </a:pPr>
            <a:r>
              <a:rPr sz="1300" b="0">
                <a:solidFill>
                  <a:srgbClr val="4E8C7A"/>
                </a:solidFill>
                <a:latin typeface="Century Gothic"/>
              </a:rPr>
              <a:t>Program records · Use program records/HMIS throughout enrollment and move-in, with consistent cohort definitions and observation windows. Prioritize 12-month status after physical move-in; use a consent-based preferred contact method, limited attempts, and report due, contacted, known, and unknown status separately.</a:t>
            </a:r>
          </a:p>
        </p:txBody>
      </p:sp>
      <p:sp>
        <p:nvSpPr>
          <p:cNvPr id="8" name="TextBox 7"/>
          <p:cNvSpPr txBox="1"/>
          <p:nvPr/>
        </p:nvSpPr>
        <p:spPr>
          <a:xfrm>
            <a:off x="731520" y="1737360"/>
            <a:ext cx="10789920" cy="4754880"/>
          </a:xfrm>
          <a:prstGeom prst="rect">
            <a:avLst/>
          </a:prstGeom>
          <a:noFill/>
        </p:spPr>
        <p:txBody>
          <a:bodyPr wrap="square">
            <a:spAutoFit/>
          </a:bodyPr>
          <a:lstStyle/>
          <a:p>
            <a:pPr>
              <a:spcAft>
                <a:spcPts val="600"/>
              </a:spcAft>
            </a:pPr>
            <a:r>
              <a:rPr sz="1300" b="0">
                <a:solidFill>
                  <a:srgbClr val="2B2B2B"/>
                </a:solidFill>
                <a:latin typeface="Century Gothic"/>
              </a:rPr>
              <a:t>PERMANENT-HOUSING MOVE-IN AND TIME TO MOVE-IN</a:t>
            </a:r>
          </a:p>
          <a:p>
            <a:pPr>
              <a:spcAft>
                <a:spcPts val="600"/>
              </a:spcAft>
            </a:pPr>
            <a:r>
              <a:rPr sz="1300" b="0">
                <a:solidFill>
                  <a:srgbClr val="2B2B2B"/>
                </a:solidFill>
                <a:latin typeface="Century Gothic"/>
              </a:rPr>
              <a:t>• How many families in the reporting cohort have had the full, comparable observation period to move into housing?   [Number]  (S17, S18)</a:t>
            </a:r>
          </a:p>
          <a:p>
            <a:pPr>
              <a:spcAft>
                <a:spcPts val="600"/>
              </a:spcAft>
            </a:pPr>
            <a:r>
              <a:rPr sz="1300" b="0">
                <a:solidFill>
                  <a:srgbClr val="2B2B2B"/>
                </a:solidFill>
                <a:latin typeface="Century Gothic"/>
              </a:rPr>
              <a:t>• How many families in that cohort moved into permanent housing during the observation period?   [Number]  (S17, S18, S19)</a:t>
            </a:r>
          </a:p>
          <a:p>
            <a:pPr>
              <a:spcAft>
                <a:spcPts val="600"/>
              </a:spcAft>
            </a:pPr>
            <a:r>
              <a:rPr sz="1300" b="0">
                <a:solidFill>
                  <a:srgbClr val="2B2B2B"/>
                </a:solidFill>
                <a:latin typeface="Century Gothic"/>
              </a:rPr>
              <a:t>• Among families who moved in, what was the median number of days from enrollment to move-in?   [Number]  (S17, S19)</a:t>
            </a:r>
          </a:p>
          <a:p>
            <a:pPr>
              <a:spcAft>
                <a:spcPts val="600"/>
              </a:spcAft>
            </a:pPr>
            <a:r>
              <a:rPr sz="1300" b="0">
                <a:solidFill>
                  <a:srgbClr val="2B2B2B"/>
                </a:solidFill>
                <a:latin typeface="Century Gothic"/>
              </a:rPr>
              <a:t>HOUSING STATUS 12 MONTHS AFTER MOVE-IN</a:t>
            </a:r>
          </a:p>
          <a:p>
            <a:pPr>
              <a:spcAft>
                <a:spcPts val="600"/>
              </a:spcAft>
            </a:pPr>
            <a:r>
              <a:rPr sz="1300" b="0">
                <a:solidFill>
                  <a:srgbClr val="2B2B2B"/>
                </a:solidFill>
                <a:latin typeface="Century Gothic"/>
              </a:rPr>
              <a:t>• How many families are due for a 12-month housing-status follow-up after move-in?   [Number]  (S17, S18)</a:t>
            </a:r>
          </a:p>
          <a:p>
            <a:pPr>
              <a:spcAft>
                <a:spcPts val="600"/>
              </a:spcAft>
            </a:pPr>
            <a:r>
              <a:rPr sz="1300" b="0">
                <a:solidFill>
                  <a:srgbClr val="2B2B2B"/>
                </a:solidFill>
                <a:latin typeface="Century Gothic"/>
              </a:rPr>
              <a:t>• How many families due for follow-up were contacted, and how many had a known housing status?   [Number]  (S18, S25, S26)</a:t>
            </a:r>
          </a:p>
          <a:p>
            <a:pPr>
              <a:spcAft>
                <a:spcPts val="600"/>
              </a:spcAft>
            </a:pPr>
            <a:r>
              <a:rPr sz="1300" b="0">
                <a:solidFill>
                  <a:srgbClr val="2B2B2B"/>
                </a:solidFill>
                <a:latin typeface="Century Gothic"/>
              </a:rPr>
              <a:t>• How many families with a known status were in permanent housing at follow-up?   [Number]  (S18, S19)</a:t>
            </a:r>
          </a:p>
          <a:p>
            <a:pPr>
              <a:spcAft>
                <a:spcPts val="600"/>
              </a:spcAft>
            </a:pPr>
            <a:r>
              <a:rPr sz="1300" b="0">
                <a:solidFill>
                  <a:srgbClr val="2B2B2B"/>
                </a:solidFill>
                <a:latin typeface="Century Gothic"/>
              </a:rPr>
              <a:t>• How many families with a known status were staying in shelter, outside, or another place not meant for housing?   [Number]  (S18, S25, S26)</a:t>
            </a:r>
          </a:p>
          <a:p>
            <a:pPr>
              <a:spcAft>
                <a:spcPts val="600"/>
              </a:spcAft>
            </a:pPr>
            <a:r>
              <a:rPr sz="1300" b="0">
                <a:solidFill>
                  <a:srgbClr val="2B2B2B"/>
                </a:solidFill>
                <a:latin typeface="Century Gothic"/>
              </a:rPr>
              <a:t>• How many families with a known status were in another or unstable housing situation?   [Number]  (S18, S19)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HOW THIS LINES UP WITH FUNDERS</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63040"/>
            <a:ext cx="10789920" cy="4937760"/>
          </a:xfrm>
          <a:prstGeom prst="rect">
            <a:avLst/>
          </a:prstGeom>
          <a:noFill/>
        </p:spPr>
        <p:txBody>
          <a:bodyPr wrap="square">
            <a:spAutoFit/>
          </a:bodyPr>
          <a:lstStyle/>
          <a:p>
            <a:pPr>
              <a:spcAft>
                <a:spcPts val="600"/>
              </a:spcAft>
            </a:pPr>
            <a:r>
              <a:rPr sz="1500" b="0">
                <a:solidFill>
                  <a:srgbClr val="2B2B2B"/>
                </a:solidFill>
                <a:latin typeface="Century Gothic"/>
              </a:rPr>
              <a:t>• The model centers rapid exits to permanent housing and fewer returns to homelessness, common CoC and RRH reporting priorities.  (S2, S4, S6)</a:t>
            </a:r>
          </a:p>
          <a:p>
            <a:pPr>
              <a:spcAft>
                <a:spcPts val="600"/>
              </a:spcAft>
            </a:pPr>
            <a:r>
              <a:rPr sz="1500" b="0">
                <a:solidFill>
                  <a:srgbClr val="2B2B2B"/>
                </a:solidFill>
                <a:latin typeface="Century Gothic"/>
              </a:rPr>
              <a:t>• Fresh Start Furniture is framed as a practical move-in support that contributes to housing setup and family well-being, rather than as an end in itself.  (S8)</a:t>
            </a:r>
          </a:p>
          <a:p>
            <a:pPr>
              <a:spcAft>
                <a:spcPts val="600"/>
              </a:spcAft>
            </a:pPr>
            <a:r>
              <a:rPr sz="1500" b="0">
                <a:solidFill>
                  <a:srgbClr val="2B2B2B"/>
                </a:solidFill>
                <a:latin typeface="Century Gothic"/>
              </a:rPr>
              <a:t>• The model keeps case management and other supports tailored to household priorities, consistent with person-centered RRH and coordinated-access approaches.  (S3, S9, S16)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4E8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8686800" cy="822960"/>
          </a:xfrm>
          <a:prstGeom prst="rect">
            <a:avLst/>
          </a:prstGeom>
          <a:noFill/>
        </p:spPr>
        <p:txBody>
          <a:bodyPr wrap="square">
            <a:spAutoFit/>
          </a:bodyPr>
          <a:lstStyle/>
          <a:p>
            <a:pPr>
              <a:spcAft>
                <a:spcPts val="600"/>
              </a:spcAft>
            </a:pPr>
            <a:r>
              <a:rPr sz="3000" b="1">
                <a:solidFill>
                  <a:srgbClr val="2B2B2B"/>
                </a:solidFill>
                <a:latin typeface="Century Gothic"/>
              </a:rPr>
              <a:t>SOURCES</a:t>
            </a:r>
          </a:p>
        </p:txBody>
      </p:sp>
      <p:sp>
        <p:nvSpPr>
          <p:cNvPr id="4" name="Oval 3"/>
          <p:cNvSpPr/>
          <p:nvPr/>
        </p:nvSpPr>
        <p:spPr>
          <a:xfrm>
            <a:off x="10332720" y="502920"/>
            <a:ext cx="384048" cy="384048"/>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755172" y="502920"/>
            <a:ext cx="384048" cy="384048"/>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1177625" y="502920"/>
            <a:ext cx="384048" cy="384048"/>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10789920" cy="5120640"/>
          </a:xfrm>
          <a:prstGeom prst="rect">
            <a:avLst/>
          </a:prstGeom>
          <a:noFill/>
        </p:spPr>
        <p:txBody>
          <a:bodyPr wrap="square">
            <a:spAutoFit/>
          </a:bodyPr>
          <a:lstStyle/>
          <a:p>
            <a:pPr>
              <a:spcAft>
                <a:spcPts val="600"/>
              </a:spcAft>
            </a:pPr>
            <a:r>
              <a:rPr sz="1100" b="0">
                <a:solidFill>
                  <a:srgbClr val="2B2B2B"/>
                </a:solidFill>
                <a:latin typeface="Century Gothic"/>
              </a:rPr>
              <a:t>S2  CoC System Performance Measures Table Shells (HUD Exchange). verified link</a:t>
            </a:r>
          </a:p>
          <a:p>
            <a:pPr>
              <a:spcAft>
                <a:spcPts val="600"/>
              </a:spcAft>
            </a:pPr>
            <a:r>
              <a:rPr sz="1100" b="0">
                <a:solidFill>
                  <a:srgbClr val="2B2B2B"/>
                </a:solidFill>
                <a:latin typeface="Century Gothic"/>
              </a:rPr>
              <a:t>      https://www.hudexchange.info/resource/4483/system-performance-measures-tools/</a:t>
            </a:r>
          </a:p>
          <a:p>
            <a:pPr>
              <a:spcAft>
                <a:spcPts val="600"/>
              </a:spcAft>
            </a:pPr>
            <a:r>
              <a:rPr sz="1100" b="0">
                <a:solidFill>
                  <a:srgbClr val="2B2B2B"/>
                </a:solidFill>
                <a:latin typeface="Century Gothic"/>
              </a:rPr>
              <a:t>S3  CoC Program Components - Rapid Re-housing (RRH) (HUD Exchange). verified link</a:t>
            </a:r>
          </a:p>
          <a:p>
            <a:pPr>
              <a:spcAft>
                <a:spcPts val="600"/>
              </a:spcAft>
            </a:pPr>
            <a:r>
              <a:rPr sz="1100" b="0">
                <a:solidFill>
                  <a:srgbClr val="2B2B2B"/>
                </a:solidFill>
                <a:latin typeface="Century Gothic"/>
              </a:rPr>
              <a:t>      https://www.hudexchange.info/homelessness-assistance/coc-esg-virtual-binders/coc-program-components/permanent-housing/rapid-re-housing/</a:t>
            </a:r>
          </a:p>
          <a:p>
            <a:pPr>
              <a:spcAft>
                <a:spcPts val="600"/>
              </a:spcAft>
            </a:pPr>
            <a:r>
              <a:rPr sz="1100" b="0">
                <a:solidFill>
                  <a:srgbClr val="2B2B2B"/>
                </a:solidFill>
                <a:latin typeface="Century Gothic"/>
              </a:rPr>
              <a:t>S4  CoC Performance Profile Reports (HUD Exchange). verified link</a:t>
            </a:r>
          </a:p>
          <a:p>
            <a:pPr>
              <a:spcAft>
                <a:spcPts val="600"/>
              </a:spcAft>
            </a:pPr>
            <a:r>
              <a:rPr sz="1100" b="0">
                <a:solidFill>
                  <a:srgbClr val="2B2B2B"/>
                </a:solidFill>
                <a:latin typeface="Century Gothic"/>
              </a:rPr>
              <a:t>      https://www.hudexchange.info/programs/coc/coc-performance-profile-reports/</a:t>
            </a:r>
          </a:p>
          <a:p>
            <a:pPr>
              <a:spcAft>
                <a:spcPts val="600"/>
              </a:spcAft>
            </a:pPr>
            <a:r>
              <a:rPr sz="1100" b="0">
                <a:solidFill>
                  <a:srgbClr val="2B2B2B"/>
                </a:solidFill>
                <a:latin typeface="Century Gothic"/>
              </a:rPr>
              <a:t>S6  Statewide Rapid Rehousing Requirements &amp; Operations Guide (Connecticut Balance of State Continuum of Care / Connecticut Department of Housing). verified link</a:t>
            </a:r>
          </a:p>
          <a:p>
            <a:pPr>
              <a:spcAft>
                <a:spcPts val="600"/>
              </a:spcAft>
            </a:pPr>
            <a:r>
              <a:rPr sz="1100" b="0">
                <a:solidFill>
                  <a:srgbClr val="2B2B2B"/>
                </a:solidFill>
                <a:latin typeface="Century Gothic"/>
              </a:rPr>
              <a:t>      https://www.ctbos.org/wp-content/uploads/CTDOH-Statewide-RRH-Operations-Guide-v19.pdf</a:t>
            </a:r>
          </a:p>
          <a:p>
            <a:pPr>
              <a:spcAft>
                <a:spcPts val="600"/>
              </a:spcAft>
            </a:pPr>
            <a:r>
              <a:rPr sz="1100" b="0">
                <a:solidFill>
                  <a:srgbClr val="2B2B2B"/>
                </a:solidFill>
                <a:latin typeface="Century Gothic"/>
              </a:rPr>
              <a:t>S8  Basic Needs Fund Grants (The Community Foundation for Greater New Haven). verified link</a:t>
            </a:r>
          </a:p>
          <a:p>
            <a:pPr>
              <a:spcAft>
                <a:spcPts val="600"/>
              </a:spcAft>
            </a:pPr>
            <a:r>
              <a:rPr sz="1100" b="0">
                <a:solidFill>
                  <a:srgbClr val="2B2B2B"/>
                </a:solidFill>
                <a:latin typeface="Century Gothic"/>
              </a:rPr>
              <a:t>      https://www.cfgnh.org/articles/basic-needs-fund-grants</a:t>
            </a:r>
          </a:p>
          <a:p>
            <a:pPr>
              <a:spcAft>
                <a:spcPts val="600"/>
              </a:spcAft>
            </a:pPr>
            <a:r>
              <a:rPr sz="1100" b="0">
                <a:solidFill>
                  <a:srgbClr val="2B2B2B"/>
                </a:solidFill>
                <a:latin typeface="Century Gothic"/>
              </a:rPr>
              <a:t>S9  Ending Homelessness — Coordinated Access Network (United Way of Greater New Haven). verified link</a:t>
            </a:r>
          </a:p>
          <a:p>
            <a:pPr>
              <a:spcAft>
                <a:spcPts val="600"/>
              </a:spcAft>
            </a:pPr>
            <a:r>
              <a:rPr sz="1100" b="0">
                <a:solidFill>
                  <a:srgbClr val="2B2B2B"/>
                </a:solidFill>
                <a:latin typeface="Century Gothic"/>
              </a:rPr>
              <a:t>      https://www.uwgnh.org/coordinated-access-network</a:t>
            </a:r>
          </a:p>
          <a:p>
            <a:pPr>
              <a:spcAft>
                <a:spcPts val="600"/>
              </a:spcAft>
            </a:pPr>
            <a:r>
              <a:rPr sz="1100" b="0">
                <a:solidFill>
                  <a:srgbClr val="2B2B2B"/>
                </a:solidFill>
                <a:latin typeface="Century Gothic"/>
              </a:rPr>
              <a:t>S16  Navigating the Coordinated Access Network (Connecticut Department of Social Services). verified link</a:t>
            </a:r>
          </a:p>
          <a:p>
            <a:pPr>
              <a:spcAft>
                <a:spcPts val="600"/>
              </a:spcAft>
            </a:pPr>
            <a:r>
              <a:rPr sz="1100" b="0">
                <a:solidFill>
                  <a:srgbClr val="2B2B2B"/>
                </a:solidFill>
                <a:latin typeface="Century Gothic"/>
              </a:rPr>
              <a:t>      https://portal.ct.gov/dss/-/media/departments-and-agencies/dss/health-and-home-care/pcmh-plus/canmeeting9122019.pdf?hash=750FF1A73602A960CBC10E66E5AA4DE6&amp;rev=bdb3e2ab33404b28bd64438578286ff0</a:t>
            </a:r>
          </a:p>
          <a:p>
            <a:pPr>
              <a:spcAft>
                <a:spcPts val="600"/>
              </a:spcAft>
            </a:pPr>
            <a:r>
              <a:rPr sz="1100" b="0">
                <a:solidFill>
                  <a:srgbClr val="2B2B2B"/>
                </a:solidFill>
                <a:latin typeface="Century Gothic"/>
              </a:rPr>
              <a:t>S17  HMIS Data Standards: Universal Data Elements: 3.20 Housing Move-in Date (U.S. Department of Housing and Urban Development, HUD Exchange). verified link</a:t>
            </a:r>
          </a:p>
          <a:p>
            <a:pPr>
              <a:spcAft>
                <a:spcPts val="600"/>
              </a:spcAft>
            </a:pPr>
            <a:r>
              <a:rPr sz="1100" b="0">
                <a:solidFill>
                  <a:srgbClr val="2B2B2B"/>
                </a:solidFill>
                <a:latin typeface="Century Gothic"/>
              </a:rPr>
              <a:t>      https://www.hudexchange.info/programs/hmis/hmis-data-standards/standards/universal-data-elements/320-housing-move-in-date/</a:t>
            </a:r>
          </a:p>
          <a:p>
            <a:pPr>
              <a:spcAft>
                <a:spcPts val="600"/>
              </a:spcAft>
            </a:pPr>
            <a:r>
              <a:rPr sz="1100" b="0">
                <a:solidFill>
                  <a:srgbClr val="2B2B2B"/>
                </a:solidFill>
                <a:latin typeface="Century Gothic"/>
              </a:rPr>
              <a:t>S18  CoC System Performance Measures (U.S. Department of Housing and Urban Development, HUD Exchange). verified link</a:t>
            </a:r>
          </a:p>
          <a:p>
            <a:pPr>
              <a:spcAft>
                <a:spcPts val="600"/>
              </a:spcAft>
            </a:pPr>
            <a:r>
              <a:rPr sz="1100" b="0">
                <a:solidFill>
                  <a:srgbClr val="2B2B2B"/>
                </a:solidFill>
                <a:latin typeface="Century Gothic"/>
              </a:rPr>
              <a:t>      https://www.hudexchange.info/programs/coc/system-performance-measures/</a:t>
            </a:r>
          </a:p>
          <a:p>
            <a:pPr>
              <a:spcAft>
                <a:spcPts val="600"/>
              </a:spcAft>
            </a:pPr>
            <a:r>
              <a:rPr sz="1100" b="0">
                <a:solidFill>
                  <a:srgbClr val="2B2B2B"/>
                </a:solidFill>
                <a:latin typeface="Century Gothic"/>
              </a:rPr>
              <a:t>S19  Rapid Rehousing (RRH) (Connecticut HMIS). verified link</a:t>
            </a:r>
          </a:p>
          <a:p>
            <a:pPr>
              <a:spcAft>
                <a:spcPts val="600"/>
              </a:spcAft>
            </a:pPr>
            <a:r>
              <a:rPr sz="1100" b="0">
                <a:solidFill>
                  <a:srgbClr val="2B2B2B"/>
                </a:solidFill>
                <a:latin typeface="Century Gothic"/>
              </a:rPr>
              <a:t>      https://cthmis.com/programs/rapid-rehousing/</a:t>
            </a:r>
          </a:p>
          <a:p>
            <a:pPr>
              <a:spcAft>
                <a:spcPts val="600"/>
              </a:spcAft>
            </a:pPr>
            <a:r>
              <a:rPr sz="1100" b="0">
                <a:solidFill>
                  <a:srgbClr val="2B2B2B"/>
                </a:solidFill>
                <a:latin typeface="Century Gothic"/>
              </a:rPr>
              <a:t>S20  General, Health-Specific, and Housing-Specific Self-Efficacy Scales: Preliminary Reliability and Validity Evidence with Homeless or Vulnerably Housed Adults (Journal of Well-Being Assessment / Springer Nature). verified link</a:t>
            </a:r>
          </a:p>
          <a:p>
            <a:pPr>
              <a:spcAft>
                <a:spcPts val="600"/>
              </a:spcAft>
            </a:pPr>
            <a:r>
              <a:rPr sz="1100" b="0">
                <a:solidFill>
                  <a:srgbClr val="2B2B2B"/>
                </a:solidFill>
                <a:latin typeface="Century Gothic"/>
              </a:rPr>
              <a:t>      https://link.springer.com/article/10.1007/s41543-018-0005-1</a:t>
            </a:r>
          </a:p>
          <a:p>
            <a:pPr>
              <a:spcAft>
                <a:spcPts val="600"/>
              </a:spcAft>
            </a:pPr>
            <a:r>
              <a:rPr sz="1100" b="0">
                <a:solidFill>
                  <a:srgbClr val="2B2B2B"/>
                </a:solidFill>
                <a:latin typeface="Century Gothic"/>
              </a:rPr>
              <a:t>S21  Official PSS-10 | Perceived Stress Scale - 10 items (Mapi Research Trust, ePROVIDE). verified link</a:t>
            </a:r>
          </a:p>
          <a:p>
            <a:pPr>
              <a:spcAft>
                <a:spcPts val="600"/>
              </a:spcAft>
            </a:pPr>
            <a:r>
              <a:rPr sz="1100" b="0">
                <a:solidFill>
                  <a:srgbClr val="2B2B2B"/>
                </a:solidFill>
                <a:latin typeface="Century Gothic"/>
              </a:rPr>
              <a:t>      https://eprovide.mapi-trust.org/instruments/perceived-stress-scale-10-items</a:t>
            </a:r>
          </a:p>
          <a:p>
            <a:pPr>
              <a:spcAft>
                <a:spcPts val="600"/>
              </a:spcAft>
            </a:pPr>
            <a:r>
              <a:rPr sz="1100" b="0">
                <a:solidFill>
                  <a:srgbClr val="2B2B2B"/>
                </a:solidFill>
                <a:latin typeface="Century Gothic"/>
              </a:rPr>
              <a:t>S22  Perceived Stress Scale 10 item (PSS 10) (National Institutes of Health). verified link</a:t>
            </a:r>
          </a:p>
          <a:p>
            <a:pPr>
              <a:spcAft>
                <a:spcPts val="600"/>
              </a:spcAft>
            </a:pPr>
            <a:r>
              <a:rPr sz="1100" b="0">
                <a:solidFill>
                  <a:srgbClr val="2B2B2B"/>
                </a:solidFill>
                <a:latin typeface="Century Gothic"/>
              </a:rPr>
              <a:t>      https://www.nih.gov/node/20256</a:t>
            </a:r>
          </a:p>
          <a:p>
            <a:pPr>
              <a:spcAft>
                <a:spcPts val="600"/>
              </a:spcAft>
            </a:pPr>
            <a:r>
              <a:rPr sz="1100" b="0">
                <a:solidFill>
                  <a:srgbClr val="2B2B2B"/>
                </a:solidFill>
                <a:latin typeface="Century Gothic"/>
              </a:rPr>
              <a:t>S23  Housing Search Assistance Toolkit: Client Intake and Case Management Resources (U.S. Department of Housing and Urban Development, HUD Exchange). verified link</a:t>
            </a:r>
          </a:p>
          <a:p>
            <a:pPr>
              <a:spcAft>
                <a:spcPts val="600"/>
              </a:spcAft>
            </a:pPr>
            <a:r>
              <a:rPr sz="1100" b="0">
                <a:solidFill>
                  <a:srgbClr val="2B2B2B"/>
                </a:solidFill>
                <a:latin typeface="Century Gothic"/>
              </a:rPr>
              <a:t>      https://www.hudexchange.info/resources/housingsearchtool/?housingsearchtoolaction=public%3Amain.client-intake-and-case-management-resources</a:t>
            </a:r>
          </a:p>
          <a:p>
            <a:pPr>
              <a:spcAft>
                <a:spcPts val="600"/>
              </a:spcAft>
            </a:pPr>
            <a:r>
              <a:rPr sz="1100" b="0">
                <a:solidFill>
                  <a:srgbClr val="2B2B2B"/>
                </a:solidFill>
                <a:latin typeface="Century Gothic"/>
              </a:rPr>
              <a:t>S24  211 Connecticut: Housing (United Way of Connecticut / 211 Connecticut). verified link</a:t>
            </a:r>
          </a:p>
          <a:p>
            <a:pPr>
              <a:spcAft>
                <a:spcPts val="600"/>
              </a:spcAft>
            </a:pPr>
            <a:r>
              <a:rPr sz="1100" b="0">
                <a:solidFill>
                  <a:srgbClr val="2B2B2B"/>
                </a:solidFill>
                <a:latin typeface="Century Gothic"/>
              </a:rPr>
              <a:t>      https://www.211ct.org/topic_pages/housing</a:t>
            </a:r>
          </a:p>
          <a:p>
            <a:pPr>
              <a:spcAft>
                <a:spcPts val="600"/>
              </a:spcAft>
            </a:pPr>
            <a:r>
              <a:rPr sz="1100" b="0">
                <a:solidFill>
                  <a:srgbClr val="2B2B2B"/>
                </a:solidFill>
                <a:latin typeface="Century Gothic"/>
              </a:rPr>
              <a:t>S25  CoC Performance Profile Reports (U.S. Department of Housing and Urban Development, HUD Exchange). verified link</a:t>
            </a:r>
          </a:p>
          <a:p>
            <a:pPr>
              <a:spcAft>
                <a:spcPts val="600"/>
              </a:spcAft>
            </a:pPr>
            <a:r>
              <a:rPr sz="1100" b="0">
                <a:solidFill>
                  <a:srgbClr val="2B2B2B"/>
                </a:solidFill>
                <a:latin typeface="Century Gothic"/>
              </a:rPr>
              <a:t>      https://www.hudexchange.info/programs/coc/coc-performance-profile-reports/</a:t>
            </a:r>
          </a:p>
          <a:p>
            <a:pPr>
              <a:spcAft>
                <a:spcPts val="600"/>
              </a:spcAft>
            </a:pPr>
            <a:r>
              <a:rPr sz="1100" b="0">
                <a:solidFill>
                  <a:srgbClr val="2B2B2B"/>
                </a:solidFill>
                <a:latin typeface="Century Gothic"/>
              </a:rPr>
              <a:t>S26  System Performance Measures Introductory Guide (U.S. Department of Housing and Urban Development, HUD Exchange). verified link</a:t>
            </a:r>
          </a:p>
          <a:p>
            <a:pPr>
              <a:spcAft>
                <a:spcPts val="600"/>
              </a:spcAft>
            </a:pPr>
            <a:r>
              <a:rPr sz="1100" b="0">
                <a:solidFill>
                  <a:srgbClr val="2B2B2B"/>
                </a:solidFill>
                <a:latin typeface="Century Gothic"/>
              </a:rPr>
              <a:t>      https://files.hudexchange.info/resources/documents/System-Performance-Measures-Introductory-Guide.pdf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B2B2B"/>
        </a:solidFill>
        <a:effectLst/>
      </p:bgPr>
    </p:bg>
    <p:spTree>
      <p:nvGrpSpPr>
        <p:cNvPr id="1" name=""/>
        <p:cNvGrpSpPr/>
        <p:nvPr/>
      </p:nvGrpSpPr>
      <p:grpSpPr/>
      <p:sp>
        <p:nvSpPr>
          <p:cNvPr id="2" name="TextBox 1"/>
          <p:cNvSpPr txBox="1"/>
          <p:nvPr/>
        </p:nvSpPr>
        <p:spPr>
          <a:xfrm>
            <a:off x="731520" y="548640"/>
            <a:ext cx="10058400" cy="822960"/>
          </a:xfrm>
          <a:prstGeom prst="rect">
            <a:avLst/>
          </a:prstGeom>
          <a:noFill/>
        </p:spPr>
        <p:txBody>
          <a:bodyPr wrap="square">
            <a:spAutoFit/>
          </a:bodyPr>
          <a:lstStyle/>
          <a:p>
            <a:pPr>
              <a:spcAft>
                <a:spcPts val="600"/>
              </a:spcAft>
            </a:pPr>
            <a:r>
              <a:rPr sz="3000" b="1">
                <a:solidFill>
                  <a:srgbClr val="FFFFFF"/>
                </a:solidFill>
                <a:latin typeface="Century Gothic"/>
              </a:rPr>
              <a:t>THIS DECK IS YOURS</a:t>
            </a:r>
          </a:p>
        </p:txBody>
      </p:sp>
      <p:sp>
        <p:nvSpPr>
          <p:cNvPr id="3" name="TextBox 2"/>
          <p:cNvSpPr txBox="1"/>
          <p:nvPr/>
        </p:nvSpPr>
        <p:spPr>
          <a:xfrm>
            <a:off x="731520" y="1645920"/>
            <a:ext cx="10515600" cy="4114800"/>
          </a:xfrm>
          <a:prstGeom prst="rect">
            <a:avLst/>
          </a:prstGeom>
          <a:noFill/>
        </p:spPr>
        <p:txBody>
          <a:bodyPr wrap="square">
            <a:spAutoFit/>
          </a:bodyPr>
          <a:lstStyle/>
          <a:p>
            <a:pPr>
              <a:spcAft>
                <a:spcPts val="600"/>
              </a:spcAft>
            </a:pPr>
            <a:r>
              <a:rPr sz="1800" b="0">
                <a:solidFill>
                  <a:srgbClr val="FFFFFF"/>
                </a:solidFill>
                <a:latin typeface="Century Gothic"/>
              </a:rPr>
              <a:t>Edit anything: it's a normal PowerPoint file.</a:t>
            </a:r>
          </a:p>
          <a:p>
            <a:pPr>
              <a:spcAft>
                <a:spcPts val="600"/>
              </a:spcAft>
            </a:pPr>
            <a:r>
              <a:rPr sz="1800" b="0">
                <a:solidFill>
                  <a:srgbClr val="FFFFFF"/>
                </a:solidFill>
                <a:latin typeface="Century Gothic"/>
              </a:rPr>
              <a:t>Next in Through Line: build these questions into surveys and staff forms, collect pre and post data, and turn the results into charts for funders.</a:t>
            </a:r>
          </a:p>
        </p:txBody>
      </p:sp>
      <p:sp>
        <p:nvSpPr>
          <p:cNvPr id="4" name="Oval 3"/>
          <p:cNvSpPr/>
          <p:nvPr/>
        </p:nvSpPr>
        <p:spPr>
          <a:xfrm>
            <a:off x="731520" y="5669280"/>
            <a:ext cx="457200" cy="457200"/>
          </a:xfrm>
          <a:prstGeom prst="ellipse">
            <a:avLst/>
          </a:prstGeom>
          <a:solidFill>
            <a:srgbClr val="D96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34440" y="5669280"/>
            <a:ext cx="457200" cy="457200"/>
          </a:xfrm>
          <a:prstGeom prst="rect">
            <a:avLst/>
          </a:prstGeom>
          <a:solidFill>
            <a:srgbClr val="3E63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737360" y="5669280"/>
            <a:ext cx="457200" cy="457200"/>
          </a:xfrm>
          <a:prstGeom prst="triangle">
            <a:avLst/>
          </a:prstGeom>
          <a:solidFill>
            <a:srgbClr val="E8B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