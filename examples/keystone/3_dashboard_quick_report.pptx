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improved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Sheet1!$A$2:$A$4</c:f>
              <c:strCache>
                <c:ptCount val="3"/>
                <c:pt idx="0">
                  <c:v>Confidence addressing a rent or landlord…</c:v>
                </c:pt>
                <c:pt idx="1">
                  <c:v>Knowing where to seek help for a chosen…</c:v>
                </c:pt>
                <c:pt idx="2">
                  <c:v>Parent-reported stress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60</c:v>
                </c:pt>
                <c:pt idx="2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1F4E5F"/>
            </a:solidFill>
          </c:spPr>
          <c:dPt>
            <c:idx val="0"/>
            <c:spPr>
              <a:solidFill>
                <a:srgbClr val="C9CDD3"/>
              </a:solidFill>
            </c:spPr>
          </c:dPt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3.35</c:v>
                </c:pt>
                <c:pt idx="1">
                  <c:v>6.6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3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yes</c:v>
                </c:pt>
              </c:strCache>
            </c:strRef>
          </c:tx>
          <c:spPr>
            <a:solidFill>
              <a:srgbClr val="1F4E5F"/>
            </a:solidFill>
          </c:spPr>
          <c:dPt>
            <c:idx val="0"/>
            <c:spPr>
              <a:solidFill>
                <a:srgbClr val="C9CDD3"/>
              </a:solidFill>
            </c:spPr>
          </c:dPt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1F4E5F"/>
            </a:solidFill>
          </c:spPr>
          <c:dPt>
            <c:idx val="0"/>
            <c:spPr>
              <a:solidFill>
                <a:srgbClr val="C9CDD3"/>
              </a:solidFill>
            </c:spPr>
          </c:dPt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2.55</c:v>
                </c:pt>
                <c:pt idx="1">
                  <c:v>3.6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3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Sheet1!$A$2:$A$5</c:f>
              <c:strCache>
                <c:ptCount val="4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Groups under 5 (hidden)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46</c:v>
                </c:pt>
                <c:pt idx="2">
                  <c:v>25</c:v>
                </c:pt>
                <c:pt idx="3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Sheet1!$A$2:$A$3</c:f>
              <c:strCache>
                <c:ptCount val="2"/>
                <c:pt idx="0">
                  <c:v>Woman</c:v>
                </c:pt>
                <c:pt idx="1">
                  <c:v>Groups under 5 (hidden)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17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Sheet1!$A$2:$A$4</c:f>
              <c:strCache>
                <c:ptCount val="3"/>
                <c:pt idx="0">
                  <c:v>Black or African American</c:v>
                </c:pt>
                <c:pt idx="1">
                  <c:v>Hispanic or Latino/a/e</c:v>
                </c:pt>
                <c:pt idx="2">
                  <c:v>Groups under 5 (hidden)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33</c:v>
                </c:pt>
                <c:pt idx="2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Spanish</c:v>
                </c:pt>
                <c:pt idx="2">
                  <c:v>Groups under 5 (hidden)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33</c:v>
                </c:pt>
                <c:pt idx="2">
                  <c:v>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Sheet1!$A$2:$A$4</c:f>
              <c:strCache>
                <c:ptCount val="3"/>
                <c:pt idx="0">
                  <c:v>New Haven</c:v>
                </c:pt>
                <c:pt idx="1">
                  <c:v>West Haven</c:v>
                </c:pt>
                <c:pt idx="2">
                  <c:v>Groups under 5 (hidden)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29</c:v>
                </c:pt>
                <c:pt idx="2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Sheet1!$A$2:$A$2</c:f>
              <c:strCache>
                <c:ptCount val="1"/>
                <c:pt idx="0">
                  <c:v>Yes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in the reporting cohort have had the full, comparable observation period to move into housing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11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10.0</c:v>
                </c:pt>
                <c:pt idx="5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in that cohort moved into permanent housing during the observation period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</c:v>
                </c:pt>
                <c:pt idx="1">
                  <c:v>7.0</c:v>
                </c:pt>
                <c:pt idx="2">
                  <c:v>8.0</c:v>
                </c:pt>
                <c:pt idx="3">
                  <c:v>7.0</c:v>
                </c:pt>
                <c:pt idx="4">
                  <c:v>8.0</c:v>
                </c:pt>
                <c:pt idx="5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Among families who moved in, what was the median number of days from enrollment to move-in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36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44.0</c:v>
                </c:pt>
                <c:pt idx="1">
                  <c:v>41.0</c:v>
                </c:pt>
                <c:pt idx="2">
                  <c:v>39.0</c:v>
                </c:pt>
                <c:pt idx="3">
                  <c:v>42.0</c:v>
                </c:pt>
                <c:pt idx="4">
                  <c:v>38.0</c:v>
                </c:pt>
                <c:pt idx="5">
                  <c:v>36.0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are due for a 12-month housing-status follow-up after move-in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</c:v>
                </c:pt>
                <c:pt idx="1">
                  <c:v>6.0</c:v>
                </c:pt>
                <c:pt idx="2">
                  <c:v>6.0</c:v>
                </c:pt>
                <c:pt idx="3">
                  <c:v>7.0</c:v>
                </c:pt>
                <c:pt idx="4">
                  <c:v>6.0</c:v>
                </c:pt>
                <c:pt idx="5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due for follow-up were contacted, and how many had a known housing status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</c:v>
                </c:pt>
                <c:pt idx="1">
                  <c:v>6.0</c:v>
                </c:pt>
                <c:pt idx="2">
                  <c:v>6.0</c:v>
                </c:pt>
                <c:pt idx="3">
                  <c:v>7.0</c:v>
                </c:pt>
                <c:pt idx="4">
                  <c:v>6.0</c:v>
                </c:pt>
                <c:pt idx="5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with a known status were in permanent housing at follow-up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4.0</c:v>
                </c:pt>
                <c:pt idx="2">
                  <c:v>4.0</c:v>
                </c:pt>
                <c:pt idx="3">
                  <c:v>5.0</c:v>
                </c:pt>
                <c:pt idx="4">
                  <c:v>4.0</c:v>
                </c:pt>
                <c:pt idx="5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713232"/>
            <a:ext cx="1042415" cy="1042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FFFFFF"/>
                </a:solidFill>
                <a:latin typeface="Calibri"/>
              </a:rPr>
              <a:t>Every family, a home to build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603504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23262B"/>
                </a:solidFill>
                <a:latin typeface="Georgia"/>
              </a:rPr>
              <a:t>Impact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16052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6B6F76"/>
                </a:solidFill>
                <a:latin typeface="Calibri"/>
              </a:rPr>
              <a:t>Keystone Family Housing: Rapid Rehousing, Stay Housed, and Fresh Start Furniture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035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6B6F76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286000"/>
            <a:ext cx="3505200" cy="301752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05200" cy="8229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286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 i="0">
                <a:solidFill>
                  <a:srgbClr val="1F4E5F"/>
                </a:solidFill>
                <a:latin typeface="Georgia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286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262B"/>
                </a:solidFill>
                <a:latin typeface="Calibri"/>
              </a:rPr>
              <a:t>participants enrolled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8160" y="2286000"/>
            <a:ext cx="3505200" cy="301752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3505200" cy="822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697480"/>
            <a:ext cx="286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 i="0">
                <a:solidFill>
                  <a:srgbClr val="1F4E5F"/>
                </a:solidFill>
                <a:latin typeface="Georgia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4069080"/>
            <a:ext cx="286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262B"/>
                </a:solidFill>
                <a:latin typeface="Calibri"/>
              </a:rPr>
              <a:t>answered both the starting and ending survey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7680" y="2286000"/>
            <a:ext cx="3505200" cy="301752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7680" y="2286000"/>
            <a:ext cx="3505200" cy="822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7720" y="2697480"/>
            <a:ext cx="286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 i="0">
                <a:solidFill>
                  <a:srgbClr val="1F4E5F"/>
                </a:solidFill>
                <a:latin typeface="Georgia"/>
              </a:rPr>
              <a:t>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7720" y="4069080"/>
            <a:ext cx="286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262B"/>
                </a:solidFill>
                <a:latin typeface="Calibri"/>
              </a:rPr>
              <a:t>improved: confidence addressing a rent or landlord issue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OUR THEORY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How change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874519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23262B"/>
                </a:solidFill>
                <a:latin typeface="Calibri"/>
              </a:rPr>
              <a:t>If Keystone helps families move quickly into permanent housing with time-limited rent assistance, move-in essentials, and voluntary, individualized case management, then families can settle into housing and address barriers that threaten stability. This support is intended to help families remain housed after assistance ends…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3246120"/>
            <a:ext cx="3474720" cy="502920"/>
          </a:xfrm>
          <a:prstGeom prst="homePlate">
            <a:avLst/>
          </a:prstGeom>
          <a:solidFill>
            <a:srgbClr val="C9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23262B"/>
                </a:solidFill>
                <a:latin typeface="Calibri"/>
              </a:rPr>
              <a:t>WHAT WE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Identify apartments and help families move into permanent housing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Pay security deposits and first month’s rent, then step down rent help for up to 12 months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Offer voluntary, individualized Stay Housed case management through home visits; frequency is adjusted…</a:t>
            </a:r>
          </a:p>
        </p:txBody>
      </p:sp>
      <p:sp>
        <p:nvSpPr>
          <p:cNvPr id="12" name="Pentagon 11"/>
          <p:cNvSpPr/>
          <p:nvPr/>
        </p:nvSpPr>
        <p:spPr>
          <a:xfrm>
            <a:off x="4297679" y="3246120"/>
            <a:ext cx="3474720" cy="502920"/>
          </a:xfrm>
          <a:prstGeom prst="homePlate">
            <a:avLst/>
          </a:prstGeom>
          <a:solidFill>
            <a:srgbClr val="799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CHANGES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38862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Families move from homelessness into permanent housing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Families report greater confidence taking a next step to address a rent or landlord issue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Parents report feeling more in control and less stressed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3246120"/>
            <a:ext cx="3474720" cy="50292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LASTS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8862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Families remain housed after time-limited rental assistance ends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Fewer families return to homelessness or shelter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Most participants improved on what we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965960"/>
          <a:ext cx="758952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8503920" y="2148840"/>
            <a:ext cx="73152" cy="219456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103120"/>
            <a:ext cx="28346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262B"/>
                </a:solidFill>
                <a:latin typeface="Calibri"/>
              </a:rPr>
              <a:t>The share of participants whose answers improved between the start and end of the program.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754880"/>
            <a:ext cx="2834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6B6F76"/>
                </a:solidFill>
                <a:latin typeface="Calibri"/>
              </a:rPr>
              <a:t>Among participants with both a pre and a post answer. 'Improved' means at least 1 point higher on rating scales, or moving from no to yes.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Before and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Confidence addressing a rent or landlord issue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20 participants answered both pre and post.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Knowing where to seek help for a chosen need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20 participants answered both pre and post.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Parent-reported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01168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59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6B6F76"/>
                </a:solidFill>
                <a:latin typeface="Calibri"/>
              </a:rPr>
              <a:t>20 participants answered both pre and post.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Who we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Age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Gender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Who we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Race and ethnicity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 (people could choose more than one, so shares can add up to more than 100%). Groups with fewer than 5…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Language spoken at home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Who we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Town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Children under 18 at home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FROM OUR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Program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How many families in the reporting cohort have had the full, comparable observation period to move…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11.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How many families in that cohort moved into permanent housing during the observation period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FROM OUR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Program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Among families who moved in, what was the median number of days from enrollment to move-in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36.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How many families are due for a 12-month housing-status follow-up after move-in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FROM OUR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Program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How many families due for follow-up were contacted, and how many had a known housing status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3262B"/>
                </a:solidFill>
                <a:latin typeface="Georgia"/>
              </a:rPr>
              <a:t>How many families with a known status were in permanent housing at follow-up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PARTICIPANT 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In their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103120"/>
            <a:ext cx="3474720" cy="356616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 i="0">
                <a:solidFill>
                  <a:srgbClr val="F2C14E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23262B"/>
                </a:solidFill>
                <a:latin typeface="Calibri"/>
              </a:rPr>
              <a:t>When the landlord tried to raise the rent, my case manager helped me talk to him.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103120"/>
            <a:ext cx="3474720" cy="356616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148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 i="0">
                <a:solidFill>
                  <a:srgbClr val="F2C14E"/>
                </a:solidFill>
                <a:latin typeface="Georgia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9260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23262B"/>
                </a:solidFill>
                <a:latin typeface="Calibri"/>
              </a:rPr>
              <a:t>I learned to put rent first and plan the rest around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103120"/>
            <a:ext cx="3474720" cy="356616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148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 i="0">
                <a:solidFill>
                  <a:srgbClr val="F2C14E"/>
                </a:solidFill>
                <a:latin typeface="Georgia"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23262B"/>
                </a:solidFill>
                <a:latin typeface="Calibri"/>
              </a:rPr>
              <a:t>My kids have their own beds now. They sleep through the night.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 i="0">
                <a:solidFill>
                  <a:srgbClr val="6B6F76"/>
                </a:solidFill>
                <a:latin typeface="Calibri"/>
              </a:rPr>
              <a:t>Shared anonymously. Check that no one can be identified before sharing.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About this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2258568"/>
            <a:ext cx="347472" cy="347472"/>
          </a:xfrm>
          <a:prstGeom prst="ellipse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7685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03704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3262B"/>
                </a:solidFill>
                <a:latin typeface="Calibri"/>
              </a:rPr>
              <a:t>Participants are known only by a code. Names are never collected.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46120"/>
            <a:ext cx="347472" cy="347472"/>
          </a:xfrm>
          <a:prstGeom prst="ellipse">
            <a:avLst/>
          </a:prstGeom>
          <a:solidFill>
            <a:srgbClr val="507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6440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91256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3262B"/>
                </a:solidFill>
                <a:latin typeface="Calibri"/>
              </a:rPr>
              <a:t>Change is measured with the same questions at the start and end, for people who answered both.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33672"/>
            <a:ext cx="347472" cy="347472"/>
          </a:xfrm>
          <a:prstGeom prst="ellipse">
            <a:avLst/>
          </a:prstGeom>
          <a:solidFill>
            <a:srgbClr val="829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51959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78807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3262B"/>
                </a:solidFill>
                <a:latin typeface="Calibri"/>
              </a:rPr>
              <a:t>Groups with fewer than 5 people are combined so no one can be identified.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221224"/>
            <a:ext cx="347472" cy="347472"/>
          </a:xfrm>
          <a:prstGeom prst="ellipse">
            <a:avLst/>
          </a:prstGeom>
          <a:solidFill>
            <a:srgbClr val="B3C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3951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59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3262B"/>
                </a:solidFill>
                <a:latin typeface="Calibri"/>
              </a:rPr>
              <a:t>Program numbers come from the organization's own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