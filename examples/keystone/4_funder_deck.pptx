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improved</c:v>
                </c:pt>
              </c:strCache>
            </c:strRef>
          </c:tx>
          <c:spPr>
            <a:solidFill>
              <a:srgbClr val="1F4E5F"/>
            </a:solidFill>
          </c:spPr>
          <c:cat>
            <c:strRef>
              <c:f>Sheet1!$A$2:$A$4</c:f>
              <c:strCache>
                <c:ptCount val="3"/>
                <c:pt idx="0">
                  <c:v>Confidence addressing a rent or landlord…</c:v>
                </c:pt>
                <c:pt idx="1">
                  <c:v>Knowing where to seek help for a chosen…</c:v>
                </c:pt>
                <c:pt idx="2">
                  <c:v>Parent-reported stress</c:v>
                </c:pt>
              </c:strCache>
            </c:strRef>
          </c:cat>
          <c:val>
            <c:numRef>
              <c:f>Sheet1!$B$2:$B$4</c:f>
              <c:numCache>
                <c:formatCode>General</c:formatCode>
                <c:ptCount val="3"/>
                <c:pt idx="0">
                  <c:v>85</c:v>
                </c:pt>
                <c:pt idx="1">
                  <c:v>60</c:v>
                </c:pt>
                <c:pt idx="2">
                  <c:v>70</c:v>
                </c:pt>
              </c:numCache>
            </c:numRef>
          </c:val>
        </c:ser>
        <c:dLbls>
          <c:numFmt formatCode="0&quot;%&quot;" sourceLinked="0"/>
          <c:txPr>
            <a:bodyPr/>
            <a:lstStyle/>
            <a:p>
              <a:pPr>
                <a:defRPr sz="1200" b="1">
                  <a:solidFill>
                    <a:srgbClr val="23262B"/>
                  </a:solidFill>
                  <a:latin typeface="Calibr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out"/>
        <c:minorTickMark val="none"/>
        <c:tickLblPos val="nextTo"/>
        <c:spPr>
          <a:ln>
            <a:solidFill>
              <a:srgbClr val="C9CDD3"/>
            </a:solidFill>
          </a:ln>
        </c:spPr>
        <c:txPr>
          <a:bodyPr/>
          <a:lstStyle/>
          <a:p>
            <a:pPr>
              <a:defRPr sz="1200">
                <a:solidFill>
                  <a:srgbClr val="23262B"/>
                </a:solidFill>
                <a:latin typeface="Calibri"/>
              </a:defRPr>
            </a:pPr>
          </a:p>
        </c:txPr>
        <c:crossAx val="-2113994440"/>
        <c:crosses val="autoZero"/>
        <c:auto val="1"/>
        <c:lblAlgn val="ctr"/>
        <c:lblOffset val="100"/>
        <c:noMultiLvlLbl val="0"/>
      </c:catAx>
      <c:valAx>
        <c:axId val="-2113994440"/>
        <c:scaling>
          <c:max val="118.0"/>
          <c:min val="0.0"/>
        </c:scaling>
        <c:delete val="0"/>
        <c:axPos val="b"/>
        <c:majorTickMark val="out"/>
        <c:minorTickMark val="none"/>
        <c:tickLblPos val="none"/>
        <c:spPr>
          <a:ln>
            <a:noFill/>
          </a:ln>
        </c:spPr>
        <c:crossAx val="-2068027336"/>
        <c:crosses val="autoZero"/>
      </c:valAx>
    </c:plotArea>
    <c:dispBlanksAs val="gap"/>
  </c:chart>
  <c:txPr>
    <a:bodyPr/>
    <a:lstStyle/>
    <a:p>
      <a:pPr>
        <a:defRPr sz="1200">
          <a:solidFill>
            <a:srgbClr val="23262B"/>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Average</c:v>
                </c:pt>
              </c:strCache>
            </c:strRef>
          </c:tx>
          <c:spPr>
            <a:solidFill>
              <a:srgbClr val="1F4E5F"/>
            </a:solidFill>
          </c:spPr>
          <c:dPt>
            <c:idx val="0"/>
            <c:spPr>
              <a:solidFill>
                <a:srgbClr val="C9CDD3"/>
              </a:solidFill>
            </c:spPr>
          </c:dPt>
          <c:cat>
            <c:strRef>
              <c:f>Sheet1!$A$2:$A$3</c:f>
              <c:strCache>
                <c:ptCount val="2"/>
                <c:pt idx="0">
                  <c:v>Before</c:v>
                </c:pt>
                <c:pt idx="1">
                  <c:v>After</c:v>
                </c:pt>
              </c:strCache>
            </c:strRef>
          </c:cat>
          <c:val>
            <c:numRef>
              <c:f>Sheet1!$B$2:$B$3</c:f>
              <c:numCache>
                <c:formatCode>General</c:formatCode>
                <c:ptCount val="2"/>
                <c:pt idx="0">
                  <c:v>3.35</c:v>
                </c:pt>
                <c:pt idx="1">
                  <c:v>6.6</c:v>
                </c:pt>
              </c:numCache>
            </c:numRef>
          </c:val>
        </c:ser>
        <c:dLbls>
          <c:numFmt formatCode="#,##0.00" sourceLinked="0"/>
          <c:txPr>
            <a:bodyPr/>
            <a:lstStyle/>
            <a:p>
              <a:pPr>
                <a:defRPr sz="1300" b="1">
                  <a:solidFill>
                    <a:srgbClr val="23262B"/>
                  </a:solidFill>
                  <a:latin typeface="Calibri"/>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C9CDD3"/>
            </a:solidFill>
          </a:ln>
        </c:spPr>
        <c:txPr>
          <a:bodyPr/>
          <a:lstStyle/>
          <a:p>
            <a:pPr>
              <a:defRPr sz="1200">
                <a:solidFill>
                  <a:srgbClr val="23262B"/>
                </a:solidFill>
                <a:latin typeface="Calibri"/>
              </a:defRPr>
            </a:pPr>
          </a:p>
        </c:txPr>
        <c:crossAx val="-2113994440"/>
        <c:crosses val="autoZero"/>
        <c:auto val="1"/>
        <c:lblAlgn val="ctr"/>
        <c:lblOffset val="100"/>
        <c:noMultiLvlLbl val="0"/>
      </c:catAx>
      <c:valAx>
        <c:axId val="-2113994440"/>
        <c:scaling>
          <c:min val="0.0"/>
        </c:scaling>
        <c:delete val="0"/>
        <c:axPos val="l"/>
        <c:majorTickMark val="out"/>
        <c:minorTickMark val="none"/>
        <c:tickLblPos val="none"/>
        <c:spPr>
          <a:ln>
            <a:noFill/>
          </a:ln>
        </c:spPr>
        <c:crossAx val="-2068027336"/>
        <c:crosses val="autoZero"/>
      </c:valAx>
    </c:plotArea>
    <c:dispBlanksAs val="gap"/>
  </c:chart>
  <c:txPr>
    <a:bodyPr/>
    <a:lstStyle/>
    <a:p>
      <a:pPr>
        <a:defRPr sz="1200">
          <a:solidFill>
            <a:srgbClr val="23262B"/>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yes</c:v>
                </c:pt>
              </c:strCache>
            </c:strRef>
          </c:tx>
          <c:spPr>
            <a:solidFill>
              <a:srgbClr val="1F4E5F"/>
            </a:solidFill>
          </c:spPr>
          <c:dPt>
            <c:idx val="0"/>
            <c:spPr>
              <a:solidFill>
                <a:srgbClr val="C9CDD3"/>
              </a:solidFill>
            </c:spPr>
          </c:dPt>
          <c:cat>
            <c:strRef>
              <c:f>Sheet1!$A$2:$A$3</c:f>
              <c:strCache>
                <c:ptCount val="2"/>
                <c:pt idx="0">
                  <c:v>Before</c:v>
                </c:pt>
                <c:pt idx="1">
                  <c:v>After</c:v>
                </c:pt>
              </c:strCache>
            </c:strRef>
          </c:cat>
          <c:val>
            <c:numRef>
              <c:f>Sheet1!$B$2:$B$3</c:f>
              <c:numCache>
                <c:formatCode>General</c:formatCode>
                <c:ptCount val="2"/>
                <c:pt idx="0">
                  <c:v>20</c:v>
                </c:pt>
                <c:pt idx="1">
                  <c:v>70</c:v>
                </c:pt>
              </c:numCache>
            </c:numRef>
          </c:val>
        </c:ser>
        <c:dLbls>
          <c:numFmt formatCode="0&quot;%&quot;" sourceLinked="0"/>
          <c:txPr>
            <a:bodyPr/>
            <a:lstStyle/>
            <a:p>
              <a:pPr>
                <a:defRPr sz="1300" b="1">
                  <a:solidFill>
                    <a:srgbClr val="23262B"/>
                  </a:solidFill>
                  <a:latin typeface="Calibri"/>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C9CDD3"/>
            </a:solidFill>
          </a:ln>
        </c:spPr>
        <c:txPr>
          <a:bodyPr/>
          <a:lstStyle/>
          <a:p>
            <a:pPr>
              <a:defRPr sz="1200">
                <a:solidFill>
                  <a:srgbClr val="23262B"/>
                </a:solidFill>
                <a:latin typeface="Calibri"/>
              </a:defRPr>
            </a:pPr>
          </a:p>
        </c:txPr>
        <c:crossAx val="-2113994440"/>
        <c:crosses val="autoZero"/>
        <c:auto val="1"/>
        <c:lblAlgn val="ctr"/>
        <c:lblOffset val="100"/>
        <c:noMultiLvlLbl val="0"/>
      </c:catAx>
      <c:valAx>
        <c:axId val="-2113994440"/>
        <c:scaling>
          <c:max val="118.0"/>
          <c:min val="0.0"/>
        </c:scaling>
        <c:delete val="0"/>
        <c:axPos val="l"/>
        <c:majorTickMark val="out"/>
        <c:minorTickMark val="none"/>
        <c:tickLblPos val="none"/>
        <c:spPr>
          <a:ln>
            <a:noFill/>
          </a:ln>
        </c:spPr>
        <c:crossAx val="-2068027336"/>
        <c:crosses val="autoZero"/>
      </c:valAx>
    </c:plotArea>
    <c:dispBlanksAs val="gap"/>
  </c:chart>
  <c:txPr>
    <a:bodyPr/>
    <a:lstStyle/>
    <a:p>
      <a:pPr>
        <a:defRPr sz="1200">
          <a:solidFill>
            <a:srgbClr val="23262B"/>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Average</c:v>
                </c:pt>
              </c:strCache>
            </c:strRef>
          </c:tx>
          <c:spPr>
            <a:solidFill>
              <a:srgbClr val="1F4E5F"/>
            </a:solidFill>
          </c:spPr>
          <c:dPt>
            <c:idx val="0"/>
            <c:spPr>
              <a:solidFill>
                <a:srgbClr val="C9CDD3"/>
              </a:solidFill>
            </c:spPr>
          </c:dPt>
          <c:cat>
            <c:strRef>
              <c:f>Sheet1!$A$2:$A$3</c:f>
              <c:strCache>
                <c:ptCount val="2"/>
                <c:pt idx="0">
                  <c:v>Before</c:v>
                </c:pt>
                <c:pt idx="1">
                  <c:v>After</c:v>
                </c:pt>
              </c:strCache>
            </c:strRef>
          </c:cat>
          <c:val>
            <c:numRef>
              <c:f>Sheet1!$B$2:$B$3</c:f>
              <c:numCache>
                <c:formatCode>General</c:formatCode>
                <c:ptCount val="2"/>
                <c:pt idx="0">
                  <c:v>2.55</c:v>
                </c:pt>
                <c:pt idx="1">
                  <c:v>3.6</c:v>
                </c:pt>
              </c:numCache>
            </c:numRef>
          </c:val>
        </c:ser>
        <c:dLbls>
          <c:numFmt formatCode="#,##0.00" sourceLinked="0"/>
          <c:txPr>
            <a:bodyPr/>
            <a:lstStyle/>
            <a:p>
              <a:pPr>
                <a:defRPr sz="1300" b="1">
                  <a:solidFill>
                    <a:srgbClr val="23262B"/>
                  </a:solidFill>
                  <a:latin typeface="Calibri"/>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C9CDD3"/>
            </a:solidFill>
          </a:ln>
        </c:spPr>
        <c:txPr>
          <a:bodyPr/>
          <a:lstStyle/>
          <a:p>
            <a:pPr>
              <a:defRPr sz="1200">
                <a:solidFill>
                  <a:srgbClr val="23262B"/>
                </a:solidFill>
                <a:latin typeface="Calibri"/>
              </a:defRPr>
            </a:pPr>
          </a:p>
        </c:txPr>
        <c:crossAx val="-2113994440"/>
        <c:crosses val="autoZero"/>
        <c:auto val="1"/>
        <c:lblAlgn val="ctr"/>
        <c:lblOffset val="100"/>
        <c:noMultiLvlLbl val="0"/>
      </c:catAx>
      <c:valAx>
        <c:axId val="-2113994440"/>
        <c:scaling>
          <c:min val="0.0"/>
        </c:scaling>
        <c:delete val="0"/>
        <c:axPos val="l"/>
        <c:majorTickMark val="out"/>
        <c:minorTickMark val="none"/>
        <c:tickLblPos val="none"/>
        <c:spPr>
          <a:ln>
            <a:noFill/>
          </a:ln>
        </c:spPr>
        <c:crossAx val="-2068027336"/>
        <c:crosses val="autoZero"/>
      </c:valAx>
    </c:plotArea>
    <c:dispBlanksAs val="gap"/>
  </c:chart>
  <c:txPr>
    <a:bodyPr/>
    <a:lstStyle/>
    <a:p>
      <a:pPr>
        <a:defRPr sz="1200">
          <a:solidFill>
            <a:srgbClr val="23262B"/>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How many families in the reporting cohort have had the full, comparable observation period to move into housing</c:v>
                </c:pt>
              </c:strCache>
            </c:strRef>
          </c:tx>
          <c:spPr>
            <a:ln w="28575">
              <a:solidFill>
                <a:srgbClr val="1F4E5F"/>
              </a:solidFill>
            </a:ln>
          </c:spPr>
          <c:marker>
            <c:size val="7"/>
            <c:spPr>
              <a:solidFill>
                <a:srgbClr val="1F4E5F"/>
              </a:solidFill>
              <a:ln>
                <a:solidFill>
                  <a:srgbClr val="FFFFFF"/>
                </a:solidFill>
              </a:ln>
            </c:spPr>
          </c:marker>
          <c:dLbls>
            <c:dLbl>
              <c:idx val="5"/>
              <c:tx>
                <c:rich>
                  <a:bodyPr/>
                  <a:lstStyle/>
                  <a:p>
                    <a:r>
                      <a:rPr sz="1200" b="1">
                        <a:solidFill>
                          <a:srgbClr val="23262B"/>
                        </a:solidFill>
                        <a:latin typeface="Calibri"/>
                      </a:rPr>
                      <a:t>11</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Apr 26</c:v>
                </c:pt>
                <c:pt idx="1">
                  <c:v>May 26</c:v>
                </c:pt>
                <c:pt idx="2">
                  <c:v>Jun 26</c:v>
                </c:pt>
                <c:pt idx="3">
                  <c:v>Jul 26</c:v>
                </c:pt>
                <c:pt idx="4">
                  <c:v>Aug 26</c:v>
                </c:pt>
                <c:pt idx="5">
                  <c:v>Sep 26</c:v>
                </c:pt>
              </c:strCache>
            </c:strRef>
          </c:cat>
          <c:val>
            <c:numRef>
              <c:f>Sheet1!$B$2:$B$7</c:f>
              <c:numCache>
                <c:formatCode>General</c:formatCode>
                <c:ptCount val="6"/>
                <c:pt idx="0">
                  <c:v>8.0</c:v>
                </c:pt>
                <c:pt idx="1">
                  <c:v>9.0</c:v>
                </c:pt>
                <c:pt idx="2">
                  <c:v>10.0</c:v>
                </c:pt>
                <c:pt idx="3">
                  <c:v>9.0</c:v>
                </c:pt>
                <c:pt idx="4">
                  <c:v>10.0</c:v>
                </c:pt>
                <c:pt idx="5">
                  <c:v>11.0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CDD3"/>
            </a:solidFill>
          </a:ln>
        </c:spPr>
        <c:txPr>
          <a:bodyPr/>
          <a:lstStyle/>
          <a:p>
            <a:pPr>
              <a:defRPr sz="1100">
                <a:solidFill>
                  <a:srgbClr val="23262B"/>
                </a:solidFill>
                <a:latin typeface="Calibri"/>
              </a:defRPr>
            </a:pPr>
          </a:p>
        </c:txPr>
        <c:crossAx val="2140495176"/>
        <c:crosses val="autoZero"/>
        <c:auto val="1"/>
        <c:lblAlgn val="ctr"/>
        <c:lblOffset val="100"/>
        <c:noMultiLvlLbl val="0"/>
      </c:catAx>
      <c:valAx>
        <c:axId val="2140495176"/>
        <c:scaling>
          <c:min val="0.0"/>
        </c:scaling>
        <c:delete val="0"/>
        <c:axPos val="l"/>
        <c:majorGridlines>
          <c:spPr>
            <a:ln>
              <a:solidFill>
                <a:srgbClr val="E4E6E9"/>
              </a:solidFill>
            </a:ln>
          </c:spPr>
        </c:majorGridlines>
        <c:numFmt formatCode="#,##0" sourceLinked="0"/>
        <c:majorTickMark val="out"/>
        <c:minorTickMark val="none"/>
        <c:tickLblPos val="nextTo"/>
        <c:spPr>
          <a:ln>
            <a:noFill/>
          </a:ln>
        </c:spPr>
        <c:txPr>
          <a:bodyPr/>
          <a:lstStyle/>
          <a:p>
            <a:pPr>
              <a:defRPr sz="1000">
                <a:solidFill>
                  <a:srgbClr val="23262B"/>
                </a:solidFill>
                <a:latin typeface="Calibri"/>
              </a:defRPr>
            </a:pPr>
          </a:p>
        </c:txPr>
        <c:crossAx val="2118791784"/>
        <c:crosses val="autoZero"/>
      </c:valAx>
    </c:plotArea>
    <c:plotVisOnly val="1"/>
    <c:dispBlanksAs val="gap"/>
    <c:showDLblsOverMax val="0"/>
  </c:chart>
  <c:txPr>
    <a:bodyPr/>
    <a:lstStyle/>
    <a:p>
      <a:pPr>
        <a:defRPr sz="1200">
          <a:solidFill>
            <a:srgbClr val="23262B"/>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of participants</c:v>
                </c:pt>
              </c:strCache>
            </c:strRef>
          </c:tx>
          <c:spPr>
            <a:solidFill>
              <a:srgbClr val="1F4E5F"/>
            </a:solidFill>
          </c:spPr>
          <c:cat>
            <c:strRef>
              <c:f>Sheet1!$A$2:$A$2</c:f>
              <c:strCache>
                <c:ptCount val="1"/>
                <c:pt idx="0">
                  <c:v>Yes</c:v>
                </c:pt>
              </c:strCache>
            </c:strRef>
          </c:cat>
          <c:val>
            <c:numRef>
              <c:f>Sheet1!$B$2:$B$2</c:f>
              <c:numCache>
                <c:formatCode>General</c:formatCode>
                <c:ptCount val="1"/>
                <c:pt idx="0">
                  <c:v>100</c:v>
                </c:pt>
              </c:numCache>
            </c:numRef>
          </c:val>
        </c:ser>
        <c:dLbls>
          <c:numFmt formatCode="0&quot;%&quot;" sourceLinked="0"/>
          <c:txPr>
            <a:bodyPr/>
            <a:lstStyle/>
            <a:p>
              <a:pPr>
                <a:defRPr sz="1200" b="1">
                  <a:solidFill>
                    <a:srgbClr val="23262B"/>
                  </a:solidFill>
                  <a:latin typeface="Calibr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out"/>
        <c:minorTickMark val="none"/>
        <c:tickLblPos val="nextTo"/>
        <c:spPr>
          <a:ln>
            <a:solidFill>
              <a:srgbClr val="C9CDD3"/>
            </a:solidFill>
          </a:ln>
        </c:spPr>
        <c:txPr>
          <a:bodyPr/>
          <a:lstStyle/>
          <a:p>
            <a:pPr>
              <a:defRPr sz="1200">
                <a:solidFill>
                  <a:srgbClr val="23262B"/>
                </a:solidFill>
                <a:latin typeface="Calibri"/>
              </a:defRPr>
            </a:pPr>
          </a:p>
        </c:txPr>
        <c:crossAx val="-2113994440"/>
        <c:crosses val="autoZero"/>
        <c:auto val="1"/>
        <c:lblAlgn val="ctr"/>
        <c:lblOffset val="100"/>
        <c:noMultiLvlLbl val="0"/>
      </c:catAx>
      <c:valAx>
        <c:axId val="-2113994440"/>
        <c:scaling>
          <c:max val="118.0"/>
          <c:min val="0.0"/>
        </c:scaling>
        <c:delete val="0"/>
        <c:axPos val="b"/>
        <c:majorTickMark val="out"/>
        <c:minorTickMark val="none"/>
        <c:tickLblPos val="none"/>
        <c:spPr>
          <a:ln>
            <a:noFill/>
          </a:ln>
        </c:spPr>
        <c:crossAx val="-2068027336"/>
        <c:crosses val="autoZero"/>
      </c:valAx>
    </c:plotArea>
    <c:dispBlanksAs val="gap"/>
  </c:chart>
  <c:txPr>
    <a:bodyPr/>
    <a:lstStyle/>
    <a:p>
      <a:pPr>
        <a:defRPr sz="1200">
          <a:solidFill>
            <a:srgbClr val="23262B"/>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making time to hear about Keystone Family Housing Partners. Our work starts with a practical goal: helping families move from homelessness into permanent housing, and helping them build the supports and confidence that can make a home more stable. We will share what the current participant feedback tells us, what it does not yet tell us, and where continued foundation support can help. Our guiding idea is simple: every family, a home to build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move into a home matters enormously, but it is not the whole story. Rent, landlord issues, benefits, child care, school enrollment, and the pressure of settling in can all affect whether a family feels able to move forward. Keystone’s approach pairs help getting into permanent housing with time-limited rent assistance, move-in essentials, and voluntary individualized support. That support is intended to help families remain housed after assistance ends, while recognizing that housing stability also depends on factors outside Keystone’s control.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program combines several supports around each move. Keystone identifies apartments and helps families move into permanent housing, provides security deposits and first month’s rent, and steps down rental help for up to 12 months. Fresh Start Furniture furnishes apartments before move-in. Stay Housed case management is voluntary and individualized, with home-visit frequency adjusted with each family. Together, these supports are meant to ease the move and help families address the practical barriers they identify as important.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here come from a small reporting group, so we want to be clear about who answered. There were 24 participants represented in the headline data, and 20 provided both a pre and post response. Among participants who answered both surveys, 85% improved in confidence addressing a rent or landlord issue. That is an encouraging participant-reported signal. It is not a claim that every family improved, and it is not by itself evidence of long-term housing stability.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brings together three participant-reported measures. Among people with both a pre and a post answer, 85% improved in confidence addressing a rent or landlord issue, 60% improved in knowing where to seek help for a chosen need, and 70% improved on the parent-reported stress measure. Improvement means at least one point higher on a rating scale, or a change from no to yes. These are meaningful short-term signals, but they describe reported change—not proof that the program alone caused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confidence measure, the average rating was 3.35 before and 6.6 after, on a scale from 0 to 10. The same 20 participants answered both the pre and post surveys. This change is consistent with the program’s focus on helping families work through rent and landlord concerns. A confidence rating does not mean a problem was solved, or that a housing challenge will not arise. It does suggest that many respondents felt better equipped to take a next step.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measure asks whether parents know where to seek help for a priority need they chose. Among the 20 participants who answered both surveys, 20% said yes before and 70% said yes after. Knowing where to turn can be a useful step toward addressing needs such as benefits, child care, budgeting, or school enrollment, depending on the family’s priorities. This is a reported measure of knowing where to seek help; it does not tell us whether a service was available or whether the need was ultimately resolved.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stress measure is reverse-scored, so a higher number indicates a better result on this scale. The average moved from 2.55 before to 3.6 after among the 20 participants who answered both surveys. The chart offers a brief view of how parents reported stress while navigating housing-related challenges. It should be read as a change in survey responses, not as a clinical assessment or a promise that stress has gone away. Families’ experiences and circumstances can continue to change.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staff-entered indicator tracks how many families in the reporting cohort have had a full, comparable observation period to move into housing. The count is 11 in 2026-09. It helps us understand whether the cohort has had enough comparable time for move-in tracking; it does not tell us how many families moved into housing or remained housed. We include it because careful timing and follow-up matter when interpreting outcomes. We want to keep building reporting that separates program activity, move-in results, and longer-term stability.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profile chart shows that 100% of the 24 participants who answered reported children under 18 at home. It is one useful piece of context for understanding the families represented in these responses, not a complete description of every family Keystone serves. We are keeping this profile at an aggregate level and not presenting small demographic groups. The program’s work with families—from securing a home to arranging move-in essentials and individualized support—is grounded in the realities of family life.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participant’s words hold both parts of the experience: some months are still hard, and knowing who to call is a change they value. We appreciate that the quote does not suggest that support removes every challenge. It speaks instead to one of the program’s intended short-term outcomes: helping parents identify where to seek help for a priority need. We share this anonymously, alongside the survey results, as one person’s perspective rather than as a summary of every family’s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matched responses give us a useful view of short-term changes in confidence, knowing where to seek help, and reported stress. There are important limits: 20 participants answered both surveys, results are self-reported, and we cannot attribute every change to Keystone. The materials provided do not include a 12-month housing-status result, so we are not claiming that these data demonstrate that families remained housed after assistance ended. Better follow-up and clearer reporting on program costs would help the foundation and Keystone assess progress more fully.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this renewal conversation, we are asking for support that helps sustain the combination of supports around a family’s move: time-limited rent assistance, move-in essentials through Fresh Start Furniture, and voluntary, individualized Stay Housed case management. We do not have a cost-per-family figure in the information we are sharing today, so we will not put forward an unsupported amount. Support can also help Keystone strengthen follow-up on housing status and cost reporting, so future renewal conversations can connect resources with clearer outcome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considering Keystone’s work and for investing in families as they move toward a stable home. The participant responses shared today are encouraging, while also reminding us to keep listening and to improve how we track longer-term housing status and costs. We welcome a conversation about the mix of support that can help families settle into housing and address the barriers they identify. You can learn more or connect with Keystone at keystonefamilyhousing.example.org.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754880" cy="6858000"/>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54880" y="0"/>
            <a:ext cx="109728" cy="68580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48640" y="548640"/>
            <a:ext cx="1371600" cy="13716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3"/>
          <a:stretch>
            <a:fillRect/>
          </a:stretch>
        </p:blipFill>
        <p:spPr>
          <a:xfrm>
            <a:off x="713232" y="713232"/>
            <a:ext cx="1042415" cy="1042415"/>
          </a:xfrm>
          <a:prstGeom prst="rect">
            <a:avLst/>
          </a:prstGeom>
        </p:spPr>
      </p:pic>
      <p:sp>
        <p:nvSpPr>
          <p:cNvPr id="6" name="TextBox 5"/>
          <p:cNvSpPr txBox="1"/>
          <p:nvPr/>
        </p:nvSpPr>
        <p:spPr>
          <a:xfrm>
            <a:off x="548640" y="5120640"/>
            <a:ext cx="3840480" cy="914400"/>
          </a:xfrm>
          <a:prstGeom prst="rect">
            <a:avLst/>
          </a:prstGeom>
          <a:noFill/>
        </p:spPr>
        <p:txBody>
          <a:bodyPr wrap="square">
            <a:spAutoFit/>
          </a:bodyPr>
          <a:lstStyle/>
          <a:p>
            <a:pPr>
              <a:spcAft>
                <a:spcPts val="600"/>
              </a:spcAft>
            </a:pPr>
            <a:r>
              <a:rPr sz="1300" b="1" i="0">
                <a:solidFill>
                  <a:srgbClr val="FFFFFF"/>
                </a:solidFill>
                <a:latin typeface="Calibri"/>
              </a:rPr>
              <a:t>KEYSTONE FAMILY HOUSING PARTNERS</a:t>
            </a:r>
          </a:p>
        </p:txBody>
      </p:sp>
      <p:sp>
        <p:nvSpPr>
          <p:cNvPr id="7" name="TextBox 6"/>
          <p:cNvSpPr txBox="1"/>
          <p:nvPr/>
        </p:nvSpPr>
        <p:spPr>
          <a:xfrm>
            <a:off x="548640" y="5577840"/>
            <a:ext cx="3840480" cy="731520"/>
          </a:xfrm>
          <a:prstGeom prst="rect">
            <a:avLst/>
          </a:prstGeom>
          <a:noFill/>
        </p:spPr>
        <p:txBody>
          <a:bodyPr wrap="square">
            <a:spAutoFit/>
          </a:bodyPr>
          <a:lstStyle/>
          <a:p>
            <a:pPr>
              <a:spcAft>
                <a:spcPts val="600"/>
              </a:spcAft>
            </a:pPr>
            <a:r>
              <a:rPr sz="1200" b="0" i="1">
                <a:solidFill>
                  <a:srgbClr val="FFFFFF"/>
                </a:solidFill>
                <a:latin typeface="Calibri"/>
              </a:rPr>
              <a:t>Every family, a home to build on</a:t>
            </a:r>
          </a:p>
        </p:txBody>
      </p:sp>
      <p:sp>
        <p:nvSpPr>
          <p:cNvPr id="8" name="TextBox 7"/>
          <p:cNvSpPr txBox="1"/>
          <p:nvPr/>
        </p:nvSpPr>
        <p:spPr>
          <a:xfrm>
            <a:off x="5486400" y="2011680"/>
            <a:ext cx="6035040" cy="2011680"/>
          </a:xfrm>
          <a:prstGeom prst="rect">
            <a:avLst/>
          </a:prstGeom>
          <a:noFill/>
        </p:spPr>
        <p:txBody>
          <a:bodyPr wrap="square" anchor="b">
            <a:spAutoFit/>
          </a:bodyPr>
          <a:lstStyle/>
          <a:p>
            <a:pPr>
              <a:spcAft>
                <a:spcPts val="0"/>
              </a:spcAft>
            </a:pPr>
            <a:r>
              <a:rPr sz="4000" b="1" i="0">
                <a:solidFill>
                  <a:srgbClr val="23262B"/>
                </a:solidFill>
                <a:latin typeface="Georgia"/>
              </a:rPr>
              <a:t>Keystone Family Housing Partners</a:t>
            </a:r>
          </a:p>
        </p:txBody>
      </p:sp>
      <p:sp>
        <p:nvSpPr>
          <p:cNvPr id="9" name="TextBox 8"/>
          <p:cNvSpPr txBox="1"/>
          <p:nvPr/>
        </p:nvSpPr>
        <p:spPr>
          <a:xfrm>
            <a:off x="5486400" y="4160520"/>
            <a:ext cx="5852160" cy="1280160"/>
          </a:xfrm>
          <a:prstGeom prst="rect">
            <a:avLst/>
          </a:prstGeom>
          <a:noFill/>
        </p:spPr>
        <p:txBody>
          <a:bodyPr wrap="square">
            <a:spAutoFit/>
          </a:bodyPr>
          <a:lstStyle/>
          <a:p>
            <a:pPr>
              <a:spcAft>
                <a:spcPts val="600"/>
              </a:spcAft>
            </a:pPr>
            <a:r>
              <a:rPr sz="1700" b="0" i="0">
                <a:solidFill>
                  <a:srgbClr val="6B6F76"/>
                </a:solidFill>
                <a:latin typeface="Calibri"/>
              </a:rPr>
              <a:t>Housing stability takes more than a move-in</a:t>
            </a:r>
          </a:p>
        </p:txBody>
      </p:sp>
      <p:sp>
        <p:nvSpPr>
          <p:cNvPr id="10" name="TextBox 9"/>
          <p:cNvSpPr txBox="1"/>
          <p:nvPr/>
        </p:nvSpPr>
        <p:spPr>
          <a:xfrm>
            <a:off x="5486400" y="6035040"/>
            <a:ext cx="5852160" cy="365760"/>
          </a:xfrm>
          <a:prstGeom prst="rect">
            <a:avLst/>
          </a:prstGeom>
          <a:noFill/>
        </p:spPr>
        <p:txBody>
          <a:bodyPr wrap="square">
            <a:spAutoFit/>
          </a:bodyPr>
          <a:lstStyle/>
          <a:p>
            <a:pPr>
              <a:spcAft>
                <a:spcPts val="600"/>
              </a:spcAft>
            </a:pPr>
            <a:r>
              <a:rPr sz="1100" b="0" i="0">
                <a:solidFill>
                  <a:srgbClr val="6B6F76"/>
                </a:solidFill>
                <a:latin typeface="Calibri"/>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011680"/>
            <a:ext cx="109728" cy="237744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875520" cy="1737360"/>
          </a:xfrm>
          <a:prstGeom prst="rect">
            <a:avLst/>
          </a:prstGeom>
          <a:noFill/>
        </p:spPr>
        <p:txBody>
          <a:bodyPr wrap="square" anchor="b">
            <a:spAutoFit/>
          </a:bodyPr>
          <a:lstStyle/>
          <a:p>
            <a:pPr>
              <a:spcAft>
                <a:spcPts val="600"/>
              </a:spcAft>
            </a:pPr>
            <a:r>
              <a:rPr sz="3800" b="1" i="0">
                <a:solidFill>
                  <a:srgbClr val="23262B"/>
                </a:solidFill>
                <a:latin typeface="Georgia"/>
              </a:rPr>
              <a:t>A move-in is a beginning</a:t>
            </a:r>
          </a:p>
        </p:txBody>
      </p:sp>
      <p:sp>
        <p:nvSpPr>
          <p:cNvPr id="5" name="TextBox 4"/>
          <p:cNvSpPr txBox="1"/>
          <p:nvPr/>
        </p:nvSpPr>
        <p:spPr>
          <a:xfrm>
            <a:off x="1188720" y="3794760"/>
            <a:ext cx="9509760" cy="1280160"/>
          </a:xfrm>
          <a:prstGeom prst="rect">
            <a:avLst/>
          </a:prstGeom>
          <a:noFill/>
        </p:spPr>
        <p:txBody>
          <a:bodyPr wrap="square">
            <a:spAutoFit/>
          </a:bodyPr>
          <a:lstStyle/>
          <a:p>
            <a:pPr>
              <a:spcAft>
                <a:spcPts val="600"/>
              </a:spcAft>
            </a:pPr>
            <a:r>
              <a:rPr sz="2000" b="0" i="0">
                <a:solidFill>
                  <a:srgbClr val="6B6F76"/>
                </a:solidFill>
                <a:latin typeface="Calibri"/>
              </a:rPr>
              <a:t>A lease starts housing stability; practical support helps families work toward keeping it.</a:t>
            </a:r>
          </a:p>
        </p:txBody>
      </p:sp>
      <p:pic>
        <p:nvPicPr>
          <p:cNvPr id="6" name="Picture 5" descr="image.png"/>
          <p:cNvPicPr>
            <a:picLocks noChangeAspect="1"/>
          </p:cNvPicPr>
          <p:nvPr/>
        </p:nvPicPr>
        <p:blipFill>
          <a:blip r:embed="rId3"/>
          <a:stretch>
            <a:fillRect/>
          </a:stretch>
        </p:blipFill>
        <p:spPr>
          <a:xfrm>
            <a:off x="11018520" y="411480"/>
            <a:ext cx="457200" cy="457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822960" cy="64008"/>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0607040" cy="914400"/>
          </a:xfrm>
          <a:prstGeom prst="rect">
            <a:avLst/>
          </a:prstGeom>
          <a:noFill/>
        </p:spPr>
        <p:txBody>
          <a:bodyPr wrap="square">
            <a:spAutoFit/>
          </a:bodyPr>
          <a:lstStyle/>
          <a:p>
            <a:pPr>
              <a:spcAft>
                <a:spcPts val="0"/>
              </a:spcAft>
            </a:pPr>
            <a:r>
              <a:rPr sz="2800" b="1" i="0">
                <a:solidFill>
                  <a:srgbClr val="23262B"/>
                </a:solidFill>
                <a:latin typeface="Georgia"/>
              </a:rPr>
              <a:t>Pair a home with practical support</a:t>
            </a:r>
          </a:p>
        </p:txBody>
      </p:sp>
      <p:sp>
        <p:nvSpPr>
          <p:cNvPr id="4" name="TextBox 3"/>
          <p:cNvSpPr txBox="1"/>
          <p:nvPr/>
        </p:nvSpPr>
        <p:spPr>
          <a:xfrm>
            <a:off x="548640" y="6400800"/>
            <a:ext cx="7315200" cy="274320"/>
          </a:xfrm>
          <a:prstGeom prst="rect">
            <a:avLst/>
          </a:prstGeom>
          <a:noFill/>
        </p:spPr>
        <p:txBody>
          <a:bodyPr wrap="square">
            <a:spAutoFit/>
          </a:bodyPr>
          <a:lstStyle/>
          <a:p>
            <a:pPr>
              <a:spcAft>
                <a:spcPts val="600"/>
              </a:spcAft>
            </a:pPr>
            <a:r>
              <a:rPr sz="950" b="0" i="0">
                <a:solidFill>
                  <a:srgbClr val="6B6F76"/>
                </a:solidFill>
                <a:latin typeface="Calibri"/>
              </a:rPr>
              <a:t>Keystone Family Housing Partners</a:t>
            </a:r>
          </a:p>
        </p:txBody>
      </p:sp>
      <p:sp>
        <p:nvSpPr>
          <p:cNvPr id="5" name="TextBox 4"/>
          <p:cNvSpPr txBox="1"/>
          <p:nvPr/>
        </p:nvSpPr>
        <p:spPr>
          <a:xfrm>
            <a:off x="10881360" y="6400800"/>
            <a:ext cx="731520" cy="274320"/>
          </a:xfrm>
          <a:prstGeom prst="rect">
            <a:avLst/>
          </a:prstGeom>
          <a:noFill/>
        </p:spPr>
        <p:txBody>
          <a:bodyPr wrap="square">
            <a:spAutoFit/>
          </a:bodyPr>
          <a:lstStyle/>
          <a:p>
            <a:pPr algn="r">
              <a:spcAft>
                <a:spcPts val="600"/>
              </a:spcAft>
            </a:pPr>
            <a:r>
              <a:rPr sz="950" b="0" i="0">
                <a:solidFill>
                  <a:srgbClr val="6B6F76"/>
                </a:solidFill>
                <a:latin typeface="Calibri"/>
              </a:rPr>
              <a:t>3</a:t>
            </a:r>
          </a:p>
        </p:txBody>
      </p:sp>
      <p:pic>
        <p:nvPicPr>
          <p:cNvPr id="6" name="Picture 5" descr="image.png"/>
          <p:cNvPicPr>
            <a:picLocks noChangeAspect="1"/>
          </p:cNvPicPr>
          <p:nvPr/>
        </p:nvPicPr>
        <p:blipFill>
          <a:blip r:embed="rId3"/>
          <a:stretch>
            <a:fillRect/>
          </a:stretch>
        </p:blipFill>
        <p:spPr>
          <a:xfrm>
            <a:off x="11018520" y="411480"/>
            <a:ext cx="457200" cy="457200"/>
          </a:xfrm>
          <a:prstGeom prst="rect">
            <a:avLst/>
          </a:prstGeom>
        </p:spPr>
      </p:pic>
      <p:sp>
        <p:nvSpPr>
          <p:cNvPr id="7" name="TextBox 6"/>
          <p:cNvSpPr txBox="1"/>
          <p:nvPr/>
        </p:nvSpPr>
        <p:spPr>
          <a:xfrm>
            <a:off x="548640" y="1874519"/>
            <a:ext cx="11064240" cy="1188720"/>
          </a:xfrm>
          <a:prstGeom prst="rect">
            <a:avLst/>
          </a:prstGeom>
          <a:noFill/>
        </p:spPr>
        <p:txBody>
          <a:bodyPr wrap="square">
            <a:spAutoFit/>
          </a:bodyPr>
          <a:lstStyle/>
          <a:p>
            <a:pPr>
              <a:spcAft>
                <a:spcPts val="600"/>
              </a:spcAft>
            </a:pPr>
            <a:r>
              <a:rPr sz="1500" b="0" i="1">
                <a:solidFill>
                  <a:srgbClr val="23262B"/>
                </a:solidFill>
                <a:latin typeface="Calibri"/>
              </a:rPr>
              <a:t>If Keystone helps families move quickly into permanent housing with time-limited rent assistance, move-in essentials, and voluntary, individualized case management, then families can settle into housing and address barriers that threaten stability. This support is intended to help families remain housed after assistance ends…</a:t>
            </a:r>
          </a:p>
        </p:txBody>
      </p:sp>
      <p:sp>
        <p:nvSpPr>
          <p:cNvPr id="8" name="Pentagon 7"/>
          <p:cNvSpPr/>
          <p:nvPr/>
        </p:nvSpPr>
        <p:spPr>
          <a:xfrm>
            <a:off x="548640" y="3246120"/>
            <a:ext cx="3474720" cy="502920"/>
          </a:xfrm>
          <a:prstGeom prst="homePlate">
            <a:avLst/>
          </a:prstGeom>
          <a:solidFill>
            <a:srgbClr val="C9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291840"/>
            <a:ext cx="3108960" cy="411480"/>
          </a:xfrm>
          <a:prstGeom prst="rect">
            <a:avLst/>
          </a:prstGeom>
          <a:noFill/>
        </p:spPr>
        <p:txBody>
          <a:bodyPr wrap="square">
            <a:spAutoFit/>
          </a:bodyPr>
          <a:lstStyle/>
          <a:p>
            <a:pPr>
              <a:spcAft>
                <a:spcPts val="600"/>
              </a:spcAft>
            </a:pPr>
            <a:r>
              <a:rPr sz="1200" b="1" i="0">
                <a:solidFill>
                  <a:srgbClr val="23262B"/>
                </a:solidFill>
                <a:latin typeface="Calibri"/>
              </a:rPr>
              <a:t>WHAT WE DO</a:t>
            </a:r>
          </a:p>
        </p:txBody>
      </p:sp>
      <p:sp>
        <p:nvSpPr>
          <p:cNvPr id="10" name="TextBox 9"/>
          <p:cNvSpPr txBox="1"/>
          <p:nvPr/>
        </p:nvSpPr>
        <p:spPr>
          <a:xfrm>
            <a:off x="640080" y="3886200"/>
            <a:ext cx="3291840" cy="2468880"/>
          </a:xfrm>
          <a:prstGeom prst="rect">
            <a:avLst/>
          </a:prstGeom>
          <a:noFill/>
        </p:spPr>
        <p:txBody>
          <a:bodyPr wrap="square">
            <a:spAutoFit/>
          </a:bodyPr>
          <a:lstStyle/>
          <a:p>
            <a:pPr>
              <a:spcAft>
                <a:spcPts val="600"/>
              </a:spcAft>
            </a:pPr>
            <a:r>
              <a:rPr sz="1200" b="0" i="0">
                <a:solidFill>
                  <a:srgbClr val="23262B"/>
                </a:solidFill>
                <a:latin typeface="Calibri"/>
              </a:rPr>
              <a:t>• Identify apartments and help families move into permanent housing</a:t>
            </a:r>
          </a:p>
          <a:p>
            <a:pPr>
              <a:spcAft>
                <a:spcPts val="600"/>
              </a:spcAft>
            </a:pPr>
            <a:r>
              <a:rPr sz="1200" b="0" i="0">
                <a:solidFill>
                  <a:srgbClr val="23262B"/>
                </a:solidFill>
                <a:latin typeface="Calibri"/>
              </a:rPr>
              <a:t>• Pay security deposits and first month’s rent, then step down rent help for up to 12 months</a:t>
            </a:r>
          </a:p>
          <a:p>
            <a:pPr>
              <a:spcAft>
                <a:spcPts val="600"/>
              </a:spcAft>
            </a:pPr>
            <a:r>
              <a:rPr sz="1200" b="0" i="0">
                <a:solidFill>
                  <a:srgbClr val="23262B"/>
                </a:solidFill>
                <a:latin typeface="Calibri"/>
              </a:rPr>
              <a:t>• Offer voluntary, individualized Stay Housed case management through home visits; frequency is adjusted…</a:t>
            </a:r>
          </a:p>
        </p:txBody>
      </p:sp>
      <p:sp>
        <p:nvSpPr>
          <p:cNvPr id="11" name="Pentagon 10"/>
          <p:cNvSpPr/>
          <p:nvPr/>
        </p:nvSpPr>
        <p:spPr>
          <a:xfrm>
            <a:off x="4297679" y="3246120"/>
            <a:ext cx="3474720" cy="502920"/>
          </a:xfrm>
          <a:prstGeom prst="homePlate">
            <a:avLst/>
          </a:prstGeom>
          <a:solidFill>
            <a:srgbClr val="799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59" y="3291840"/>
            <a:ext cx="3108960" cy="411480"/>
          </a:xfrm>
          <a:prstGeom prst="rect">
            <a:avLst/>
          </a:prstGeom>
          <a:noFill/>
        </p:spPr>
        <p:txBody>
          <a:bodyPr wrap="square">
            <a:spAutoFit/>
          </a:bodyPr>
          <a:lstStyle/>
          <a:p>
            <a:pPr>
              <a:spcAft>
                <a:spcPts val="600"/>
              </a:spcAft>
            </a:pPr>
            <a:r>
              <a:rPr sz="1200" b="1" i="0">
                <a:solidFill>
                  <a:srgbClr val="FFFFFF"/>
                </a:solidFill>
                <a:latin typeface="Calibri"/>
              </a:rPr>
              <a:t>WHAT CHANGES FIRST</a:t>
            </a:r>
          </a:p>
        </p:txBody>
      </p:sp>
      <p:sp>
        <p:nvSpPr>
          <p:cNvPr id="13" name="TextBox 12"/>
          <p:cNvSpPr txBox="1"/>
          <p:nvPr/>
        </p:nvSpPr>
        <p:spPr>
          <a:xfrm>
            <a:off x="4389119" y="3886200"/>
            <a:ext cx="3291840" cy="2468880"/>
          </a:xfrm>
          <a:prstGeom prst="rect">
            <a:avLst/>
          </a:prstGeom>
          <a:noFill/>
        </p:spPr>
        <p:txBody>
          <a:bodyPr wrap="square">
            <a:spAutoFit/>
          </a:bodyPr>
          <a:lstStyle/>
          <a:p>
            <a:pPr>
              <a:spcAft>
                <a:spcPts val="600"/>
              </a:spcAft>
            </a:pPr>
            <a:r>
              <a:rPr sz="1200" b="0" i="0">
                <a:solidFill>
                  <a:srgbClr val="23262B"/>
                </a:solidFill>
                <a:latin typeface="Calibri"/>
              </a:rPr>
              <a:t>• Families move from homelessness into permanent housing</a:t>
            </a:r>
          </a:p>
          <a:p>
            <a:pPr>
              <a:spcAft>
                <a:spcPts val="600"/>
              </a:spcAft>
            </a:pPr>
            <a:r>
              <a:rPr sz="1200" b="0" i="0">
                <a:solidFill>
                  <a:srgbClr val="23262B"/>
                </a:solidFill>
                <a:latin typeface="Calibri"/>
              </a:rPr>
              <a:t>• Families report greater confidence taking a next step to address a rent or landlord issue</a:t>
            </a:r>
          </a:p>
          <a:p>
            <a:pPr>
              <a:spcAft>
                <a:spcPts val="600"/>
              </a:spcAft>
            </a:pPr>
            <a:r>
              <a:rPr sz="1200" b="0" i="0">
                <a:solidFill>
                  <a:srgbClr val="23262B"/>
                </a:solidFill>
                <a:latin typeface="Calibri"/>
              </a:rPr>
              <a:t>• Parents report feeling more in control and less stressed</a:t>
            </a:r>
          </a:p>
        </p:txBody>
      </p:sp>
      <p:sp>
        <p:nvSpPr>
          <p:cNvPr id="14" name="Rectangle 13"/>
          <p:cNvSpPr/>
          <p:nvPr/>
        </p:nvSpPr>
        <p:spPr>
          <a:xfrm>
            <a:off x="8046719" y="3246120"/>
            <a:ext cx="3474720" cy="502920"/>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9" y="3291840"/>
            <a:ext cx="3108960" cy="411480"/>
          </a:xfrm>
          <a:prstGeom prst="rect">
            <a:avLst/>
          </a:prstGeom>
          <a:noFill/>
        </p:spPr>
        <p:txBody>
          <a:bodyPr wrap="square">
            <a:spAutoFit/>
          </a:bodyPr>
          <a:lstStyle/>
          <a:p>
            <a:pPr>
              <a:spcAft>
                <a:spcPts val="600"/>
              </a:spcAft>
            </a:pPr>
            <a:r>
              <a:rPr sz="1200" b="1" i="0">
                <a:solidFill>
                  <a:srgbClr val="FFFFFF"/>
                </a:solidFill>
                <a:latin typeface="Calibri"/>
              </a:rPr>
              <a:t>WHAT LASTS</a:t>
            </a:r>
          </a:p>
        </p:txBody>
      </p:sp>
      <p:sp>
        <p:nvSpPr>
          <p:cNvPr id="16" name="TextBox 15"/>
          <p:cNvSpPr txBox="1"/>
          <p:nvPr/>
        </p:nvSpPr>
        <p:spPr>
          <a:xfrm>
            <a:off x="8138159" y="3886200"/>
            <a:ext cx="3291840" cy="2468880"/>
          </a:xfrm>
          <a:prstGeom prst="rect">
            <a:avLst/>
          </a:prstGeom>
          <a:noFill/>
        </p:spPr>
        <p:txBody>
          <a:bodyPr wrap="square">
            <a:spAutoFit/>
          </a:bodyPr>
          <a:lstStyle/>
          <a:p>
            <a:pPr>
              <a:spcAft>
                <a:spcPts val="600"/>
              </a:spcAft>
            </a:pPr>
            <a:r>
              <a:rPr sz="1200" b="0" i="0">
                <a:solidFill>
                  <a:srgbClr val="23262B"/>
                </a:solidFill>
                <a:latin typeface="Calibri"/>
              </a:rPr>
              <a:t>• Families remain housed after time-limited rental assistance ends</a:t>
            </a:r>
          </a:p>
          <a:p>
            <a:pPr>
              <a:spcAft>
                <a:spcPts val="600"/>
              </a:spcAft>
            </a:pPr>
            <a:r>
              <a:rPr sz="1200" b="0" i="0">
                <a:solidFill>
                  <a:srgbClr val="23262B"/>
                </a:solidFill>
                <a:latin typeface="Calibri"/>
              </a:rPr>
              <a:t>• Fewer families return to homelessness or shelter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822960" cy="64008"/>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0607040" cy="914400"/>
          </a:xfrm>
          <a:prstGeom prst="rect">
            <a:avLst/>
          </a:prstGeom>
          <a:noFill/>
        </p:spPr>
        <p:txBody>
          <a:bodyPr wrap="square">
            <a:spAutoFit/>
          </a:bodyPr>
          <a:lstStyle/>
          <a:p>
            <a:pPr>
              <a:spcAft>
                <a:spcPts val="0"/>
              </a:spcAft>
            </a:pPr>
            <a:r>
              <a:rPr sz="2800" b="1" i="0">
                <a:solidFill>
                  <a:srgbClr val="23262B"/>
                </a:solidFill>
                <a:latin typeface="Georgia"/>
              </a:rPr>
              <a:t>A promising signal from matched responses</a:t>
            </a:r>
          </a:p>
        </p:txBody>
      </p:sp>
      <p:sp>
        <p:nvSpPr>
          <p:cNvPr id="4" name="TextBox 3"/>
          <p:cNvSpPr txBox="1"/>
          <p:nvPr/>
        </p:nvSpPr>
        <p:spPr>
          <a:xfrm>
            <a:off x="548640" y="6400800"/>
            <a:ext cx="7315200" cy="274320"/>
          </a:xfrm>
          <a:prstGeom prst="rect">
            <a:avLst/>
          </a:prstGeom>
          <a:noFill/>
        </p:spPr>
        <p:txBody>
          <a:bodyPr wrap="square">
            <a:spAutoFit/>
          </a:bodyPr>
          <a:lstStyle/>
          <a:p>
            <a:pPr>
              <a:spcAft>
                <a:spcPts val="600"/>
              </a:spcAft>
            </a:pPr>
            <a:r>
              <a:rPr sz="950" b="0" i="0">
                <a:solidFill>
                  <a:srgbClr val="6B6F76"/>
                </a:solidFill>
                <a:latin typeface="Calibri"/>
              </a:rPr>
              <a:t>Keystone Family Housing Partners</a:t>
            </a:r>
          </a:p>
        </p:txBody>
      </p:sp>
      <p:sp>
        <p:nvSpPr>
          <p:cNvPr id="5" name="TextBox 4"/>
          <p:cNvSpPr txBox="1"/>
          <p:nvPr/>
        </p:nvSpPr>
        <p:spPr>
          <a:xfrm>
            <a:off x="10881360" y="6400800"/>
            <a:ext cx="731520" cy="274320"/>
          </a:xfrm>
          <a:prstGeom prst="rect">
            <a:avLst/>
          </a:prstGeom>
          <a:noFill/>
        </p:spPr>
        <p:txBody>
          <a:bodyPr wrap="square">
            <a:spAutoFit/>
          </a:bodyPr>
          <a:lstStyle/>
          <a:p>
            <a:pPr algn="r">
              <a:spcAft>
                <a:spcPts val="600"/>
              </a:spcAft>
            </a:pPr>
            <a:r>
              <a:rPr sz="950" b="0" i="0">
                <a:solidFill>
                  <a:srgbClr val="6B6F76"/>
                </a:solidFill>
                <a:latin typeface="Calibri"/>
              </a:rPr>
              <a:t>4</a:t>
            </a:r>
          </a:p>
        </p:txBody>
      </p:sp>
      <p:pic>
        <p:nvPicPr>
          <p:cNvPr id="6" name="Picture 5" descr="image.png"/>
          <p:cNvPicPr>
            <a:picLocks noChangeAspect="1"/>
          </p:cNvPicPr>
          <p:nvPr/>
        </p:nvPicPr>
        <p:blipFill>
          <a:blip r:embed="rId3"/>
          <a:stretch>
            <a:fillRect/>
          </a:stretch>
        </p:blipFill>
        <p:spPr>
          <a:xfrm>
            <a:off x="11018520" y="411480"/>
            <a:ext cx="457200" cy="457200"/>
          </a:xfrm>
          <a:prstGeom prst="rect">
            <a:avLst/>
          </a:prstGeom>
        </p:spPr>
      </p:pic>
      <p:sp>
        <p:nvSpPr>
          <p:cNvPr id="7" name="Rectangle 6"/>
          <p:cNvSpPr/>
          <p:nvPr/>
        </p:nvSpPr>
        <p:spPr>
          <a:xfrm>
            <a:off x="548640" y="2286000"/>
            <a:ext cx="3505200" cy="3017520"/>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286000"/>
            <a:ext cx="3505200" cy="82296"/>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97480"/>
            <a:ext cx="2865120" cy="1371600"/>
          </a:xfrm>
          <a:prstGeom prst="rect">
            <a:avLst/>
          </a:prstGeom>
          <a:noFill/>
        </p:spPr>
        <p:txBody>
          <a:bodyPr wrap="square">
            <a:spAutoFit/>
          </a:bodyPr>
          <a:lstStyle/>
          <a:p>
            <a:pPr>
              <a:spcAft>
                <a:spcPts val="600"/>
              </a:spcAft>
            </a:pPr>
            <a:r>
              <a:rPr sz="5400" b="1" i="0">
                <a:solidFill>
                  <a:srgbClr val="1F4E5F"/>
                </a:solidFill>
                <a:latin typeface="Georgia"/>
              </a:rPr>
              <a:t>24</a:t>
            </a:r>
          </a:p>
        </p:txBody>
      </p:sp>
      <p:sp>
        <p:nvSpPr>
          <p:cNvPr id="10" name="TextBox 9"/>
          <p:cNvSpPr txBox="1"/>
          <p:nvPr/>
        </p:nvSpPr>
        <p:spPr>
          <a:xfrm>
            <a:off x="868680" y="4069080"/>
            <a:ext cx="2865120" cy="1097280"/>
          </a:xfrm>
          <a:prstGeom prst="rect">
            <a:avLst/>
          </a:prstGeom>
          <a:noFill/>
        </p:spPr>
        <p:txBody>
          <a:bodyPr wrap="square">
            <a:spAutoFit/>
          </a:bodyPr>
          <a:lstStyle/>
          <a:p>
            <a:pPr>
              <a:spcAft>
                <a:spcPts val="600"/>
              </a:spcAft>
            </a:pPr>
            <a:r>
              <a:rPr sz="1600" b="0" i="0">
                <a:solidFill>
                  <a:srgbClr val="23262B"/>
                </a:solidFill>
                <a:latin typeface="Calibri"/>
              </a:rPr>
              <a:t>participants</a:t>
            </a:r>
          </a:p>
        </p:txBody>
      </p:sp>
      <p:sp>
        <p:nvSpPr>
          <p:cNvPr id="11" name="Rectangle 10"/>
          <p:cNvSpPr/>
          <p:nvPr/>
        </p:nvSpPr>
        <p:spPr>
          <a:xfrm>
            <a:off x="4328160" y="2286000"/>
            <a:ext cx="3505200" cy="3017520"/>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28160" y="2286000"/>
            <a:ext cx="3505200" cy="82296"/>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200" y="2697480"/>
            <a:ext cx="2865120" cy="1371600"/>
          </a:xfrm>
          <a:prstGeom prst="rect">
            <a:avLst/>
          </a:prstGeom>
          <a:noFill/>
        </p:spPr>
        <p:txBody>
          <a:bodyPr wrap="square">
            <a:spAutoFit/>
          </a:bodyPr>
          <a:lstStyle/>
          <a:p>
            <a:pPr>
              <a:spcAft>
                <a:spcPts val="600"/>
              </a:spcAft>
            </a:pPr>
            <a:r>
              <a:rPr sz="5400" b="1" i="0">
                <a:solidFill>
                  <a:srgbClr val="1F4E5F"/>
                </a:solidFill>
                <a:latin typeface="Georgia"/>
              </a:rPr>
              <a:t>20</a:t>
            </a:r>
          </a:p>
        </p:txBody>
      </p:sp>
      <p:sp>
        <p:nvSpPr>
          <p:cNvPr id="14" name="TextBox 13"/>
          <p:cNvSpPr txBox="1"/>
          <p:nvPr/>
        </p:nvSpPr>
        <p:spPr>
          <a:xfrm>
            <a:off x="4648200" y="4069080"/>
            <a:ext cx="2865120" cy="1097280"/>
          </a:xfrm>
          <a:prstGeom prst="rect">
            <a:avLst/>
          </a:prstGeom>
          <a:noFill/>
        </p:spPr>
        <p:txBody>
          <a:bodyPr wrap="square">
            <a:spAutoFit/>
          </a:bodyPr>
          <a:lstStyle/>
          <a:p>
            <a:pPr>
              <a:spcAft>
                <a:spcPts val="600"/>
              </a:spcAft>
            </a:pPr>
            <a:r>
              <a:rPr sz="1600" b="0" i="0">
                <a:solidFill>
                  <a:srgbClr val="23262B"/>
                </a:solidFill>
                <a:latin typeface="Calibri"/>
              </a:rPr>
              <a:t>answered both surveys</a:t>
            </a:r>
          </a:p>
        </p:txBody>
      </p:sp>
      <p:sp>
        <p:nvSpPr>
          <p:cNvPr id="15" name="Rectangle 14"/>
          <p:cNvSpPr/>
          <p:nvPr/>
        </p:nvSpPr>
        <p:spPr>
          <a:xfrm>
            <a:off x="8107680" y="2286000"/>
            <a:ext cx="3505200" cy="3017520"/>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07680" y="2286000"/>
            <a:ext cx="3505200" cy="82296"/>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27720" y="2697480"/>
            <a:ext cx="2865120" cy="1371600"/>
          </a:xfrm>
          <a:prstGeom prst="rect">
            <a:avLst/>
          </a:prstGeom>
          <a:noFill/>
        </p:spPr>
        <p:txBody>
          <a:bodyPr wrap="square">
            <a:spAutoFit/>
          </a:bodyPr>
          <a:lstStyle/>
          <a:p>
            <a:pPr>
              <a:spcAft>
                <a:spcPts val="600"/>
              </a:spcAft>
            </a:pPr>
            <a:r>
              <a:rPr sz="5400" b="1" i="0">
                <a:solidFill>
                  <a:srgbClr val="1F4E5F"/>
                </a:solidFill>
                <a:latin typeface="Georgia"/>
              </a:rPr>
              <a:t>85%</a:t>
            </a:r>
          </a:p>
        </p:txBody>
      </p:sp>
      <p:sp>
        <p:nvSpPr>
          <p:cNvPr id="18" name="TextBox 17"/>
          <p:cNvSpPr txBox="1"/>
          <p:nvPr/>
        </p:nvSpPr>
        <p:spPr>
          <a:xfrm>
            <a:off x="8427720" y="4069080"/>
            <a:ext cx="2865120" cy="1097280"/>
          </a:xfrm>
          <a:prstGeom prst="rect">
            <a:avLst/>
          </a:prstGeom>
          <a:noFill/>
        </p:spPr>
        <p:txBody>
          <a:bodyPr wrap="square">
            <a:spAutoFit/>
          </a:bodyPr>
          <a:lstStyle/>
          <a:p>
            <a:pPr>
              <a:spcAft>
                <a:spcPts val="600"/>
              </a:spcAft>
            </a:pPr>
            <a:r>
              <a:rPr sz="1600" b="0" i="0">
                <a:solidFill>
                  <a:srgbClr val="23262B"/>
                </a:solidFill>
                <a:latin typeface="Calibri"/>
              </a:rPr>
              <a:t>improved in confidence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822960" cy="64008"/>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0607040" cy="914400"/>
          </a:xfrm>
          <a:prstGeom prst="rect">
            <a:avLst/>
          </a:prstGeom>
          <a:noFill/>
        </p:spPr>
        <p:txBody>
          <a:bodyPr wrap="square">
            <a:spAutoFit/>
          </a:bodyPr>
          <a:lstStyle/>
          <a:p>
            <a:pPr>
              <a:spcAft>
                <a:spcPts val="0"/>
              </a:spcAft>
            </a:pPr>
            <a:r>
              <a:rPr sz="2800" b="1" i="0">
                <a:solidFill>
                  <a:srgbClr val="23262B"/>
                </a:solidFill>
                <a:latin typeface="Georgia"/>
              </a:rPr>
              <a:t>More participants reported improvement</a:t>
            </a:r>
          </a:p>
        </p:txBody>
      </p:sp>
      <p:sp>
        <p:nvSpPr>
          <p:cNvPr id="4" name="TextBox 3"/>
          <p:cNvSpPr txBox="1"/>
          <p:nvPr/>
        </p:nvSpPr>
        <p:spPr>
          <a:xfrm>
            <a:off x="548640" y="6400800"/>
            <a:ext cx="7315200" cy="274320"/>
          </a:xfrm>
          <a:prstGeom prst="rect">
            <a:avLst/>
          </a:prstGeom>
          <a:noFill/>
        </p:spPr>
        <p:txBody>
          <a:bodyPr wrap="square">
            <a:spAutoFit/>
          </a:bodyPr>
          <a:lstStyle/>
          <a:p>
            <a:pPr>
              <a:spcAft>
                <a:spcPts val="600"/>
              </a:spcAft>
            </a:pPr>
            <a:r>
              <a:rPr sz="950" b="0" i="0">
                <a:solidFill>
                  <a:srgbClr val="6B6F76"/>
                </a:solidFill>
                <a:latin typeface="Calibri"/>
              </a:rPr>
              <a:t>Keystone Family Housing Partners</a:t>
            </a:r>
          </a:p>
        </p:txBody>
      </p:sp>
      <p:sp>
        <p:nvSpPr>
          <p:cNvPr id="5" name="TextBox 4"/>
          <p:cNvSpPr txBox="1"/>
          <p:nvPr/>
        </p:nvSpPr>
        <p:spPr>
          <a:xfrm>
            <a:off x="10881360" y="6400800"/>
            <a:ext cx="731520" cy="274320"/>
          </a:xfrm>
          <a:prstGeom prst="rect">
            <a:avLst/>
          </a:prstGeom>
          <a:noFill/>
        </p:spPr>
        <p:txBody>
          <a:bodyPr wrap="square">
            <a:spAutoFit/>
          </a:bodyPr>
          <a:lstStyle/>
          <a:p>
            <a:pPr algn="r">
              <a:spcAft>
                <a:spcPts val="600"/>
              </a:spcAft>
            </a:pPr>
            <a:r>
              <a:rPr sz="950" b="0" i="0">
                <a:solidFill>
                  <a:srgbClr val="6B6F76"/>
                </a:solidFill>
                <a:latin typeface="Calibri"/>
              </a:rPr>
              <a:t>5</a:t>
            </a:r>
          </a:p>
        </p:txBody>
      </p:sp>
      <p:pic>
        <p:nvPicPr>
          <p:cNvPr id="6" name="Picture 5" descr="image.png"/>
          <p:cNvPicPr>
            <a:picLocks noChangeAspect="1"/>
          </p:cNvPicPr>
          <p:nvPr/>
        </p:nvPicPr>
        <p:blipFill>
          <a:blip r:embed="rId3"/>
          <a:stretch>
            <a:fillRect/>
          </a:stretch>
        </p:blipFill>
        <p:spPr>
          <a:xfrm>
            <a:off x="11018520" y="411480"/>
            <a:ext cx="457200" cy="457200"/>
          </a:xfrm>
          <a:prstGeom prst="rect">
            <a:avLst/>
          </a:prstGeom>
        </p:spPr>
      </p:pic>
      <p:graphicFrame>
        <p:nvGraphicFramePr>
          <p:cNvPr id="7" name="Chart 6"/>
          <p:cNvGraphicFramePr>
            <a:graphicFrameLocks noGrp="1"/>
          </p:cNvGraphicFramePr>
          <p:nvPr/>
        </p:nvGraphicFramePr>
        <p:xfrm>
          <a:off x="548640" y="1965960"/>
          <a:ext cx="7589520" cy="4251960"/>
        </p:xfrm>
        <a:graphic>
          <a:graphicData uri="http://schemas.openxmlformats.org/drawingml/2006/chart">
            <c:chart xmlns:c="http://schemas.openxmlformats.org/drawingml/2006/chart" r:id="rId4"/>
          </a:graphicData>
        </a:graphic>
      </p:graphicFrame>
      <p:sp>
        <p:nvSpPr>
          <p:cNvPr id="8" name="Rectangle 7"/>
          <p:cNvSpPr/>
          <p:nvPr/>
        </p:nvSpPr>
        <p:spPr>
          <a:xfrm>
            <a:off x="8503920" y="2148840"/>
            <a:ext cx="73152" cy="219456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2103120"/>
            <a:ext cx="2834639" cy="2377440"/>
          </a:xfrm>
          <a:prstGeom prst="rect">
            <a:avLst/>
          </a:prstGeom>
          <a:noFill/>
        </p:spPr>
        <p:txBody>
          <a:bodyPr wrap="square">
            <a:spAutoFit/>
          </a:bodyPr>
          <a:lstStyle/>
          <a:p>
            <a:pPr>
              <a:spcAft>
                <a:spcPts val="600"/>
              </a:spcAft>
            </a:pPr>
            <a:r>
              <a:rPr sz="1800" b="0" i="0">
                <a:solidFill>
                  <a:srgbClr val="23262B"/>
                </a:solidFill>
                <a:latin typeface="Calibri"/>
              </a:rPr>
              <a:t>Among participants who answered both surveys, improvement was most common in confidence addressing a rent or landlord issue.</a:t>
            </a:r>
          </a:p>
        </p:txBody>
      </p:sp>
      <p:sp>
        <p:nvSpPr>
          <p:cNvPr id="10" name="TextBox 9"/>
          <p:cNvSpPr txBox="1"/>
          <p:nvPr/>
        </p:nvSpPr>
        <p:spPr>
          <a:xfrm>
            <a:off x="8778240" y="4754880"/>
            <a:ext cx="2834639" cy="1371600"/>
          </a:xfrm>
          <a:prstGeom prst="rect">
            <a:avLst/>
          </a:prstGeom>
          <a:noFill/>
        </p:spPr>
        <p:txBody>
          <a:bodyPr wrap="square">
            <a:spAutoFit/>
          </a:bodyPr>
          <a:lstStyle/>
          <a:p>
            <a:pPr>
              <a:spcAft>
                <a:spcPts val="600"/>
              </a:spcAft>
            </a:pPr>
            <a:r>
              <a:rPr sz="1050" b="0" i="0">
                <a:solidFill>
                  <a:srgbClr val="6B6F76"/>
                </a:solidFill>
                <a:latin typeface="Calibri"/>
              </a:rPr>
              <a:t>Among participants with both a pre and a post answer. 'Improved' means at least 1 point higher on rating scales, or moving from no to yes.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822960" cy="64008"/>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0607040" cy="914400"/>
          </a:xfrm>
          <a:prstGeom prst="rect">
            <a:avLst/>
          </a:prstGeom>
          <a:noFill/>
        </p:spPr>
        <p:txBody>
          <a:bodyPr wrap="square">
            <a:spAutoFit/>
          </a:bodyPr>
          <a:lstStyle/>
          <a:p>
            <a:pPr>
              <a:spcAft>
                <a:spcPts val="0"/>
              </a:spcAft>
            </a:pPr>
            <a:r>
              <a:rPr sz="2800" b="1" i="0">
                <a:solidFill>
                  <a:srgbClr val="23262B"/>
                </a:solidFill>
                <a:latin typeface="Georgia"/>
              </a:rPr>
              <a:t>Confidence addressing housing issues rose</a:t>
            </a:r>
          </a:p>
        </p:txBody>
      </p:sp>
      <p:sp>
        <p:nvSpPr>
          <p:cNvPr id="4" name="TextBox 3"/>
          <p:cNvSpPr txBox="1"/>
          <p:nvPr/>
        </p:nvSpPr>
        <p:spPr>
          <a:xfrm>
            <a:off x="548640" y="6400800"/>
            <a:ext cx="7315200" cy="274320"/>
          </a:xfrm>
          <a:prstGeom prst="rect">
            <a:avLst/>
          </a:prstGeom>
          <a:noFill/>
        </p:spPr>
        <p:txBody>
          <a:bodyPr wrap="square">
            <a:spAutoFit/>
          </a:bodyPr>
          <a:lstStyle/>
          <a:p>
            <a:pPr>
              <a:spcAft>
                <a:spcPts val="600"/>
              </a:spcAft>
            </a:pPr>
            <a:r>
              <a:rPr sz="950" b="0" i="0">
                <a:solidFill>
                  <a:srgbClr val="6B6F76"/>
                </a:solidFill>
                <a:latin typeface="Calibri"/>
              </a:rPr>
              <a:t>Keystone Family Housing Partners</a:t>
            </a:r>
          </a:p>
        </p:txBody>
      </p:sp>
      <p:sp>
        <p:nvSpPr>
          <p:cNvPr id="5" name="TextBox 4"/>
          <p:cNvSpPr txBox="1"/>
          <p:nvPr/>
        </p:nvSpPr>
        <p:spPr>
          <a:xfrm>
            <a:off x="10881360" y="6400800"/>
            <a:ext cx="731520" cy="274320"/>
          </a:xfrm>
          <a:prstGeom prst="rect">
            <a:avLst/>
          </a:prstGeom>
          <a:noFill/>
        </p:spPr>
        <p:txBody>
          <a:bodyPr wrap="square">
            <a:spAutoFit/>
          </a:bodyPr>
          <a:lstStyle/>
          <a:p>
            <a:pPr algn="r">
              <a:spcAft>
                <a:spcPts val="600"/>
              </a:spcAft>
            </a:pPr>
            <a:r>
              <a:rPr sz="950" b="0" i="0">
                <a:solidFill>
                  <a:srgbClr val="6B6F76"/>
                </a:solidFill>
                <a:latin typeface="Calibri"/>
              </a:rPr>
              <a:t>6</a:t>
            </a:r>
          </a:p>
        </p:txBody>
      </p:sp>
      <p:pic>
        <p:nvPicPr>
          <p:cNvPr id="6" name="Picture 5" descr="image.png"/>
          <p:cNvPicPr>
            <a:picLocks noChangeAspect="1"/>
          </p:cNvPicPr>
          <p:nvPr/>
        </p:nvPicPr>
        <p:blipFill>
          <a:blip r:embed="rId3"/>
          <a:stretch>
            <a:fillRect/>
          </a:stretch>
        </p:blipFill>
        <p:spPr>
          <a:xfrm>
            <a:off x="11018520" y="411480"/>
            <a:ext cx="457200" cy="457200"/>
          </a:xfrm>
          <a:prstGeom prst="rect">
            <a:avLst/>
          </a:prstGeom>
        </p:spPr>
      </p:pic>
      <p:graphicFrame>
        <p:nvGraphicFramePr>
          <p:cNvPr id="7" name="Chart 6"/>
          <p:cNvGraphicFramePr>
            <a:graphicFrameLocks noGrp="1"/>
          </p:cNvGraphicFramePr>
          <p:nvPr/>
        </p:nvGraphicFramePr>
        <p:xfrm>
          <a:off x="548640" y="2011680"/>
          <a:ext cx="5486400" cy="4114800"/>
        </p:xfrm>
        <a:graphic>
          <a:graphicData uri="http://schemas.openxmlformats.org/drawingml/2006/chart">
            <c:chart xmlns:c="http://schemas.openxmlformats.org/drawingml/2006/chart" r:id="rId4"/>
          </a:graphicData>
        </a:graphic>
      </p:graphicFrame>
      <p:sp>
        <p:nvSpPr>
          <p:cNvPr id="8" name="Rectangle 7"/>
          <p:cNvSpPr/>
          <p:nvPr/>
        </p:nvSpPr>
        <p:spPr>
          <a:xfrm>
            <a:off x="6492240" y="2148840"/>
            <a:ext cx="73152" cy="219456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59" y="2103120"/>
            <a:ext cx="4846320" cy="2377440"/>
          </a:xfrm>
          <a:prstGeom prst="rect">
            <a:avLst/>
          </a:prstGeom>
          <a:noFill/>
        </p:spPr>
        <p:txBody>
          <a:bodyPr wrap="square">
            <a:spAutoFit/>
          </a:bodyPr>
          <a:lstStyle/>
          <a:p>
            <a:pPr>
              <a:spcAft>
                <a:spcPts val="600"/>
              </a:spcAft>
            </a:pPr>
            <a:r>
              <a:rPr sz="1800" b="0" i="0">
                <a:solidFill>
                  <a:srgbClr val="23262B"/>
                </a:solidFill>
                <a:latin typeface="Calibri"/>
              </a:rPr>
              <a:t>Participants who answered both surveys reported higher average confidence taking a next step on a rent or landlord issue.</a:t>
            </a:r>
          </a:p>
        </p:txBody>
      </p:sp>
      <p:sp>
        <p:nvSpPr>
          <p:cNvPr id="10" name="TextBox 9"/>
          <p:cNvSpPr txBox="1"/>
          <p:nvPr/>
        </p:nvSpPr>
        <p:spPr>
          <a:xfrm>
            <a:off x="6766559" y="4754880"/>
            <a:ext cx="4846320" cy="1371600"/>
          </a:xfrm>
          <a:prstGeom prst="rect">
            <a:avLst/>
          </a:prstGeom>
          <a:noFill/>
        </p:spPr>
        <p:txBody>
          <a:bodyPr wrap="square">
            <a:spAutoFit/>
          </a:bodyPr>
          <a:lstStyle/>
          <a:p>
            <a:pPr>
              <a:spcAft>
                <a:spcPts val="600"/>
              </a:spcAft>
            </a:pPr>
            <a:r>
              <a:rPr sz="1050" b="0" i="0">
                <a:solidFill>
                  <a:srgbClr val="6B6F76"/>
                </a:solidFill>
                <a:latin typeface="Calibri"/>
              </a:rPr>
              <a:t>20 participants answered both pre and post.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822960" cy="64008"/>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0607040" cy="914400"/>
          </a:xfrm>
          <a:prstGeom prst="rect">
            <a:avLst/>
          </a:prstGeom>
          <a:noFill/>
        </p:spPr>
        <p:txBody>
          <a:bodyPr wrap="square">
            <a:spAutoFit/>
          </a:bodyPr>
          <a:lstStyle/>
          <a:p>
            <a:pPr>
              <a:spcAft>
                <a:spcPts val="0"/>
              </a:spcAft>
            </a:pPr>
            <a:r>
              <a:rPr sz="2800" b="1" i="0">
                <a:solidFill>
                  <a:srgbClr val="23262B"/>
                </a:solidFill>
                <a:latin typeface="Georgia"/>
              </a:rPr>
              <a:t>More knew where to seek help</a:t>
            </a:r>
          </a:p>
        </p:txBody>
      </p:sp>
      <p:sp>
        <p:nvSpPr>
          <p:cNvPr id="4" name="TextBox 3"/>
          <p:cNvSpPr txBox="1"/>
          <p:nvPr/>
        </p:nvSpPr>
        <p:spPr>
          <a:xfrm>
            <a:off x="548640" y="6400800"/>
            <a:ext cx="7315200" cy="274320"/>
          </a:xfrm>
          <a:prstGeom prst="rect">
            <a:avLst/>
          </a:prstGeom>
          <a:noFill/>
        </p:spPr>
        <p:txBody>
          <a:bodyPr wrap="square">
            <a:spAutoFit/>
          </a:bodyPr>
          <a:lstStyle/>
          <a:p>
            <a:pPr>
              <a:spcAft>
                <a:spcPts val="600"/>
              </a:spcAft>
            </a:pPr>
            <a:r>
              <a:rPr sz="950" b="0" i="0">
                <a:solidFill>
                  <a:srgbClr val="6B6F76"/>
                </a:solidFill>
                <a:latin typeface="Calibri"/>
              </a:rPr>
              <a:t>Keystone Family Housing Partners</a:t>
            </a:r>
          </a:p>
        </p:txBody>
      </p:sp>
      <p:sp>
        <p:nvSpPr>
          <p:cNvPr id="5" name="TextBox 4"/>
          <p:cNvSpPr txBox="1"/>
          <p:nvPr/>
        </p:nvSpPr>
        <p:spPr>
          <a:xfrm>
            <a:off x="10881360" y="6400800"/>
            <a:ext cx="731520" cy="274320"/>
          </a:xfrm>
          <a:prstGeom prst="rect">
            <a:avLst/>
          </a:prstGeom>
          <a:noFill/>
        </p:spPr>
        <p:txBody>
          <a:bodyPr wrap="square">
            <a:spAutoFit/>
          </a:bodyPr>
          <a:lstStyle/>
          <a:p>
            <a:pPr algn="r">
              <a:spcAft>
                <a:spcPts val="600"/>
              </a:spcAft>
            </a:pPr>
            <a:r>
              <a:rPr sz="950" b="0" i="0">
                <a:solidFill>
                  <a:srgbClr val="6B6F76"/>
                </a:solidFill>
                <a:latin typeface="Calibri"/>
              </a:rPr>
              <a:t>7</a:t>
            </a:r>
          </a:p>
        </p:txBody>
      </p:sp>
      <p:pic>
        <p:nvPicPr>
          <p:cNvPr id="6" name="Picture 5" descr="image.png"/>
          <p:cNvPicPr>
            <a:picLocks noChangeAspect="1"/>
          </p:cNvPicPr>
          <p:nvPr/>
        </p:nvPicPr>
        <p:blipFill>
          <a:blip r:embed="rId3"/>
          <a:stretch>
            <a:fillRect/>
          </a:stretch>
        </p:blipFill>
        <p:spPr>
          <a:xfrm>
            <a:off x="11018520" y="411480"/>
            <a:ext cx="457200" cy="457200"/>
          </a:xfrm>
          <a:prstGeom prst="rect">
            <a:avLst/>
          </a:prstGeom>
        </p:spPr>
      </p:pic>
      <p:graphicFrame>
        <p:nvGraphicFramePr>
          <p:cNvPr id="7" name="Chart 6"/>
          <p:cNvGraphicFramePr>
            <a:graphicFrameLocks noGrp="1"/>
          </p:cNvGraphicFramePr>
          <p:nvPr/>
        </p:nvGraphicFramePr>
        <p:xfrm>
          <a:off x="548640" y="2011680"/>
          <a:ext cx="5486400" cy="4114800"/>
        </p:xfrm>
        <a:graphic>
          <a:graphicData uri="http://schemas.openxmlformats.org/drawingml/2006/chart">
            <c:chart xmlns:c="http://schemas.openxmlformats.org/drawingml/2006/chart" r:id="rId4"/>
          </a:graphicData>
        </a:graphic>
      </p:graphicFrame>
      <p:sp>
        <p:nvSpPr>
          <p:cNvPr id="8" name="Rectangle 7"/>
          <p:cNvSpPr/>
          <p:nvPr/>
        </p:nvSpPr>
        <p:spPr>
          <a:xfrm>
            <a:off x="6492240" y="2148840"/>
            <a:ext cx="73152" cy="219456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59" y="2103120"/>
            <a:ext cx="4846320" cy="2377440"/>
          </a:xfrm>
          <a:prstGeom prst="rect">
            <a:avLst/>
          </a:prstGeom>
          <a:noFill/>
        </p:spPr>
        <p:txBody>
          <a:bodyPr wrap="square">
            <a:spAutoFit/>
          </a:bodyPr>
          <a:lstStyle/>
          <a:p>
            <a:pPr>
              <a:spcAft>
                <a:spcPts val="600"/>
              </a:spcAft>
            </a:pPr>
            <a:r>
              <a:rPr sz="1800" b="0" i="0">
                <a:solidFill>
                  <a:srgbClr val="23262B"/>
                </a:solidFill>
                <a:latin typeface="Calibri"/>
              </a:rPr>
              <a:t>The share answering yes about where to seek help for a chosen need rose from 20% to 70%.</a:t>
            </a:r>
          </a:p>
        </p:txBody>
      </p:sp>
      <p:sp>
        <p:nvSpPr>
          <p:cNvPr id="10" name="TextBox 9"/>
          <p:cNvSpPr txBox="1"/>
          <p:nvPr/>
        </p:nvSpPr>
        <p:spPr>
          <a:xfrm>
            <a:off x="6766559" y="4754880"/>
            <a:ext cx="4846320" cy="1371600"/>
          </a:xfrm>
          <a:prstGeom prst="rect">
            <a:avLst/>
          </a:prstGeom>
          <a:noFill/>
        </p:spPr>
        <p:txBody>
          <a:bodyPr wrap="square">
            <a:spAutoFit/>
          </a:bodyPr>
          <a:lstStyle/>
          <a:p>
            <a:pPr>
              <a:spcAft>
                <a:spcPts val="600"/>
              </a:spcAft>
            </a:pPr>
            <a:r>
              <a:rPr sz="1050" b="0" i="0">
                <a:solidFill>
                  <a:srgbClr val="6B6F76"/>
                </a:solidFill>
                <a:latin typeface="Calibri"/>
              </a:rPr>
              <a:t>20 participants answered both pre and post.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822960" cy="64008"/>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0607040" cy="914400"/>
          </a:xfrm>
          <a:prstGeom prst="rect">
            <a:avLst/>
          </a:prstGeom>
          <a:noFill/>
        </p:spPr>
        <p:txBody>
          <a:bodyPr wrap="square">
            <a:spAutoFit/>
          </a:bodyPr>
          <a:lstStyle/>
          <a:p>
            <a:pPr>
              <a:spcAft>
                <a:spcPts val="0"/>
              </a:spcAft>
            </a:pPr>
            <a:r>
              <a:rPr sz="2800" b="1" i="0">
                <a:solidFill>
                  <a:srgbClr val="23262B"/>
                </a:solidFill>
                <a:latin typeface="Georgia"/>
              </a:rPr>
              <a:t>Parents reported a better stress measure</a:t>
            </a:r>
          </a:p>
        </p:txBody>
      </p:sp>
      <p:sp>
        <p:nvSpPr>
          <p:cNvPr id="4" name="TextBox 3"/>
          <p:cNvSpPr txBox="1"/>
          <p:nvPr/>
        </p:nvSpPr>
        <p:spPr>
          <a:xfrm>
            <a:off x="548640" y="6400800"/>
            <a:ext cx="7315200" cy="274320"/>
          </a:xfrm>
          <a:prstGeom prst="rect">
            <a:avLst/>
          </a:prstGeom>
          <a:noFill/>
        </p:spPr>
        <p:txBody>
          <a:bodyPr wrap="square">
            <a:spAutoFit/>
          </a:bodyPr>
          <a:lstStyle/>
          <a:p>
            <a:pPr>
              <a:spcAft>
                <a:spcPts val="600"/>
              </a:spcAft>
            </a:pPr>
            <a:r>
              <a:rPr sz="950" b="0" i="0">
                <a:solidFill>
                  <a:srgbClr val="6B6F76"/>
                </a:solidFill>
                <a:latin typeface="Calibri"/>
              </a:rPr>
              <a:t>Keystone Family Housing Partners</a:t>
            </a:r>
          </a:p>
        </p:txBody>
      </p:sp>
      <p:sp>
        <p:nvSpPr>
          <p:cNvPr id="5" name="TextBox 4"/>
          <p:cNvSpPr txBox="1"/>
          <p:nvPr/>
        </p:nvSpPr>
        <p:spPr>
          <a:xfrm>
            <a:off x="10881360" y="6400800"/>
            <a:ext cx="731520" cy="274320"/>
          </a:xfrm>
          <a:prstGeom prst="rect">
            <a:avLst/>
          </a:prstGeom>
          <a:noFill/>
        </p:spPr>
        <p:txBody>
          <a:bodyPr wrap="square">
            <a:spAutoFit/>
          </a:bodyPr>
          <a:lstStyle/>
          <a:p>
            <a:pPr algn="r">
              <a:spcAft>
                <a:spcPts val="600"/>
              </a:spcAft>
            </a:pPr>
            <a:r>
              <a:rPr sz="950" b="0" i="0">
                <a:solidFill>
                  <a:srgbClr val="6B6F76"/>
                </a:solidFill>
                <a:latin typeface="Calibri"/>
              </a:rPr>
              <a:t>8</a:t>
            </a:r>
          </a:p>
        </p:txBody>
      </p:sp>
      <p:pic>
        <p:nvPicPr>
          <p:cNvPr id="6" name="Picture 5" descr="image.png"/>
          <p:cNvPicPr>
            <a:picLocks noChangeAspect="1"/>
          </p:cNvPicPr>
          <p:nvPr/>
        </p:nvPicPr>
        <p:blipFill>
          <a:blip r:embed="rId3"/>
          <a:stretch>
            <a:fillRect/>
          </a:stretch>
        </p:blipFill>
        <p:spPr>
          <a:xfrm>
            <a:off x="11018520" y="411480"/>
            <a:ext cx="457200" cy="457200"/>
          </a:xfrm>
          <a:prstGeom prst="rect">
            <a:avLst/>
          </a:prstGeom>
        </p:spPr>
      </p:pic>
      <p:graphicFrame>
        <p:nvGraphicFramePr>
          <p:cNvPr id="7" name="Chart 6"/>
          <p:cNvGraphicFramePr>
            <a:graphicFrameLocks noGrp="1"/>
          </p:cNvGraphicFramePr>
          <p:nvPr/>
        </p:nvGraphicFramePr>
        <p:xfrm>
          <a:off x="548640" y="2011680"/>
          <a:ext cx="5486400" cy="4114800"/>
        </p:xfrm>
        <a:graphic>
          <a:graphicData uri="http://schemas.openxmlformats.org/drawingml/2006/chart">
            <c:chart xmlns:c="http://schemas.openxmlformats.org/drawingml/2006/chart" r:id="rId4"/>
          </a:graphicData>
        </a:graphic>
      </p:graphicFrame>
      <p:sp>
        <p:nvSpPr>
          <p:cNvPr id="8" name="Rectangle 7"/>
          <p:cNvSpPr/>
          <p:nvPr/>
        </p:nvSpPr>
        <p:spPr>
          <a:xfrm>
            <a:off x="6492240" y="2148840"/>
            <a:ext cx="73152" cy="219456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59" y="2103120"/>
            <a:ext cx="4846320" cy="2377440"/>
          </a:xfrm>
          <a:prstGeom prst="rect">
            <a:avLst/>
          </a:prstGeom>
          <a:noFill/>
        </p:spPr>
        <p:txBody>
          <a:bodyPr wrap="square">
            <a:spAutoFit/>
          </a:bodyPr>
          <a:lstStyle/>
          <a:p>
            <a:pPr>
              <a:spcAft>
                <a:spcPts val="600"/>
              </a:spcAft>
            </a:pPr>
            <a:r>
              <a:rPr sz="1800" b="0" i="0">
                <a:solidFill>
                  <a:srgbClr val="23262B"/>
                </a:solidFill>
                <a:latin typeface="Calibri"/>
              </a:rPr>
              <a:t>The reverse-scored average moved from 2.55 to 3.6, where higher means better.</a:t>
            </a:r>
          </a:p>
        </p:txBody>
      </p:sp>
      <p:sp>
        <p:nvSpPr>
          <p:cNvPr id="10" name="TextBox 9"/>
          <p:cNvSpPr txBox="1"/>
          <p:nvPr/>
        </p:nvSpPr>
        <p:spPr>
          <a:xfrm>
            <a:off x="6766559" y="4754880"/>
            <a:ext cx="4846320" cy="1371600"/>
          </a:xfrm>
          <a:prstGeom prst="rect">
            <a:avLst/>
          </a:prstGeom>
          <a:noFill/>
        </p:spPr>
        <p:txBody>
          <a:bodyPr wrap="square">
            <a:spAutoFit/>
          </a:bodyPr>
          <a:lstStyle/>
          <a:p>
            <a:pPr>
              <a:spcAft>
                <a:spcPts val="600"/>
              </a:spcAft>
            </a:pPr>
            <a:r>
              <a:rPr sz="1050" b="0" i="0">
                <a:solidFill>
                  <a:srgbClr val="6B6F76"/>
                </a:solidFill>
                <a:latin typeface="Calibri"/>
              </a:rPr>
              <a:t>20 participants answered both pre and post.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822960" cy="64008"/>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0607040" cy="914400"/>
          </a:xfrm>
          <a:prstGeom prst="rect">
            <a:avLst/>
          </a:prstGeom>
          <a:noFill/>
        </p:spPr>
        <p:txBody>
          <a:bodyPr wrap="square">
            <a:spAutoFit/>
          </a:bodyPr>
          <a:lstStyle/>
          <a:p>
            <a:pPr>
              <a:spcAft>
                <a:spcPts val="0"/>
              </a:spcAft>
            </a:pPr>
            <a:r>
              <a:rPr sz="2800" b="1" i="0">
                <a:solidFill>
                  <a:srgbClr val="23262B"/>
                </a:solidFill>
                <a:latin typeface="Georgia"/>
              </a:rPr>
              <a:t>Follow-up tracking is still developing</a:t>
            </a:r>
          </a:p>
        </p:txBody>
      </p:sp>
      <p:sp>
        <p:nvSpPr>
          <p:cNvPr id="4" name="TextBox 3"/>
          <p:cNvSpPr txBox="1"/>
          <p:nvPr/>
        </p:nvSpPr>
        <p:spPr>
          <a:xfrm>
            <a:off x="548640" y="6400800"/>
            <a:ext cx="7315200" cy="274320"/>
          </a:xfrm>
          <a:prstGeom prst="rect">
            <a:avLst/>
          </a:prstGeom>
          <a:noFill/>
        </p:spPr>
        <p:txBody>
          <a:bodyPr wrap="square">
            <a:spAutoFit/>
          </a:bodyPr>
          <a:lstStyle/>
          <a:p>
            <a:pPr>
              <a:spcAft>
                <a:spcPts val="600"/>
              </a:spcAft>
            </a:pPr>
            <a:r>
              <a:rPr sz="950" b="0" i="0">
                <a:solidFill>
                  <a:srgbClr val="6B6F76"/>
                </a:solidFill>
                <a:latin typeface="Calibri"/>
              </a:rPr>
              <a:t>Keystone Family Housing Partners</a:t>
            </a:r>
          </a:p>
        </p:txBody>
      </p:sp>
      <p:sp>
        <p:nvSpPr>
          <p:cNvPr id="5" name="TextBox 4"/>
          <p:cNvSpPr txBox="1"/>
          <p:nvPr/>
        </p:nvSpPr>
        <p:spPr>
          <a:xfrm>
            <a:off x="10881360" y="6400800"/>
            <a:ext cx="731520" cy="274320"/>
          </a:xfrm>
          <a:prstGeom prst="rect">
            <a:avLst/>
          </a:prstGeom>
          <a:noFill/>
        </p:spPr>
        <p:txBody>
          <a:bodyPr wrap="square">
            <a:spAutoFit/>
          </a:bodyPr>
          <a:lstStyle/>
          <a:p>
            <a:pPr algn="r">
              <a:spcAft>
                <a:spcPts val="600"/>
              </a:spcAft>
            </a:pPr>
            <a:r>
              <a:rPr sz="950" b="0" i="0">
                <a:solidFill>
                  <a:srgbClr val="6B6F76"/>
                </a:solidFill>
                <a:latin typeface="Calibri"/>
              </a:rPr>
              <a:t>9</a:t>
            </a:r>
          </a:p>
        </p:txBody>
      </p:sp>
      <p:pic>
        <p:nvPicPr>
          <p:cNvPr id="6" name="Picture 5" descr="image.png"/>
          <p:cNvPicPr>
            <a:picLocks noChangeAspect="1"/>
          </p:cNvPicPr>
          <p:nvPr/>
        </p:nvPicPr>
        <p:blipFill>
          <a:blip r:embed="rId3"/>
          <a:stretch>
            <a:fillRect/>
          </a:stretch>
        </p:blipFill>
        <p:spPr>
          <a:xfrm>
            <a:off x="11018520" y="411480"/>
            <a:ext cx="457200" cy="457200"/>
          </a:xfrm>
          <a:prstGeom prst="rect">
            <a:avLst/>
          </a:prstGeom>
        </p:spPr>
      </p:pic>
      <p:graphicFrame>
        <p:nvGraphicFramePr>
          <p:cNvPr id="7" name="Chart 6"/>
          <p:cNvGraphicFramePr>
            <a:graphicFrameLocks noGrp="1"/>
          </p:cNvGraphicFramePr>
          <p:nvPr/>
        </p:nvGraphicFramePr>
        <p:xfrm>
          <a:off x="548640" y="1965960"/>
          <a:ext cx="7589520" cy="4251960"/>
        </p:xfrm>
        <a:graphic>
          <a:graphicData uri="http://schemas.openxmlformats.org/drawingml/2006/chart">
            <c:chart xmlns:c="http://schemas.openxmlformats.org/drawingml/2006/chart" r:id="rId4"/>
          </a:graphicData>
        </a:graphic>
      </p:graphicFrame>
      <p:sp>
        <p:nvSpPr>
          <p:cNvPr id="8" name="Rectangle 7"/>
          <p:cNvSpPr/>
          <p:nvPr/>
        </p:nvSpPr>
        <p:spPr>
          <a:xfrm>
            <a:off x="8503920" y="2148840"/>
            <a:ext cx="73152" cy="219456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2103120"/>
            <a:ext cx="2834639" cy="2377440"/>
          </a:xfrm>
          <a:prstGeom prst="rect">
            <a:avLst/>
          </a:prstGeom>
          <a:noFill/>
        </p:spPr>
        <p:txBody>
          <a:bodyPr wrap="square">
            <a:spAutoFit/>
          </a:bodyPr>
          <a:lstStyle/>
          <a:p>
            <a:pPr>
              <a:spcAft>
                <a:spcPts val="600"/>
              </a:spcAft>
            </a:pPr>
            <a:r>
              <a:rPr sz="1800" b="0" i="0">
                <a:solidFill>
                  <a:srgbClr val="23262B"/>
                </a:solidFill>
                <a:latin typeface="Calibri"/>
              </a:rPr>
              <a:t>By 2026-09, 11 families had the full comparable observation period for move-in tracking; this is not a move-in result.</a:t>
            </a:r>
          </a:p>
        </p:txBody>
      </p:sp>
      <p:sp>
        <p:nvSpPr>
          <p:cNvPr id="10" name="TextBox 9"/>
          <p:cNvSpPr txBox="1"/>
          <p:nvPr/>
        </p:nvSpPr>
        <p:spPr>
          <a:xfrm>
            <a:off x="8778240" y="4754880"/>
            <a:ext cx="2834639" cy="1371600"/>
          </a:xfrm>
          <a:prstGeom prst="rect">
            <a:avLst/>
          </a:prstGeom>
          <a:noFill/>
        </p:spPr>
        <p:txBody>
          <a:bodyPr wrap="square">
            <a:spAutoFit/>
          </a:bodyPr>
          <a:lstStyle/>
          <a:p>
            <a:pPr>
              <a:spcAft>
                <a:spcPts val="600"/>
              </a:spcAft>
            </a:pPr>
            <a:r>
              <a:rPr sz="1050" b="0" i="0">
                <a:solidFill>
                  <a:srgbClr val="6B6F76"/>
                </a:solidFill>
                <a:latin typeface="Calibri"/>
              </a:rPr>
              <a:t>Entered by staff. Latest month (2026-09):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822960" cy="64008"/>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0607040" cy="914400"/>
          </a:xfrm>
          <a:prstGeom prst="rect">
            <a:avLst/>
          </a:prstGeom>
          <a:noFill/>
        </p:spPr>
        <p:txBody>
          <a:bodyPr wrap="square">
            <a:spAutoFit/>
          </a:bodyPr>
          <a:lstStyle/>
          <a:p>
            <a:pPr>
              <a:spcAft>
                <a:spcPts val="0"/>
              </a:spcAft>
            </a:pPr>
            <a:r>
              <a:rPr sz="2800" b="1" i="0">
                <a:solidFill>
                  <a:srgbClr val="23262B"/>
                </a:solidFill>
                <a:latin typeface="Georgia"/>
              </a:rPr>
              <a:t>Respondents were families with children</a:t>
            </a:r>
          </a:p>
        </p:txBody>
      </p:sp>
      <p:sp>
        <p:nvSpPr>
          <p:cNvPr id="4" name="TextBox 3"/>
          <p:cNvSpPr txBox="1"/>
          <p:nvPr/>
        </p:nvSpPr>
        <p:spPr>
          <a:xfrm>
            <a:off x="548640" y="6400800"/>
            <a:ext cx="7315200" cy="274320"/>
          </a:xfrm>
          <a:prstGeom prst="rect">
            <a:avLst/>
          </a:prstGeom>
          <a:noFill/>
        </p:spPr>
        <p:txBody>
          <a:bodyPr wrap="square">
            <a:spAutoFit/>
          </a:bodyPr>
          <a:lstStyle/>
          <a:p>
            <a:pPr>
              <a:spcAft>
                <a:spcPts val="600"/>
              </a:spcAft>
            </a:pPr>
            <a:r>
              <a:rPr sz="950" b="0" i="0">
                <a:solidFill>
                  <a:srgbClr val="6B6F76"/>
                </a:solidFill>
                <a:latin typeface="Calibri"/>
              </a:rPr>
              <a:t>Keystone Family Housing Partners</a:t>
            </a:r>
          </a:p>
        </p:txBody>
      </p:sp>
      <p:sp>
        <p:nvSpPr>
          <p:cNvPr id="5" name="TextBox 4"/>
          <p:cNvSpPr txBox="1"/>
          <p:nvPr/>
        </p:nvSpPr>
        <p:spPr>
          <a:xfrm>
            <a:off x="10881360" y="6400800"/>
            <a:ext cx="731520" cy="274320"/>
          </a:xfrm>
          <a:prstGeom prst="rect">
            <a:avLst/>
          </a:prstGeom>
          <a:noFill/>
        </p:spPr>
        <p:txBody>
          <a:bodyPr wrap="square">
            <a:spAutoFit/>
          </a:bodyPr>
          <a:lstStyle/>
          <a:p>
            <a:pPr algn="r">
              <a:spcAft>
                <a:spcPts val="600"/>
              </a:spcAft>
            </a:pPr>
            <a:r>
              <a:rPr sz="950" b="0" i="0">
                <a:solidFill>
                  <a:srgbClr val="6B6F76"/>
                </a:solidFill>
                <a:latin typeface="Calibri"/>
              </a:rPr>
              <a:t>10</a:t>
            </a:r>
          </a:p>
        </p:txBody>
      </p:sp>
      <p:pic>
        <p:nvPicPr>
          <p:cNvPr id="6" name="Picture 5" descr="image.png"/>
          <p:cNvPicPr>
            <a:picLocks noChangeAspect="1"/>
          </p:cNvPicPr>
          <p:nvPr/>
        </p:nvPicPr>
        <p:blipFill>
          <a:blip r:embed="rId3"/>
          <a:stretch>
            <a:fillRect/>
          </a:stretch>
        </p:blipFill>
        <p:spPr>
          <a:xfrm>
            <a:off x="11018520" y="411480"/>
            <a:ext cx="457200" cy="457200"/>
          </a:xfrm>
          <a:prstGeom prst="rect">
            <a:avLst/>
          </a:prstGeom>
        </p:spPr>
      </p:pic>
      <p:graphicFrame>
        <p:nvGraphicFramePr>
          <p:cNvPr id="7" name="Chart 6"/>
          <p:cNvGraphicFramePr>
            <a:graphicFrameLocks noGrp="1"/>
          </p:cNvGraphicFramePr>
          <p:nvPr/>
        </p:nvGraphicFramePr>
        <p:xfrm>
          <a:off x="548640" y="1965960"/>
          <a:ext cx="7589520" cy="4251960"/>
        </p:xfrm>
        <a:graphic>
          <a:graphicData uri="http://schemas.openxmlformats.org/drawingml/2006/chart">
            <c:chart xmlns:c="http://schemas.openxmlformats.org/drawingml/2006/chart" r:id="rId4"/>
          </a:graphicData>
        </a:graphic>
      </p:graphicFrame>
      <p:sp>
        <p:nvSpPr>
          <p:cNvPr id="8" name="Rectangle 7"/>
          <p:cNvSpPr/>
          <p:nvPr/>
        </p:nvSpPr>
        <p:spPr>
          <a:xfrm>
            <a:off x="8503920" y="2148840"/>
            <a:ext cx="73152" cy="219456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2103120"/>
            <a:ext cx="2834639" cy="2377440"/>
          </a:xfrm>
          <a:prstGeom prst="rect">
            <a:avLst/>
          </a:prstGeom>
          <a:noFill/>
        </p:spPr>
        <p:txBody>
          <a:bodyPr wrap="square">
            <a:spAutoFit/>
          </a:bodyPr>
          <a:lstStyle/>
          <a:p>
            <a:pPr>
              <a:spcAft>
                <a:spcPts val="600"/>
              </a:spcAft>
            </a:pPr>
            <a:r>
              <a:rPr sz="1800" b="0" i="0">
                <a:solidFill>
                  <a:srgbClr val="23262B"/>
                </a:solidFill>
                <a:latin typeface="Calibri"/>
              </a:rPr>
              <a:t>100% of participants who answered reported children under 18 at home.</a:t>
            </a:r>
          </a:p>
        </p:txBody>
      </p:sp>
      <p:sp>
        <p:nvSpPr>
          <p:cNvPr id="10" name="TextBox 9"/>
          <p:cNvSpPr txBox="1"/>
          <p:nvPr/>
        </p:nvSpPr>
        <p:spPr>
          <a:xfrm>
            <a:off x="8778240" y="4754880"/>
            <a:ext cx="2834639" cy="1371600"/>
          </a:xfrm>
          <a:prstGeom prst="rect">
            <a:avLst/>
          </a:prstGeom>
          <a:noFill/>
        </p:spPr>
        <p:txBody>
          <a:bodyPr wrap="square">
            <a:spAutoFit/>
          </a:bodyPr>
          <a:lstStyle/>
          <a:p>
            <a:pPr>
              <a:spcAft>
                <a:spcPts val="600"/>
              </a:spcAft>
            </a:pPr>
            <a:r>
              <a:rPr sz="1050" b="0" i="0">
                <a:solidFill>
                  <a:srgbClr val="6B6F76"/>
                </a:solidFill>
                <a:latin typeface="Calibri"/>
              </a:rPr>
              <a:t>Share of the 24 participants who answered. Groups with fewer than 5 people are combined to protect privacy.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828800" cy="1645920"/>
          </a:xfrm>
          <a:prstGeom prst="rect">
            <a:avLst/>
          </a:prstGeom>
          <a:noFill/>
        </p:spPr>
        <p:txBody>
          <a:bodyPr wrap="square">
            <a:spAutoFit/>
          </a:bodyPr>
          <a:lstStyle/>
          <a:p>
            <a:pPr>
              <a:spcAft>
                <a:spcPts val="600"/>
              </a:spcAft>
            </a:pPr>
            <a:r>
              <a:rPr sz="14000" b="1" i="0">
                <a:solidFill>
                  <a:srgbClr val="F2C14E"/>
                </a:solidFill>
                <a:latin typeface="Georgia"/>
              </a:rPr>
              <a:t>“</a:t>
            </a:r>
          </a:p>
        </p:txBody>
      </p:sp>
      <p:sp>
        <p:nvSpPr>
          <p:cNvPr id="4" name="TextBox 3"/>
          <p:cNvSpPr txBox="1"/>
          <p:nvPr/>
        </p:nvSpPr>
        <p:spPr>
          <a:xfrm>
            <a:off x="1463040" y="2011680"/>
            <a:ext cx="9326880" cy="2926080"/>
          </a:xfrm>
          <a:prstGeom prst="rect">
            <a:avLst/>
          </a:prstGeom>
          <a:noFill/>
        </p:spPr>
        <p:txBody>
          <a:bodyPr wrap="square" anchor="ctr">
            <a:spAutoFit/>
          </a:bodyPr>
          <a:lstStyle/>
          <a:p>
            <a:pPr>
              <a:spcAft>
                <a:spcPts val="600"/>
              </a:spcAft>
            </a:pPr>
            <a:r>
              <a:rPr sz="3200" b="0" i="0">
                <a:solidFill>
                  <a:srgbClr val="FFFFFF"/>
                </a:solidFill>
                <a:latin typeface="Georgia"/>
              </a:rPr>
              <a:t>It's still hard some months but I know who to call now.</a:t>
            </a:r>
          </a:p>
        </p:txBody>
      </p:sp>
      <p:sp>
        <p:nvSpPr>
          <p:cNvPr id="5" name="TextBox 4"/>
          <p:cNvSpPr txBox="1"/>
          <p:nvPr/>
        </p:nvSpPr>
        <p:spPr>
          <a:xfrm>
            <a:off x="1463040" y="5120640"/>
            <a:ext cx="9144000" cy="457200"/>
          </a:xfrm>
          <a:prstGeom prst="rect">
            <a:avLst/>
          </a:prstGeom>
          <a:noFill/>
        </p:spPr>
        <p:txBody>
          <a:bodyPr wrap="square">
            <a:spAutoFit/>
          </a:bodyPr>
          <a:lstStyle/>
          <a:p>
            <a:pPr>
              <a:spcAft>
                <a:spcPts val="600"/>
              </a:spcAft>
            </a:pPr>
            <a:r>
              <a:rPr sz="1500" b="0" i="0">
                <a:solidFill>
                  <a:srgbClr val="FFFFFF"/>
                </a:solidFill>
                <a:latin typeface="Calibri"/>
              </a:rPr>
              <a:t>— A program participant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822960" cy="64008"/>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0607040" cy="914400"/>
          </a:xfrm>
          <a:prstGeom prst="rect">
            <a:avLst/>
          </a:prstGeom>
          <a:noFill/>
        </p:spPr>
        <p:txBody>
          <a:bodyPr wrap="square">
            <a:spAutoFit/>
          </a:bodyPr>
          <a:lstStyle/>
          <a:p>
            <a:pPr>
              <a:spcAft>
                <a:spcPts val="0"/>
              </a:spcAft>
            </a:pPr>
            <a:r>
              <a:rPr sz="2800" b="1" i="0">
                <a:solidFill>
                  <a:srgbClr val="23262B"/>
                </a:solidFill>
                <a:latin typeface="Georgia"/>
              </a:rPr>
              <a:t>Encouraging signals, with important limits</a:t>
            </a:r>
          </a:p>
        </p:txBody>
      </p:sp>
      <p:sp>
        <p:nvSpPr>
          <p:cNvPr id="4" name="TextBox 3"/>
          <p:cNvSpPr txBox="1"/>
          <p:nvPr/>
        </p:nvSpPr>
        <p:spPr>
          <a:xfrm>
            <a:off x="548640" y="6400800"/>
            <a:ext cx="7315200" cy="274320"/>
          </a:xfrm>
          <a:prstGeom prst="rect">
            <a:avLst/>
          </a:prstGeom>
          <a:noFill/>
        </p:spPr>
        <p:txBody>
          <a:bodyPr wrap="square">
            <a:spAutoFit/>
          </a:bodyPr>
          <a:lstStyle/>
          <a:p>
            <a:pPr>
              <a:spcAft>
                <a:spcPts val="600"/>
              </a:spcAft>
            </a:pPr>
            <a:r>
              <a:rPr sz="950" b="0" i="0">
                <a:solidFill>
                  <a:srgbClr val="6B6F76"/>
                </a:solidFill>
                <a:latin typeface="Calibri"/>
              </a:rPr>
              <a:t>Keystone Family Housing Partners</a:t>
            </a:r>
          </a:p>
        </p:txBody>
      </p:sp>
      <p:sp>
        <p:nvSpPr>
          <p:cNvPr id="5" name="TextBox 4"/>
          <p:cNvSpPr txBox="1"/>
          <p:nvPr/>
        </p:nvSpPr>
        <p:spPr>
          <a:xfrm>
            <a:off x="10881360" y="6400800"/>
            <a:ext cx="731520" cy="274320"/>
          </a:xfrm>
          <a:prstGeom prst="rect">
            <a:avLst/>
          </a:prstGeom>
          <a:noFill/>
        </p:spPr>
        <p:txBody>
          <a:bodyPr wrap="square">
            <a:spAutoFit/>
          </a:bodyPr>
          <a:lstStyle/>
          <a:p>
            <a:pPr algn="r">
              <a:spcAft>
                <a:spcPts val="600"/>
              </a:spcAft>
            </a:pPr>
            <a:r>
              <a:rPr sz="950" b="0" i="0">
                <a:solidFill>
                  <a:srgbClr val="6B6F76"/>
                </a:solidFill>
                <a:latin typeface="Calibri"/>
              </a:rPr>
              <a:t>12</a:t>
            </a:r>
          </a:p>
        </p:txBody>
      </p:sp>
      <p:pic>
        <p:nvPicPr>
          <p:cNvPr id="6" name="Picture 5" descr="image.png"/>
          <p:cNvPicPr>
            <a:picLocks noChangeAspect="1"/>
          </p:cNvPicPr>
          <p:nvPr/>
        </p:nvPicPr>
        <p:blipFill>
          <a:blip r:embed="rId3"/>
          <a:stretch>
            <a:fillRect/>
          </a:stretch>
        </p:blipFill>
        <p:spPr>
          <a:xfrm>
            <a:off x="11018520" y="411480"/>
            <a:ext cx="457200" cy="457200"/>
          </a:xfrm>
          <a:prstGeom prst="rect">
            <a:avLst/>
          </a:prstGeom>
        </p:spPr>
      </p:pic>
      <p:sp>
        <p:nvSpPr>
          <p:cNvPr id="7" name="Oval 6"/>
          <p:cNvSpPr/>
          <p:nvPr/>
        </p:nvSpPr>
        <p:spPr>
          <a:xfrm>
            <a:off x="548640" y="2258568"/>
            <a:ext cx="347472" cy="347472"/>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276856"/>
            <a:ext cx="347472" cy="310896"/>
          </a:xfrm>
          <a:prstGeom prst="rect">
            <a:avLst/>
          </a:prstGeom>
          <a:noFill/>
        </p:spPr>
        <p:txBody>
          <a:bodyPr wrap="square">
            <a:spAutoFit/>
          </a:bodyPr>
          <a:lstStyle/>
          <a:p>
            <a:pPr algn="ctr">
              <a:spcAft>
                <a:spcPts val="600"/>
              </a:spcAft>
            </a:pPr>
            <a:r>
              <a:rPr sz="1200" b="1" i="0">
                <a:solidFill>
                  <a:srgbClr val="FFFFFF"/>
                </a:solidFill>
                <a:latin typeface="Calibri"/>
              </a:rPr>
              <a:t>1</a:t>
            </a:r>
          </a:p>
        </p:txBody>
      </p:sp>
      <p:sp>
        <p:nvSpPr>
          <p:cNvPr id="9" name="TextBox 8"/>
          <p:cNvSpPr txBox="1"/>
          <p:nvPr/>
        </p:nvSpPr>
        <p:spPr>
          <a:xfrm>
            <a:off x="1097280" y="2203704"/>
            <a:ext cx="9875520" cy="868680"/>
          </a:xfrm>
          <a:prstGeom prst="rect">
            <a:avLst/>
          </a:prstGeom>
          <a:noFill/>
        </p:spPr>
        <p:txBody>
          <a:bodyPr wrap="square">
            <a:spAutoFit/>
          </a:bodyPr>
          <a:lstStyle/>
          <a:p>
            <a:pPr>
              <a:spcAft>
                <a:spcPts val="600"/>
              </a:spcAft>
            </a:pPr>
            <a:r>
              <a:rPr sz="1900" b="0" i="0">
                <a:solidFill>
                  <a:srgbClr val="23262B"/>
                </a:solidFill>
                <a:latin typeface="Calibri"/>
              </a:rPr>
              <a:t>Matched survey responses show reported short-term changes</a:t>
            </a:r>
          </a:p>
        </p:txBody>
      </p:sp>
      <p:sp>
        <p:nvSpPr>
          <p:cNvPr id="10" name="Oval 9"/>
          <p:cNvSpPr/>
          <p:nvPr/>
        </p:nvSpPr>
        <p:spPr>
          <a:xfrm>
            <a:off x="548640" y="3246120"/>
            <a:ext cx="347472" cy="347472"/>
          </a:xfrm>
          <a:prstGeom prst="ellipse">
            <a:avLst/>
          </a:prstGeom>
          <a:solidFill>
            <a:srgbClr val="5075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64408"/>
            <a:ext cx="347472" cy="310896"/>
          </a:xfrm>
          <a:prstGeom prst="rect">
            <a:avLst/>
          </a:prstGeom>
          <a:noFill/>
        </p:spPr>
        <p:txBody>
          <a:bodyPr wrap="square">
            <a:spAutoFit/>
          </a:bodyPr>
          <a:lstStyle/>
          <a:p>
            <a:pPr algn="ctr">
              <a:spcAft>
                <a:spcPts val="600"/>
              </a:spcAft>
            </a:pPr>
            <a:r>
              <a:rPr sz="1200" b="1" i="0">
                <a:solidFill>
                  <a:srgbClr val="FFFFFF"/>
                </a:solidFill>
                <a:latin typeface="Calibri"/>
              </a:rPr>
              <a:t>2</a:t>
            </a:r>
          </a:p>
        </p:txBody>
      </p:sp>
      <p:sp>
        <p:nvSpPr>
          <p:cNvPr id="12" name="TextBox 11"/>
          <p:cNvSpPr txBox="1"/>
          <p:nvPr/>
        </p:nvSpPr>
        <p:spPr>
          <a:xfrm>
            <a:off x="1097280" y="3191256"/>
            <a:ext cx="9875520" cy="868680"/>
          </a:xfrm>
          <a:prstGeom prst="rect">
            <a:avLst/>
          </a:prstGeom>
          <a:noFill/>
        </p:spPr>
        <p:txBody>
          <a:bodyPr wrap="square">
            <a:spAutoFit/>
          </a:bodyPr>
          <a:lstStyle/>
          <a:p>
            <a:pPr>
              <a:spcAft>
                <a:spcPts val="600"/>
              </a:spcAft>
            </a:pPr>
            <a:r>
              <a:rPr sz="1900" b="0" i="0">
                <a:solidFill>
                  <a:srgbClr val="23262B"/>
                </a:solidFill>
                <a:latin typeface="Calibri"/>
              </a:rPr>
              <a:t>The current results do not establish long-term housing stability</a:t>
            </a:r>
          </a:p>
        </p:txBody>
      </p:sp>
      <p:sp>
        <p:nvSpPr>
          <p:cNvPr id="13" name="Oval 12"/>
          <p:cNvSpPr/>
          <p:nvPr/>
        </p:nvSpPr>
        <p:spPr>
          <a:xfrm>
            <a:off x="548640" y="4233672"/>
            <a:ext cx="347472" cy="347472"/>
          </a:xfrm>
          <a:prstGeom prst="ellipse">
            <a:avLst/>
          </a:prstGeom>
          <a:solidFill>
            <a:srgbClr val="829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251959"/>
            <a:ext cx="347472" cy="310896"/>
          </a:xfrm>
          <a:prstGeom prst="rect">
            <a:avLst/>
          </a:prstGeom>
          <a:noFill/>
        </p:spPr>
        <p:txBody>
          <a:bodyPr wrap="square">
            <a:spAutoFit/>
          </a:bodyPr>
          <a:lstStyle/>
          <a:p>
            <a:pPr algn="ctr">
              <a:spcAft>
                <a:spcPts val="600"/>
              </a:spcAft>
            </a:pPr>
            <a:r>
              <a:rPr sz="1200" b="1" i="0">
                <a:solidFill>
                  <a:srgbClr val="FFFFFF"/>
                </a:solidFill>
                <a:latin typeface="Calibri"/>
              </a:rPr>
              <a:t>3</a:t>
            </a:r>
          </a:p>
        </p:txBody>
      </p:sp>
      <p:sp>
        <p:nvSpPr>
          <p:cNvPr id="15" name="TextBox 14"/>
          <p:cNvSpPr txBox="1"/>
          <p:nvPr/>
        </p:nvSpPr>
        <p:spPr>
          <a:xfrm>
            <a:off x="1097280" y="4178807"/>
            <a:ext cx="9875520" cy="868680"/>
          </a:xfrm>
          <a:prstGeom prst="rect">
            <a:avLst/>
          </a:prstGeom>
          <a:noFill/>
        </p:spPr>
        <p:txBody>
          <a:bodyPr wrap="square">
            <a:spAutoFit/>
          </a:bodyPr>
          <a:lstStyle/>
          <a:p>
            <a:pPr>
              <a:spcAft>
                <a:spcPts val="600"/>
              </a:spcAft>
            </a:pPr>
            <a:r>
              <a:rPr sz="1900" b="0" i="0">
                <a:solidFill>
                  <a:srgbClr val="23262B"/>
                </a:solidFill>
                <a:latin typeface="Calibri"/>
              </a:rPr>
              <a:t>A 12-month housing-status result is not included here</a:t>
            </a:r>
          </a:p>
        </p:txBody>
      </p:sp>
      <p:sp>
        <p:nvSpPr>
          <p:cNvPr id="16" name="Oval 15"/>
          <p:cNvSpPr/>
          <p:nvPr/>
        </p:nvSpPr>
        <p:spPr>
          <a:xfrm>
            <a:off x="548640" y="5221224"/>
            <a:ext cx="347472" cy="347472"/>
          </a:xfrm>
          <a:prstGeom prst="ellipse">
            <a:avLst/>
          </a:prstGeom>
          <a:solidFill>
            <a:srgbClr val="B3C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239512"/>
            <a:ext cx="347472" cy="310896"/>
          </a:xfrm>
          <a:prstGeom prst="rect">
            <a:avLst/>
          </a:prstGeom>
          <a:noFill/>
        </p:spPr>
        <p:txBody>
          <a:bodyPr wrap="square">
            <a:spAutoFit/>
          </a:bodyPr>
          <a:lstStyle/>
          <a:p>
            <a:pPr algn="ctr">
              <a:spcAft>
                <a:spcPts val="600"/>
              </a:spcAft>
            </a:pPr>
            <a:r>
              <a:rPr sz="1200" b="1" i="0">
                <a:solidFill>
                  <a:srgbClr val="FFFFFF"/>
                </a:solidFill>
                <a:latin typeface="Calibri"/>
              </a:rPr>
              <a:t>4</a:t>
            </a:r>
          </a:p>
        </p:txBody>
      </p:sp>
      <p:sp>
        <p:nvSpPr>
          <p:cNvPr id="18" name="TextBox 17"/>
          <p:cNvSpPr txBox="1"/>
          <p:nvPr/>
        </p:nvSpPr>
        <p:spPr>
          <a:xfrm>
            <a:off x="1097280" y="5166359"/>
            <a:ext cx="9875520" cy="868680"/>
          </a:xfrm>
          <a:prstGeom prst="rect">
            <a:avLst/>
          </a:prstGeom>
          <a:noFill/>
        </p:spPr>
        <p:txBody>
          <a:bodyPr wrap="square">
            <a:spAutoFit/>
          </a:bodyPr>
          <a:lstStyle/>
          <a:p>
            <a:pPr>
              <a:spcAft>
                <a:spcPts val="600"/>
              </a:spcAft>
            </a:pPr>
            <a:r>
              <a:rPr sz="1900" b="0" i="0">
                <a:solidFill>
                  <a:srgbClr val="23262B"/>
                </a:solidFill>
                <a:latin typeface="Calibri"/>
              </a:rPr>
              <a:t>Keep improving follow-up and cost reporting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822960" cy="64008"/>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8229600" cy="320040"/>
          </a:xfrm>
          <a:prstGeom prst="rect">
            <a:avLst/>
          </a:prstGeom>
          <a:noFill/>
        </p:spPr>
        <p:txBody>
          <a:bodyPr wrap="square">
            <a:spAutoFit/>
          </a:bodyPr>
          <a:lstStyle/>
          <a:p>
            <a:pPr>
              <a:spcAft>
                <a:spcPts val="600"/>
              </a:spcAft>
            </a:pPr>
            <a:r>
              <a:rPr sz="1050" b="1" i="0">
                <a:solidFill>
                  <a:srgbClr val="6B6F76"/>
                </a:solidFill>
                <a:latin typeface="Calibri"/>
              </a:rPr>
              <a:t>OUR ASK</a:t>
            </a:r>
          </a:p>
        </p:txBody>
      </p:sp>
      <p:sp>
        <p:nvSpPr>
          <p:cNvPr id="4" name="TextBox 3"/>
          <p:cNvSpPr txBox="1"/>
          <p:nvPr/>
        </p:nvSpPr>
        <p:spPr>
          <a:xfrm>
            <a:off x="548640" y="914400"/>
            <a:ext cx="10607040" cy="914400"/>
          </a:xfrm>
          <a:prstGeom prst="rect">
            <a:avLst/>
          </a:prstGeom>
          <a:noFill/>
        </p:spPr>
        <p:txBody>
          <a:bodyPr wrap="square">
            <a:spAutoFit/>
          </a:bodyPr>
          <a:lstStyle/>
          <a:p>
            <a:pPr>
              <a:spcAft>
                <a:spcPts val="0"/>
              </a:spcAft>
            </a:pPr>
            <a:r>
              <a:rPr sz="2800" b="1" i="0">
                <a:solidFill>
                  <a:srgbClr val="23262B"/>
                </a:solidFill>
                <a:latin typeface="Georgia"/>
              </a:rPr>
              <a:t>Sustain the supports around a move</a:t>
            </a:r>
          </a:p>
        </p:txBody>
      </p:sp>
      <p:sp>
        <p:nvSpPr>
          <p:cNvPr id="5" name="TextBox 4"/>
          <p:cNvSpPr txBox="1"/>
          <p:nvPr/>
        </p:nvSpPr>
        <p:spPr>
          <a:xfrm>
            <a:off x="548640" y="6400800"/>
            <a:ext cx="7315200" cy="274320"/>
          </a:xfrm>
          <a:prstGeom prst="rect">
            <a:avLst/>
          </a:prstGeom>
          <a:noFill/>
        </p:spPr>
        <p:txBody>
          <a:bodyPr wrap="square">
            <a:spAutoFit/>
          </a:bodyPr>
          <a:lstStyle/>
          <a:p>
            <a:pPr>
              <a:spcAft>
                <a:spcPts val="600"/>
              </a:spcAft>
            </a:pPr>
            <a:r>
              <a:rPr sz="950" b="0" i="0">
                <a:solidFill>
                  <a:srgbClr val="6B6F76"/>
                </a:solidFill>
                <a:latin typeface="Calibri"/>
              </a:rPr>
              <a:t>Keystone Family Housing Partners</a:t>
            </a:r>
          </a:p>
        </p:txBody>
      </p:sp>
      <p:sp>
        <p:nvSpPr>
          <p:cNvPr id="6" name="TextBox 5"/>
          <p:cNvSpPr txBox="1"/>
          <p:nvPr/>
        </p:nvSpPr>
        <p:spPr>
          <a:xfrm>
            <a:off x="10881360" y="6400800"/>
            <a:ext cx="731520" cy="274320"/>
          </a:xfrm>
          <a:prstGeom prst="rect">
            <a:avLst/>
          </a:prstGeom>
          <a:noFill/>
        </p:spPr>
        <p:txBody>
          <a:bodyPr wrap="square">
            <a:spAutoFit/>
          </a:bodyPr>
          <a:lstStyle/>
          <a:p>
            <a:pPr algn="r">
              <a:spcAft>
                <a:spcPts val="600"/>
              </a:spcAft>
            </a:pPr>
            <a:r>
              <a:rPr sz="950" b="0" i="0">
                <a:solidFill>
                  <a:srgbClr val="6B6F76"/>
                </a:solidFill>
                <a:latin typeface="Calibri"/>
              </a:rPr>
              <a:t>13</a:t>
            </a:r>
          </a:p>
        </p:txBody>
      </p:sp>
      <p:pic>
        <p:nvPicPr>
          <p:cNvPr id="7" name="Picture 6" descr="image.png"/>
          <p:cNvPicPr>
            <a:picLocks noChangeAspect="1"/>
          </p:cNvPicPr>
          <p:nvPr/>
        </p:nvPicPr>
        <p:blipFill>
          <a:blip r:embed="rId3"/>
          <a:stretch>
            <a:fillRect/>
          </a:stretch>
        </p:blipFill>
        <p:spPr>
          <a:xfrm>
            <a:off x="11018520" y="411480"/>
            <a:ext cx="457200" cy="457200"/>
          </a:xfrm>
          <a:prstGeom prst="rect">
            <a:avLst/>
          </a:prstGeom>
        </p:spPr>
      </p:pic>
      <p:sp>
        <p:nvSpPr>
          <p:cNvPr id="8" name="Oval 7"/>
          <p:cNvSpPr/>
          <p:nvPr/>
        </p:nvSpPr>
        <p:spPr>
          <a:xfrm>
            <a:off x="548640" y="2258568"/>
            <a:ext cx="347472" cy="347472"/>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276856"/>
            <a:ext cx="347472" cy="310896"/>
          </a:xfrm>
          <a:prstGeom prst="rect">
            <a:avLst/>
          </a:prstGeom>
          <a:noFill/>
        </p:spPr>
        <p:txBody>
          <a:bodyPr wrap="square">
            <a:spAutoFit/>
          </a:bodyPr>
          <a:lstStyle/>
          <a:p>
            <a:pPr algn="ctr">
              <a:spcAft>
                <a:spcPts val="600"/>
              </a:spcAft>
            </a:pPr>
            <a:r>
              <a:rPr sz="1200" b="1" i="0">
                <a:solidFill>
                  <a:srgbClr val="FFFFFF"/>
                </a:solidFill>
                <a:latin typeface="Calibri"/>
              </a:rPr>
              <a:t>1</a:t>
            </a:r>
          </a:p>
        </p:txBody>
      </p:sp>
      <p:sp>
        <p:nvSpPr>
          <p:cNvPr id="10" name="TextBox 9"/>
          <p:cNvSpPr txBox="1"/>
          <p:nvPr/>
        </p:nvSpPr>
        <p:spPr>
          <a:xfrm>
            <a:off x="1097280" y="2203704"/>
            <a:ext cx="9875520" cy="868680"/>
          </a:xfrm>
          <a:prstGeom prst="rect">
            <a:avLst/>
          </a:prstGeom>
          <a:noFill/>
        </p:spPr>
        <p:txBody>
          <a:bodyPr wrap="square">
            <a:spAutoFit/>
          </a:bodyPr>
          <a:lstStyle/>
          <a:p>
            <a:pPr>
              <a:spcAft>
                <a:spcPts val="600"/>
              </a:spcAft>
            </a:pPr>
            <a:r>
              <a:rPr sz="1900" b="0" i="0">
                <a:solidFill>
                  <a:srgbClr val="23262B"/>
                </a:solidFill>
                <a:latin typeface="Calibri"/>
              </a:rPr>
              <a:t>Renew support for time-limited rent assistance</a:t>
            </a:r>
          </a:p>
        </p:txBody>
      </p:sp>
      <p:sp>
        <p:nvSpPr>
          <p:cNvPr id="11" name="Oval 10"/>
          <p:cNvSpPr/>
          <p:nvPr/>
        </p:nvSpPr>
        <p:spPr>
          <a:xfrm>
            <a:off x="548640" y="3246120"/>
            <a:ext cx="347472" cy="347472"/>
          </a:xfrm>
          <a:prstGeom prst="ellipse">
            <a:avLst/>
          </a:prstGeom>
          <a:solidFill>
            <a:srgbClr val="5075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264408"/>
            <a:ext cx="347472" cy="310896"/>
          </a:xfrm>
          <a:prstGeom prst="rect">
            <a:avLst/>
          </a:prstGeom>
          <a:noFill/>
        </p:spPr>
        <p:txBody>
          <a:bodyPr wrap="square">
            <a:spAutoFit/>
          </a:bodyPr>
          <a:lstStyle/>
          <a:p>
            <a:pPr algn="ctr">
              <a:spcAft>
                <a:spcPts val="600"/>
              </a:spcAft>
            </a:pPr>
            <a:r>
              <a:rPr sz="1200" b="1" i="0">
                <a:solidFill>
                  <a:srgbClr val="FFFFFF"/>
                </a:solidFill>
                <a:latin typeface="Calibri"/>
              </a:rPr>
              <a:t>2</a:t>
            </a:r>
          </a:p>
        </p:txBody>
      </p:sp>
      <p:sp>
        <p:nvSpPr>
          <p:cNvPr id="13" name="TextBox 12"/>
          <p:cNvSpPr txBox="1"/>
          <p:nvPr/>
        </p:nvSpPr>
        <p:spPr>
          <a:xfrm>
            <a:off x="1097280" y="3191256"/>
            <a:ext cx="9875520" cy="868680"/>
          </a:xfrm>
          <a:prstGeom prst="rect">
            <a:avLst/>
          </a:prstGeom>
          <a:noFill/>
        </p:spPr>
        <p:txBody>
          <a:bodyPr wrap="square">
            <a:spAutoFit/>
          </a:bodyPr>
          <a:lstStyle/>
          <a:p>
            <a:pPr>
              <a:spcAft>
                <a:spcPts val="600"/>
              </a:spcAft>
            </a:pPr>
            <a:r>
              <a:rPr sz="1900" b="0" i="0">
                <a:solidFill>
                  <a:srgbClr val="23262B"/>
                </a:solidFill>
                <a:latin typeface="Calibri"/>
              </a:rPr>
              <a:t>Keep move-in essentials and voluntary case management available</a:t>
            </a:r>
          </a:p>
        </p:txBody>
      </p:sp>
      <p:sp>
        <p:nvSpPr>
          <p:cNvPr id="14" name="Oval 13"/>
          <p:cNvSpPr/>
          <p:nvPr/>
        </p:nvSpPr>
        <p:spPr>
          <a:xfrm>
            <a:off x="548640" y="4233672"/>
            <a:ext cx="347472" cy="347472"/>
          </a:xfrm>
          <a:prstGeom prst="ellipse">
            <a:avLst/>
          </a:prstGeom>
          <a:solidFill>
            <a:srgbClr val="829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251959"/>
            <a:ext cx="347472" cy="310896"/>
          </a:xfrm>
          <a:prstGeom prst="rect">
            <a:avLst/>
          </a:prstGeom>
          <a:noFill/>
        </p:spPr>
        <p:txBody>
          <a:bodyPr wrap="square">
            <a:spAutoFit/>
          </a:bodyPr>
          <a:lstStyle/>
          <a:p>
            <a:pPr algn="ctr">
              <a:spcAft>
                <a:spcPts val="600"/>
              </a:spcAft>
            </a:pPr>
            <a:r>
              <a:rPr sz="1200" b="1" i="0">
                <a:solidFill>
                  <a:srgbClr val="FFFFFF"/>
                </a:solidFill>
                <a:latin typeface="Calibri"/>
              </a:rPr>
              <a:t>3</a:t>
            </a:r>
          </a:p>
        </p:txBody>
      </p:sp>
      <p:sp>
        <p:nvSpPr>
          <p:cNvPr id="16" name="TextBox 15"/>
          <p:cNvSpPr txBox="1"/>
          <p:nvPr/>
        </p:nvSpPr>
        <p:spPr>
          <a:xfrm>
            <a:off x="1097280" y="4178807"/>
            <a:ext cx="9875520" cy="868680"/>
          </a:xfrm>
          <a:prstGeom prst="rect">
            <a:avLst/>
          </a:prstGeom>
          <a:noFill/>
        </p:spPr>
        <p:txBody>
          <a:bodyPr wrap="square">
            <a:spAutoFit/>
          </a:bodyPr>
          <a:lstStyle/>
          <a:p>
            <a:pPr>
              <a:spcAft>
                <a:spcPts val="600"/>
              </a:spcAft>
            </a:pPr>
            <a:r>
              <a:rPr sz="1900" b="0" i="0">
                <a:solidFill>
                  <a:srgbClr val="23262B"/>
                </a:solidFill>
                <a:latin typeface="Calibri"/>
              </a:rPr>
              <a:t>Strengthen follow-up on housing status and program costs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458968" y="731520"/>
            <a:ext cx="1280160" cy="1280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3"/>
          <a:stretch>
            <a:fillRect/>
          </a:stretch>
        </p:blipFill>
        <p:spPr>
          <a:xfrm>
            <a:off x="5614416" y="886968"/>
            <a:ext cx="969264" cy="969264"/>
          </a:xfrm>
          <a:prstGeom prst="rect">
            <a:avLst/>
          </a:prstGeom>
        </p:spPr>
      </p:pic>
      <p:sp>
        <p:nvSpPr>
          <p:cNvPr id="6" name="TextBox 5"/>
          <p:cNvSpPr txBox="1"/>
          <p:nvPr/>
        </p:nvSpPr>
        <p:spPr>
          <a:xfrm>
            <a:off x="1097280" y="2286000"/>
            <a:ext cx="9966960" cy="1371600"/>
          </a:xfrm>
          <a:prstGeom prst="rect">
            <a:avLst/>
          </a:prstGeom>
          <a:noFill/>
        </p:spPr>
        <p:txBody>
          <a:bodyPr wrap="square">
            <a:spAutoFit/>
          </a:bodyPr>
          <a:lstStyle/>
          <a:p>
            <a:pPr algn="ctr">
              <a:spcAft>
                <a:spcPts val="600"/>
              </a:spcAft>
            </a:pPr>
            <a:r>
              <a:rPr sz="4000" b="1" i="0">
                <a:solidFill>
                  <a:srgbClr val="FFFFFF"/>
                </a:solidFill>
                <a:latin typeface="Georgia"/>
              </a:rPr>
              <a:t>Thank you</a:t>
            </a:r>
          </a:p>
        </p:txBody>
      </p:sp>
      <p:sp>
        <p:nvSpPr>
          <p:cNvPr id="7" name="TextBox 6"/>
          <p:cNvSpPr txBox="1"/>
          <p:nvPr/>
        </p:nvSpPr>
        <p:spPr>
          <a:xfrm>
            <a:off x="1097280" y="3749039"/>
            <a:ext cx="9966960" cy="2011680"/>
          </a:xfrm>
          <a:prstGeom prst="rect">
            <a:avLst/>
          </a:prstGeom>
          <a:noFill/>
        </p:spPr>
        <p:txBody>
          <a:bodyPr wrap="square">
            <a:spAutoFit/>
          </a:bodyPr>
          <a:lstStyle/>
          <a:p>
            <a:pPr algn="ctr">
              <a:spcAft>
                <a:spcPts val="600"/>
              </a:spcAft>
            </a:pPr>
            <a:r>
              <a:rPr sz="1700" b="0" i="0">
                <a:solidFill>
                  <a:srgbClr val="FFFFFF"/>
                </a:solidFill>
                <a:latin typeface="Calibri"/>
              </a:rPr>
              <a:t>Every family, a home to build on</a:t>
            </a:r>
          </a:p>
          <a:p>
            <a:pPr algn="ctr">
              <a:spcAft>
                <a:spcPts val="600"/>
              </a:spcAft>
            </a:pPr>
            <a:r>
              <a:rPr sz="1700" b="0" i="0">
                <a:solidFill>
                  <a:srgbClr val="FFFFFF"/>
                </a:solidFill>
                <a:latin typeface="Calibri"/>
              </a:rPr>
              <a:t>keystonefamilyhousing.example.org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